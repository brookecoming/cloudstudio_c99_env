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5.tmp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15"/>
  </p:notesMasterIdLst>
  <p:handoutMasterIdLst>
    <p:handoutMasterId r:id="rId116"/>
  </p:handoutMasterIdLst>
  <p:sldIdLst>
    <p:sldId id="258" r:id="rId2"/>
    <p:sldId id="368" r:id="rId3"/>
    <p:sldId id="363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364" r:id="rId12"/>
    <p:sldId id="369" r:id="rId13"/>
    <p:sldId id="370" r:id="rId14"/>
    <p:sldId id="267" r:id="rId15"/>
    <p:sldId id="268" r:id="rId16"/>
    <p:sldId id="269" r:id="rId17"/>
    <p:sldId id="372" r:id="rId18"/>
    <p:sldId id="271" r:id="rId19"/>
    <p:sldId id="272" r:id="rId20"/>
    <p:sldId id="273" r:id="rId21"/>
    <p:sldId id="274" r:id="rId22"/>
    <p:sldId id="373" r:id="rId23"/>
    <p:sldId id="374" r:id="rId24"/>
    <p:sldId id="375" r:id="rId25"/>
    <p:sldId id="376" r:id="rId26"/>
    <p:sldId id="377" r:id="rId27"/>
    <p:sldId id="275" r:id="rId28"/>
    <p:sldId id="276" r:id="rId29"/>
    <p:sldId id="277" r:id="rId30"/>
    <p:sldId id="278" r:id="rId31"/>
    <p:sldId id="279" r:id="rId32"/>
    <p:sldId id="378" r:id="rId33"/>
    <p:sldId id="281" r:id="rId34"/>
    <p:sldId id="379" r:id="rId35"/>
    <p:sldId id="381" r:id="rId36"/>
    <p:sldId id="284" r:id="rId37"/>
    <p:sldId id="285" r:id="rId38"/>
    <p:sldId id="382" r:id="rId39"/>
    <p:sldId id="385" r:id="rId40"/>
    <p:sldId id="386" r:id="rId41"/>
    <p:sldId id="383" r:id="rId42"/>
    <p:sldId id="384" r:id="rId43"/>
    <p:sldId id="286" r:id="rId44"/>
    <p:sldId id="365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366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7" r:id="rId70"/>
    <p:sldId id="318" r:id="rId71"/>
    <p:sldId id="321" r:id="rId72"/>
    <p:sldId id="367" r:id="rId73"/>
    <p:sldId id="322" r:id="rId74"/>
    <p:sldId id="323" r:id="rId75"/>
    <p:sldId id="324" r:id="rId76"/>
    <p:sldId id="325" r:id="rId77"/>
    <p:sldId id="326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27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60" r:id="rId110"/>
    <p:sldId id="358" r:id="rId111"/>
    <p:sldId id="359" r:id="rId112"/>
    <p:sldId id="361" r:id="rId113"/>
    <p:sldId id="362" r:id="rId114"/>
  </p:sldIdLst>
  <p:sldSz cx="9144000" cy="6858000" type="screen4x3"/>
  <p:notesSz cx="6858000" cy="9144000"/>
  <p:custDataLst>
    <p:tags r:id="rId1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F139F308-C585-4241-ADD8-24CAE9A084AE}">
          <p14:sldIdLst>
            <p14:sldId id="258"/>
            <p14:sldId id="368"/>
            <p14:sldId id="363"/>
            <p14:sldId id="259"/>
            <p14:sldId id="261"/>
            <p14:sldId id="262"/>
            <p14:sldId id="263"/>
            <p14:sldId id="264"/>
            <p14:sldId id="265"/>
            <p14:sldId id="266"/>
            <p14:sldId id="364"/>
            <p14:sldId id="369"/>
            <p14:sldId id="370"/>
            <p14:sldId id="267"/>
            <p14:sldId id="268"/>
            <p14:sldId id="269"/>
            <p14:sldId id="372"/>
            <p14:sldId id="271"/>
            <p14:sldId id="272"/>
            <p14:sldId id="273"/>
            <p14:sldId id="274"/>
            <p14:sldId id="373"/>
            <p14:sldId id="374"/>
            <p14:sldId id="375"/>
            <p14:sldId id="376"/>
            <p14:sldId id="377"/>
            <p14:sldId id="275"/>
            <p14:sldId id="276"/>
            <p14:sldId id="277"/>
            <p14:sldId id="278"/>
            <p14:sldId id="279"/>
            <p14:sldId id="378"/>
            <p14:sldId id="281"/>
            <p14:sldId id="379"/>
            <p14:sldId id="381"/>
            <p14:sldId id="284"/>
            <p14:sldId id="285"/>
            <p14:sldId id="382"/>
            <p14:sldId id="385"/>
            <p14:sldId id="386"/>
            <p14:sldId id="383"/>
            <p14:sldId id="384"/>
            <p14:sldId id="286"/>
          </p14:sldIdLst>
        </p14:section>
        <p14:section name="下一节课" id="{7A17FB26-FC4F-4F76-82A8-549CA2210FEB}">
          <p14:sldIdLst>
            <p14:sldId id="365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366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7"/>
            <p14:sldId id="318"/>
            <p14:sldId id="321"/>
            <p14:sldId id="367"/>
            <p14:sldId id="322"/>
            <p14:sldId id="323"/>
            <p14:sldId id="324"/>
            <p14:sldId id="325"/>
            <p14:sldId id="326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27"/>
            <p14:sldId id="351"/>
            <p14:sldId id="352"/>
            <p14:sldId id="353"/>
            <p14:sldId id="354"/>
            <p14:sldId id="355"/>
            <p14:sldId id="356"/>
            <p14:sldId id="357"/>
            <p14:sldId id="360"/>
            <p14:sldId id="358"/>
            <p14:sldId id="359"/>
            <p14:sldId id="361"/>
            <p14:sldId id="3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78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62015" autoAdjust="0"/>
  </p:normalViewPr>
  <p:slideViewPr>
    <p:cSldViewPr snapToGrid="0" showGuides="1">
      <p:cViewPr varScale="1">
        <p:scale>
          <a:sx n="68" d="100"/>
          <a:sy n="68" d="100"/>
        </p:scale>
        <p:origin x="2826" y="114"/>
      </p:cViewPr>
      <p:guideLst>
        <p:guide orient="horz" pos="1620"/>
        <p:guide pos="2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notesMaster" Target="notesMasters/notesMaster1.xml"/><Relationship Id="rId116" Type="http://schemas.openxmlformats.org/officeDocument/2006/relationships/handoutMaster" Target="handoutMasters/handoutMaster1.xml"/><Relationship Id="rId117" Type="http://schemas.openxmlformats.org/officeDocument/2006/relationships/tags" Target="tags/tag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709A-8528-47B9-9588-1DC118E0A821}" type="datetimeFigureOut">
              <a:rPr lang="zh-CN" altLang="en-US" smtClean="0"/>
              <a:t>2026/10/16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5B763-6E7F-45AD-A828-29A61F0317B6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3 章，标题就叫'最简单的 C 程序设计——顺序程序设计'。'最简单'仨字不是我说的，是课本自己起的名字，它把这一章的目标交代完了：咱们要写的是从上朝下、一行接一行的程序，不拐弯、不重复，是 C 语言里结构最朴素的一类。前两章练的是脑子里的算法，从这章起，动手把它一行行敲成真程序。这章课件页多，一百多页，但别慌——章名已经把目标交代完了，跟着这条线走就是。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这一页不讲新知识，就带你看一张行程图。整个第 3 章一百多页，其实就为干一件事：把最后要写出来的那个小程序，一行一行弄明白。图左边这五个台阶，就是本章要走的五步，一步不落、从上到下。第一步，先看懂一个完整的程序长什么样、怎么从头跑到尾，对应课本 §3.1；第二步，程序里那些数据——整数、小数、字符——各该装进哪种盒子，对应 §3.2，这也是今天的重头；第三步，一个算式先算谁、后算谁，两个整数相除为什么小数会没了，对应 §3.3；第四步，那个等号跟数学里的等号根本不是一回事，对应 §3.4；第五步，数别写死在代码里，怎么从键盘读进来、把结果打印出去，对应 §3.5。右边每一行那句话，就是那一步要替你回答的问题；比如，本章的一个简单例子——华氏转摄氏，例3.1，—它每一行代码你都能讲出道理。中途绕晕了就回这张图问自己一句：我现在踩在第几级台阶、对应课本哪一节？就知道劲儿该往哪使。今天的目标：把第一级'看懂程序'走稳，再把第二级'选对类型'基本讲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新的一节开始，翻到课本 §3.1（P37），把屏幕上列的课本原句用笔划出来（每句前都标了页码 P，照着翻），划完抬头我再往下讲。这一节其实就干一件事：给你看两个从头跑到尾不拐弯的程序。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3.1，第一个例子。课本讲每道例题都走两步——先'解题思路'，再'编写程序'，这两步就是以后每道题的模子，现在是解题思路这。题目很生活：有人用温度计量出华氏温度，比如 68 度，要换成摄氏温度。课本一句话点破要害：这题算法很简单，关键就是找到两者间的转换公式——摄氏等于九分之五乘以华氏减三十二，f 代表华氏、c 代表摄氏。先顺手对个数：68 减 32 得 36，乘九分之五得 20——英国人说 68 度，其实就是咱们的 20 度，春天，不烫（课本上举的是 64 度、约 17.8 度）。可公式是数学语言，咱们就把思路画成右下角这张 N-S 图：输入 f 的值、按公式算出 c、输出 c，三个黑框从上排到下。眼熟不？这就是第 2 章最后画过的NS盒图。问一句：这图里有判断吗？有重复吗？（都没有）——那它就是本章标题说的顺序结构，一条道走到底，绝不回头。第一步'解题思路'到这儿通了，咱们要进行第二步'编写程序'：有了 N-S 图，逐行翻成 C 就行。先看翻出来的样子。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课本第二步，编写程序——程序来了，就五行，咱们一行一行读。`#include &lt;stdio.h&gt;`——把输入输出的家当引进来，第 1 章讲过。`int main()`——程序从这儿进门。第三行 `float f, c;`：定义两个变量，类型是 float，一个装华氏、一个装摄氏。第四行 `f = 64.0;`：把 64 这个数放进 f。第五行 `c = (5.0/9)*(f-32);`：把公式整个算出来，放进 c——注意这个等号先别当成数学的等号，第④步专门研究这种带等号的表达式或语句。第六行 `printf("f=%f\nc=%f\n", f, c);`：引号里的 `%f` 是个空位，逗号后面的 f 塞进第一个空位、c 塞进第二个空位，这就是原样输出的意思，所以屏幕上出 f=64.000000，下一行 c=17.777779。跑一遍，64 华氏换成 17.78 摄氏，跟手算对得上。现在就一个地方扎眼：为什么写 float 不写 int？【等学生答】因为温度带小数，int 那个数据类型盒子只装得下整数——数据类型盒子的规矩，就是下一节'选对类型'要讲的。记住这五行，本章后面一百来页全是给它讲道理。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3.2：你有 1000 块想存一年。三个选择：活期，年利率 r1；一年期定期，利率 r2；或者存两次半年定期，每次半年、利率 r3。一年后各能拿回多少本息？先让你们猜一个——哪种最划算？【等学生答，约 2~3 秒】先记下你们各自选的，一会儿代码跑出来当场对账。解法还是套例3.1 那个模子——和课本一致：先'解题思路'，再'编写程序'。这题照旧，从第一步走起。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公式不难：活期就是一千乘以(1+r1)；一年定期乘(1+r2)；有点绕的是第三种——半年利率是 r3 的一半，存第一期变成 p0(1+r3/2)，第二期连本带利再乘一遍。注意这个'再乘一遍'，行话叫利滚利：上半年生的利息，下半年它也跟着生息。这就是三种存法拉开差距的地方。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接着第一步'解题思路'往下画：把算法写成一张 N-S 图就六句话——输入 p0 和三个利率；算 p1、p2、p3；输出三个数。眼熟不？跟刚才例3.1 '解题思路'里那张图一模一样——输入什么、计算什么、输出什么。它仍属于课本第一步'解题思路'，下一步'编写程序'才动代码。顺序程序的套路到这儿总结：不管题目换什么皮，'解题思路'落笔都是输入、计算、输出这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代码贴上来，大半跟例3.1 同构，就一个新花样：`float p0=1000, r1=0.0036, r2=0.0225, r3=0.0198, p1, p2, p3;`——定义变量的当场就把初值塞进去，省掉后面一行行赋值。往下 p1、p2、p3 三行计算、一行 printf 输出三个数。对一下刚才的猜测：活期 1003.6，一年定期 1022.5，两次半年 1019.9——赢的是一年定期，但注意第三行比第二行多跑了个'利滚利'还输给它，因为 r3 这个利率本身低。到这儿两个例子都走完了，地图第①步'看懂一个完整程序'打通。可你们发现没有，两个程序满屏都是 float、int、char——这些'盒子'到底怎么选？我说的盒子，大家明白吗？就是数据类型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§3.2'数据的表现形式及其运算'，整个这一节也就是研究上面我提到 的数据盒子，数据类型（什么样的数据应该放在什么样的数据类型里面）。小标题排了七个，看着吓人，归拢就一句话：程序里的数据长什么样、装什么盒子、盒子之间怎么换算。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翻到 §3.2，这是本章最硬的一节，划概念分三页。第一页划六句，每句前都标了课本页码 P，照着翻、一条一条对着划：P39 常量——'其值不能被改变的量'；P41 变量——'其值可以改变的量'，还有'先定义后使用'；P41 常变量——用 const 定义的、存在期间不能改；P42 标识符——'只能由字母、数字和下划线组成，第一个必须字母或下划线'；P42 再划那句 C 语言区分大小写，sum 和 SUM 是两个名字；P43 类型——'对数据分配存储单元的安排'。划完抬头。这六句就是词法地基，往后张张都在用。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第二页，翻到 §3.2.3、§3.2.4，还是划六句，每句前标了课本页码 P：P44 整型数据在内存中'用补码形式存放'，最左一位是符号位；P45 int '占 2 个或 4 个字节'由编译系统自行决定；P46 unsigned 无符号型只装非负数；P47 字符型最要紧那句——字符按其代码、也就是整数形式存储，C 把 char 当整数的一种；P48 再划一句：字符 '1' 和整数 1 是两个概念，一个存 ASCII 码占 1 字节、一个存补码占 2 或 4 字节；P48 最后'字符变量本质是一个字节的整型变量，能用 %d 也能用 %c 读'。补码和 ASCII 这两句，是本章第一大坑，划实了，划完抬头。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第三页，§3.2.5、§3.2.6，最后六句，每句前标了课本页码 P：P49 实数'以指数形式存放在存储单元中'；P50 float '只能保证 6 位有效数字'、double '能保证 15 位'；P50 浮点运算时 float 自动转换为 double 再算；P50 然后这句常被忽略——不仅变量有类型，常量也有类型，从表示形式就能判定；P51 比如不带小数点的是整型常量；P51 最后实型常量都按双精度处理，末尾加 f 才是 float、加 L 才是 long double。三页划完，这一节的词法地基就全铺好了，咱们开始往里填肉。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先给'常量'立规矩：程序跑下来值不能变的量。五类都得认：整型常量，1000、0、−345 这种；实型常量，0.34 这种小数，还有 12.34e3 这种'科学记数法'写法；字符常量，单撇号圈一个，'?' 或者 '\n'；字符串常量，双引号圈一串，"boy"；最后符号常量，#define PI 3.1416，给常数起个名。顺嘴分辨一个易混：'a' 和 "a"，一个撇号一个引号——撇号圈的是一个字符，引号圈的是一串，判断题：0.0 是不是常量？是，实型常量。常量是铁打的，那流水里改的又是谁？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变量的定义：运行期间值可以变。规矩第一条：先定义，后使用——没定义过的名字编译器直接拒了。定义变量时你给定两样：名字和类型。往下这句课本写得很实诚：'变量名实际上是以一个名字代表的一个存储地址'。展开说：内存像一排编了号的格子，机器其实只认编号，但你不用记 0079F4A0 这种门牌号——给它贴个标签叫 f，以后写 f 编译器就去那格取。把'名字背后是地址'这句记住，学到 scanf 的时候它要出来考你。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两件事。一、常变量：const int a=3;——是变量但上了锁，运行中谁也不能再改它，写错编译器报错，比口头上'劝自己别改'可靠。二、标识符，也就是取名规则：只能用字母、数字、下划线三种字符，开头必须是字母或下划线；还有，大小写不是一家，Age 和 age 是两个名字。为什么 float 不能当变量名？它是关键字，C 征用了——就像'国务院'仨字不能当你家店铺名。当堂练：sum？合法。_total？合法，下划线打头允许。3D64？不行，数字打头。a&gt;b？不行，多了个大于号。这四条判断（红字的）记住就行。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随堂第一题，'下列哪个是合法变量名'。别猜，挨个判：5e8——数字开头，直接毙；你别被它骗了，它是合法的浮点数写法，5 乘 10 的 8 次方，但那是个常量，不是名字。you——字母打头、全是字母，合法。r——一个字母也配当名字吗？配，长度不限，合法。float——关键字，C 征用了，不能当名字。所以按判据，B 和 C 都合法；这题练的不是答案，是你能不能对每个选项讲出理由。跟同桌互说一句为什么，十秒。选BC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664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类型的定义来了，课本那句别滑过去P43页咱们刚才 划过重点：类型就是'对数据分配存储单元的安排，包括存储单元的长度，占多少字节，以及数据的存储形式'。翻译：你写一个类型，等于同时交代两件事——这数占几个内存格子，格子里按什么格式摆。接着上回说的格子：变量名贴在某格上，类型告诉你从这格往后数几格、怎么读。妙处在'怎么读'：同样一串 01000001，你说它是字符，它读出 'A'；你说它是整数，它读出 65。数没变，读法全由类型定。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 语言一共提供了哪些盒子？类型这棵树上半场是基本类型：整型一家——基本整型 int、短整型 short、长整型 long、双长 long long；字符型 char、布尔型 _Bool 归在整数亲戚里；浮点一家——单精度 float、双精度 double。回头数数例3.1、例3.2 用过的：int main 的 int在左半边、float f,c 的 float——全在右半边。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整个类型的思维导图在P43页，刚才讲了基本类型，还有就是剩下的枚举类型、空类型，还有‘派生类型’——指针、数组、结构体、共用体、函数。这些名字你今天一个都不用会，它们分布在本教材第 6 章往后的各章。给你看全貌就一个目的：C 的类型虽然多达十几种，这一章、包括大多数入门程序，只用树尖上那两三片叶子——int、char、float、double，就是咱们刚才 那张PPT的基本类型是这节课的内容，别被整张图吓到。咱们在P43页的图3.4上（基本类型）上画个圈，上面写四个字：本章内容。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整型一家按占的格子数分大小：short 短整型 2 字节，int 基本整型 2 或 4 字节，long 长整型 4 字节，long long 是 C99 新加的 8 字节。这里我给一句实在话：字节数别硬背。课本特意标了'VC++6.0 中'——同一个 int，在不同机器、不同编译器上可能 2 也可能 4 字节，它是随环境变的。你只需记住大小顺序：short ≤ int ≤ long ≤ long long，越往后装得下的数越大。够用了。这个背诵的知识点在P45页，咱们一起划下来，在后面写个背字。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这页起，咱们把课本一句话讲透——P44页，咱们看划概念的那句：整型数据在内存中'用补码形式存放'。'补码'这仨字光靠背是不理解怎么来的，所以连着五张片子，把三种候选记法挨个看一遍。第一种，原码，最直觉：最左边一位管符号，0 是正、1 是负，右边 15 位把绝对值的二进制照抄。+5，符号位 0，数值位末尾 101；−5 呢，就把符号位改成 1，数值位一位不动。问一句：拿原码直接算 5 加负 5，会得什么？【等学生答】逐位加上去，得到 1 后面跟着 1010，读出来是 −10——5 减 5 等于 −10，笑话了。原码是写给人看的，不是给机器算的。那什么记法能让机器算对？接着往下看。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种，反码。先回看课本求负数补码的三步口诀：绝对值写成二进制——就是上页的原码；对其所有二进位按位取反——就是这页的反码；还剩最后一步，下一页补上。所以说反码不是第三种'存法'，它只是求补码路上的一站。看图：正数原、反、补三码相同，+5 一位都不用动，口诀只管负数；负数符号位站住不变，15 个数值位逐个翻——原先 12 个 0 全变 1，末尾 101 翻成 010。现在再拿它跟 +5 逐位加一遍，看图最底下那行：末四位 0101 加 1010 得 1111，符号位 0 加 1 得 1——整个 16 位全是 1。问一句：这全 1 读出来是什么、反码还剩哪块硬伤没治？【等学生答】−0。全 0 是 +0、全 1 是 −0，两个零占两个坑，还是没归零。离终点就差最后一步了。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最后一步：反码末位加 1，得到的就是补码——图上 −5 那一行，末尾那个橙格就是刚加上去的 1。往后记住：内存里真正躺着的那串 0 和 1，就是这一行；咱们在划概念页的那句'用补码形式存放'，到这页才算正式落地。正数原、反、补三码相同，+5 还是它自己的二进制，三步口诀专管负数。妙处在哪？把 +5 和这个补码 −5 再逐位加一遍，看图最底下那行：末四位 0101 加 1011 得 1 0000，进位一路进到最高位，符号位 0 加 1、再加进来的 1 等于 0，又往外溢出一个 1——可机器只有 16 个坑，第 17 位没地儿放，天然丢弃，剩下 16 位全 0！5 减 5 严丝合缝归零。而且那个讨厌的 −0 也顺带治好了：全 1 加 1 同样归到全 0，跟 +0 合成一个，零唯一，白捡一个坑位，16 位整数的范围就从 −32767~+32767 涨到 −32768~+32767，多出来的 −32768，正是符号位 1、其余全 0 的那一行。这就是补码被发明的目的：符号位和数值位一起加，减法统一成加法。它凭什么赢过另外两种？下一页三码并排，同样加一遍，一比就清楚。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真算。规则先立好：机器加法不把符号位单拎出来，整个机器字连着符号一起塞进加法器；为了让你看清每一位，这页换成 8 位来摆，跟 16 位一个道理。三栏并排，都是算 5 加负 5。原码列：00000101 加 10000101，逐位加得 10001010，读出来 −10——不信你们顺着格子验一遍。【等学生验】对，就是错的。反码列：00000101 加 11111010，得 11111111，反码读法是 −0——数值将将能看，可那两个零还阴魂不散：程序里 −0 和 +0 判不判相等？没法判。补码列：00000101 加 11111011，最高位进出一个 1，可机器只有 8 个坑，第 9 位没地儿放，天然丢弃——剩下全 0，严丝合缝！这一页就是这五张的小结。全世界 CPU 都照着干的活就是：补码把减法统一成了加法，把零变得只有一个。下一页，轮到你们上手。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上页是我算，这页你们算。还是 5 加负 5，这回只给 8 个二进制位——三列，原码、反码、补码各列一次竖式，结果空着，你们填。动笔，两分钟。【学生算，教师巡视】算完跟同桌对一下。哪一列多出一位进位来着？【等学生答】补码列，进出了第 9 位——放哪儿？没地方放，丢掉，结果恰恰是 0。另外两列呢：原码还是 −10，反码还是那个惹麻烦的 −0。同一道题算了两遍，现在你们能亲口说出补码赢在哪了：符号位能跟数值一起加，零只有一张脸。这个系列到这儿收官，回到课本主线接着走。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整型还有第二个维度：符号。变量默认是能装负数的，叫 signed 有符号；也可以定义成 unsigned 无符号，明确告诉它'我只装非负数'。这不是多此一举——拿一个字节打比方：有符号要把最高一位让给正负号，范围是 −128 到 127；不要符号了，那一位也拿来存数值，范围涨到 0 到 255。**上限几乎翻倍，代价是彻底告别负数**。所以计数、存年龄这种铁定非负的，用 unsigned 更划算。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刚才那四种基本型（整型、短整型、长整型、双长整型）各自都能加个 unsigned，凑出来就是这张表。这张表别怕，每一种配一个'有符号'和一个'无符号'，4×2 得 8 行。看左边带方括号的 `[signed]`——方括号意思是可写可不写，int 就等于 signed int；但 `unsigned` 仨字不能省，省了就变回有符号了。这 8 种**认脸即可，不要求默写**。整型聊完了。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字符型开场，这是本章选择题的重灾区，给我打起精神。课本一句话咱们已经划线了，就是 P47 页的：**字符是按其代码，也就是整数形式存储的**。这跟很多人直觉不一样——你以为内存里存着一个'字母 A 的形状'？没有。存的是 65 这个整数，是 A 的门牌号，也就是 ASCII 码。C99 干脆把字符型当成整数类型的一种。还记得第 18 张那串 01000001 吗？现在正式说破：那格子里躺的就是 65，你按字符读它显示 A，按整数读它显示 65，同一格数据。**'A 就是 65' 这一句，是本章字符型的 ASC 码表全部的根**，后面大小写差 32、字符能加减，全从这一句长出来。见附录 P344 页，ASC 码表。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ASCII 码表长什么样，认个大概：字母 26 个大小写、数字 0 到 9、专门符号二十几个，还有空格、制表、换行这些'看得见但占位'的。有意思的是最后那类**不能显示**的：`\0` 空字符、`\a` 是蜂鸣警告、`\b` 退格、`\r` 回车——它们不往屏幕画图，是给机器的控制指令。顺手纠一个高频误会：数字字符 '0'，它的码是 48，不是 0；'1' 是 49。字符世界的 0 号是那个看不见的空字符 `\0`。既然字符本质是码，那'字符 1'跟'数字 1'到底一样不——专门一张讲这个。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本章头号易混点，就在这一页：字符 '1' 和整数 1。它俩在你眼里都是个竖杠，可内存里完全两样。字符 '1'——单撇号圈着的——按 ASCII 存，存的是 49，占 1 个字节；整数 1——没撇号——按整数补码存，占 2 或 4 字节，存的是 ...0001。所以'把字符 1 当成数字 1 拿去加减'会出乱子：你写的 '1'，机器看到的是 49。这句话怎么考都考不倒你了——因为你能说出'它存的是 49'。趁热做道小题。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第二题：**1 个字节**，选 C。char 天生就是一个字节，不像 int 那样 2 或 4 要看环境。也正因为它只有一个字节、存的是一个 0~255 的小整数，C 才把它当整数家族最小的那只盒子——这是后面能拿 char 做加减的另一层伏笔。这题是白送的分。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89908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字符变量用起来：`char c = '?';`——别以为内存里存了个问号形状，存的是问号的 ASCII 码 63。然后 `printf("%d %c\n", c, c);` 注意 c 写了**两遍**，第一个用 %d 读、第二个用 %c 读。输出是 63 空格 问号。这页是前面第 18 张 PPT 那个道理当场演示给你看：数据没动，%d 就把它当整数读成 63，%c 就把它当字符读成 ?。**读法由格式符定**——这句话到 §3.5 学 printf 会反复用。下面做两道字符常量的辨析题。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第三题，注意是挑**表示错误**的。'a'——撇号圈一个字符，正确；'?'——同理，正确；'\n'——撇号圈转义字符换行，也是合法字符常量，正确；第四个 "\n"——双引号！双引号圈的是**字符串**，不是字符常量，题目要的是字符常量，它出局。答案选第四个。回指第 14 张那句：撇号圈单个字符、引号圈一串字符，即字符串——这题就是把那条规矩拿出来实战。以后凡是看到拿双引号冒充字符常量的，直接判错。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910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第四题，c 已定义成字符变量，找**正确**的赋值。c='a'——撇号圈一个字符 a，赋给 char 变量，天经地义，正确。其余三个：c="97" 和 c="a" 都用了双引号，字符串塞不进一个 char 格子，错；c='97' 想拿撇号圈 97 当字符——可单撇号里只能放一个字符或一个转义符，'97' 是两个数字字符挤一起，语法就不过。答案 c='a'。字符型五张到此收官，最硬的骨头啃完了。剩下一家专门装小数——浮点型。要想直接用十进制，丢掉引号直接走是对的，比如 c=97,后面通过格式控制符打印为 %c 字符型！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68597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浮点型管小数。单精度 float，编译系统给 4 个字节，数值在内存里以'规范化的二进制指数形式'存放（原话在 p49)——你别被这词唬住，它就跟科学记数法一个意思，用一个尾数加一个指数表示一个小数。回头看例3.1 那句 `float f, c;`，现在你知道 f 装的就是这么个带小数的盒子。float 能装小数没得说，但它有一处硬伤——**位数有限**。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"浮点三兄弟放一起比：float 单精度 4 字节，保证大约 6 位有效数字；double 双精度 8 字节，能保证 15 位有效数字；long double 更宽。给一句大实话：**这个位数天花板是机器硬件定的，不是你算错了**。你以为 double 存 1/3 =0.333…就能存下无限循环？存不下，只能存个最接近的近似。这一点现在记个印象，等学 printf 输出实数，例3.7 会让你们亲眼看见 float 把 10000/3 输出成一串糊掉的数——那就是精度短板的现场直播。浮点先认到这儿.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上一页说"浮点先认到这儿"，但里面"15 位有效数字"这句话，值得研究一下，尤其回答一个疑问：double 都 64 位了，怎么"才"精度占 15 位？看图，一个浮点数在内存里分三段存：最左一位管正负，中间一大段是"小数部分"也叫尾数，右边一小段是"指数"。课本原话在 50 页第 5 行，咱们最好划一下、跟我念一遍：**尾数占的位越多、有效数字越多、精度越高；指数占的位越多、能表示的数越大、范围越广，它表示小数点最远跑多远**。所以那 64 个格子不能全拿去记"准不准"（精度），还得留一部分给"指数"——它决定小数点能挪多远，也就是能表示多大、多小的数（范围）。float 用 32 位，有的系统拿 24 位做尾数、8 位做指数，就得到 6 位有效数字、范围到 10 的 38 次方；double 用 64 位，两头都比它宽，才有 15 位有效、范围冲到 10 的 308 次方。一句话：**字节是"精度"和"范围"两头分的，不是全堆在精度上**。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上一张说字节要"分两头买"，肯定有同学当场就想问：那 **6 位、10 的 38 次方**，到底怎么算出来的？这张就把它一步步量出来，而且**只用一把尺**。先认这把尺：**2 的 10 次方 = 1024，约等于 1000，也就是 10 的 3 次方**——这就是你们背过的 1KB=1024B。记住它，**每 10 个二进制位，就约等于 3 个十进制位**。先看尾数这 24 位：二进制每一位只有 0 和 1 两种，24 位就能摆出 **2 的 24 次方个不同的数**；用这把尺拆开——2 的 24 次方 = 2 的 10 次方 × 2 的 10 次方 × 2 的 4 次方，约等于 10 的 3 次方 × 10 的 3 次方 × 16，就是 **1.6 × 10 的 7 次方个刻度**。刻度多到上千万，换成十进制**能记准六、七位**，课本保守，就写 6 位。再看指数这 8 位：它管小数点能挪多远，最大能挪到 **2 的 127 次方**那么远；同一个拆法，2 的 127 次方约等于 **10 的 38 次方**——范围就是这么来的，课本给的确界是 3.4×10 的 38 次方。最后拿 double 验一遍，证明这把尺到处能用：尾数 53 位，2 的 53 次方约 9×10 的 15 次方，正好约 15 位有效；指数 11 位，最大 2 的 1024 次方约 10 的 308 次方——**同一把尺，全对得上**。【互动停顿：停 2~3 秒，让同学自己念一遍"2 的 10 次方约等于 10 的 3 次方"】所以表里那些数不是让你们死记的，记住这把尺，6 位和 10 的 38 次方你当场就能推出来。</a:t>
            </a:r>
          </a:p>
          <a:p/>
          <a:p/>
          <a:p/>
          <a:p>
            <a:r>
              <a:t>关于指数怎么挪？</a:t>
            </a:r>
          </a:p>
          <a:p/>
          <a:p>
            <a:r>
              <a:t>这涉及计算机存储单精度浮点数（如 C 语言中的 float 格式）的国际标准（IEEE 754）。图片中提到的 127 次方，是通过“8 位二进制正常最大值 减去 规定偏移量”算出来的。</a:t>
            </a:r>
          </a:p>
          <a:p/>
          <a:p>
            <a:r>
              <a:t>具体计算步骤如下：</a:t>
            </a:r>
          </a:p>
          <a:p/>
          <a:p>
            <a:r>
              <a:t>8 位二进制的容量：8 个比特（bit）能组合出 256 种状态，代表的十进制数字范围是 0 到 255。</a:t>
            </a:r>
          </a:p>
          <a:p/>
          <a:p>
            <a:r>
              <a:t>扣除特殊标记：标准规定，0 和 255 这两个极端数字不能作为正常的指数使用，它们被预留成了特殊标记（0 用来表示绝对的零或极小的数，255 用来表示无穷大或非数字报错）。因此，用来表示正常指数的数值范围只能是 1 到 254。</a:t>
            </a:r>
          </a:p>
          <a:p/>
          <a:p>
            <a:r>
              <a:t>引入偏移量（Bias）：科学记数法里的小数点既需要向右挪（正指数，表示大数），也需要向左挪（负指数，表示极小的数）。为了既能表示正数又能表示负数，标准硬性规定：内存里存的数字，必须减去一个固定的中间值 127，算出来的差值才是真实的指数。</a:t>
            </a:r>
          </a:p>
          <a:p/>
          <a:p>
            <a:r>
              <a:t>得出最大限制：拿正常能用的最大数字 254，减去固定的 127，结果刚好等于 127。</a:t>
            </a:r>
          </a:p>
          <a:p/>
          <a:p>
            <a:r>
              <a:t>所以，这 8 位指数实际能表达的最大正指数就是 127，意味着它最大只能乘以 $2^{127}$（大约是 $3.4 \times 10^{38}$）这么大的倍数。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上一张我把“指数 8 位最大能挪到 2 的 127 次方”当尺子直接用了，肯定有同学憋着问：**凭什么是 127，不是 255？** 这张就专门抠这一个数。先说清楚“指数”到底在干嘛——它就是把**小数点挪几位**：往右挪数变大，往左挪数变小。这个你早见过，**1.23 × 10 的 3 次方 = 1230**，不就是把小数点往右挪了 3 位吗？浮点数一模一样，只把底数从 10 换成 2。那问题来了：这 8 位存进内存，摆出来的全是**非负数，0 到 255**，一共 256 种；可指数得有负有正，负数从哪冒出来？机器的办法是——**定一个中间基准 127，存进去的数一律减去 127，差才是真指数**。再扣掉两个不能用的极端：0 留给“零和极小的数”，255 留给“无穷大、不是数”，所以正常指数只能取 **1 到 254**。你拿三个关键点一减就透了：存 1，减 127 得 **−126**，小数点往左挪到头，表最小的数；存 127，减完是 **0**，原地不动；存 254，减 127 得 **+127**，往右挪到头，表最大的数。【互动停顿：停 2~3 秒，让同学自己算一遍 254 减 127】所以最大正指数就是 **254 − 127 = 127**，2 的 127 次方约等于 1.7×10 的 38 次方，尾数取满就是 float 那个 **3.4×10 的 38 次方上限**，往左同理到 10 的负 38 次方下限。一句带走：**这个 127 不是天上掉下来的，是 256 个格子去掉两头、再从正中间切一刀定下的基准**；课本只把范围当结论给你，背后是所有机器通用的 IEEE 754 规矩。下张就把这几页的数填成一张对照表。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把刚才那句填成一张表，就是课本表 3.4。横着看三行：float 4 字节、6 位有效数字；double 8 字节、15 位；long double 在课本用的 Visual C++（VC++）里跟 double 一样是 8 字节 15 位。**最要紧的是最右边这列“数值范围”——它不是一个最大值，而是三段：0、一个最小正数、一个最大数**。float 这格课本原话是“0 以及 1.2×10 的负 38 次方，一直到 3.4×10 的 38 次方”。为啥连最小那个数也要写出来？看表格下面这条数轴：超出机器能存的范围、存不下，统称**溢出**，它分两头——往两边、绝对值太大，超过 3.4×10 的 38 次方，存不下，叫**上溢**；往中间、绝对值太小，小到 1.2×10 的负 38 次方以内，照样存不下，叫**下溢**。所以图上两头橙色箭头是上溢、中间红色那段是下溢，唯独蓝色的两段再加那个 0，才是真正存得下的。竖着盯两列颜色：橙色这列"有效数字"是尾数买来的，蓝色这列"范围"是指数买来的，**两头一起随字节涨、但不是按比例**——字节从 4 翻到 8 是翻倍，有效数字才从 6 到 15，没翻倍。这里先给你们打个招呼：**别死记字节数**，long double 换到老的 Turbo C 就是 16 字节 19 位，跟 int 有 2 字节 4 字节一个道理，是编译系统定的。还有一句记牢：做浮点运算时，**float 会先自动转成 double 再算**。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最后纠正一个几乎人人都会有的误会：精度说的"几位"，不是"小数点后几位"。看图，**数有效数字要从左边第一个不是 0 的数字起，往后一位一位数，整数位和小数位一起算**。123.456 是 6 位；0.000123 前面那串 0 只是占位、不算，只有 123 三位；10000 除以 3 是 3333.333…，float 只保 6 位，第 7 位往后就是机器凑的了，所以它的有效数字全占满了是 6 位。那为什么 printf 用 %f 打出来总是 6 位小数？**那是"显示格式"规定打几位小数，跟"存了几位精度"是两码事**，别混。记住这句：有效数字是从第一个非零数字往后数的总位数。这个"凑数"到底糊成什么样，等学 printf、做例 3.7 会让你们亲眼看到——今天先把"字节分两头、有效数字怎么数"这两件事学了。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最后：那些不带变量的纯数字，编译器怎么定类型。整数常量，按大小归 int 还是 long；小数常量——不管写成 0.34 还是指数形式——C 系统**默认按双精度 double 处理**，占 8 个字节。讲到这儿，正好把咱开场那张地图中的例3.1 为什么写 `5.0/9`、不写 `5/9`？因为 5 是整型常量、9 也是整型常量，两个整数相除，哪怕数学上等于 0.55，C 也只给个整数 0——除法被'整型'这个身份坑了。如果被除数写成 5.0，它带上了小数点、是实型了，除法才真做出小数来。这个坑今天先踩明白，下节课开新节从头收拾运算符。好，回头看地图：第①步'看懂程序'、第②步'选对类型'，两关都过了。留 5 分钟，照例3.1 那五行，自己看一下一个'定义、赋值、printf 输出'的简单的程序，比如把摄氏换华氏也行。下节课从第③步表达式接着走。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上节课我们把地图走到第②步'给数据选对盒子'，今天进第③步——**算对**。还是盯例3.1 那行 `c = (5.0/9)*(f-32);`：上节课说过 5.0/9 不能写成 5/9，根子在一个叫'整除'的规矩上——本节就把它从头讲透。翻到课本 §3.3（每句前的 P 就是课本页码），划三句：P52'两个整数相除结果为整数，如 5/3 的值为 1'这句、P53'算术表达式'那个定义、还有 P53'运算符的优先级和结合性'。划完抬头，这一节就干这三件事：运算符长什么样、整除有什么坑、式子按什么顺序算。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C 的运算符总数不少，但这一章你们真正要掌的，就是算术那几个：加、减、乘、除、取余。课本列了一大堆是给你们全貌，咱们重点拿下最常用的五个。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dirty="0"/>
                  <a:t>▶ 第 46 张 · 基本算术运算符（p52）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五个算术运算符：加 +、减 -、乘 *、除 /、取余 %。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头一条就得改习惯：数学里乘号常省略，可以写 </a:t>
                </a:r>
                <a14:m>
                  <m:oMath xmlns:m="http://schemas.openxmlformats.org/officeDocument/2006/math">
                    <m:r>
                      <a:rPr lang="zh-CN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，但在 C 语言里</a:t>
                </a:r>
                <a:r>
                  <a:rPr lang="zh-CN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乘号必须显式写出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，写成 2 * x，漏了直接报语法错误。% 专用于整数取模，它不管商，只保留余数。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这里最容易踩坑的是除法：如果直接在代码里写 5 / 9，</a:t>
                </a:r>
                <a:r>
                  <a:rPr lang="zh-CN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结果不是 0.55，而是 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。因为两个整数相除只做整除、向零截断小数；想保留小数，必须让其中至少一个是浮点数，比如写成 5.0 / 9 或 5 / 9.0。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/>
                  <a:t>“向零截断”（Truncation toward zero）的意思是</a:t>
                </a:r>
                <a:r>
                  <a:rPr lang="zh-CN" altLang="zh-CN" b="1"/>
                  <a:t>直接扔掉所有小数部分，只保留整数位</a:t>
                </a:r>
                <a:r>
                  <a:rPr lang="zh-CN" altLang="zh-CN"/>
                  <a:t>，无论小数部分有多大，都不会往前“进一位”。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r>
                  <a:rPr dirty="0"/>
                  <a:t>▶ 第 46 张 · 基本算术运算符（p52）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五个算术运算符：加 +、减 -、乘 *、除 /、取余 %。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头一条就得改习惯：数学里乘号常省略，可以写 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2𝑥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，但在 C 语言里</a:t>
                </a:r>
                <a:r>
                  <a:rPr lang="zh-CN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乘号必须显式写出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，写成 2 * x，漏了直接报语法错误。% 专用于整数取模，它不管商，只保留余数。</a:t>
                </a:r>
              </a:p>
              <a:p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这里最容易踩坑的是除法：如果直接在代码里写 5 / 9，</a:t>
                </a:r>
                <a:r>
                  <a:rPr lang="zh-CN" altLang="zh-C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结果不是 0.55，而是 0</a:t>
                </a:r>
                <a:r>
                  <a:rPr lang="zh-CN" altLang="zh-C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。因为两个整数相除只做整除、向零截断小数；想保留小数，必须让其中至少一个是浮点数，比如写成 5.0 / 9 或 5 / 9.0。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/>
                  <a:t>“向零截断”（Truncation toward zero）的意思是</a:t>
                </a:r>
                <a:r>
                  <a:rPr lang="zh-CN" altLang="zh-CN" b="1"/>
                  <a:t>直接扔掉所有小数部分，只保留整数位</a:t>
                </a:r>
                <a:r>
                  <a:rPr lang="zh-CN" altLang="zh-CN"/>
                  <a:t>，无论小数部分有多大，都不会往前“进一位”。</a:t>
                </a:r>
                <a:endParaRPr lang="zh-CN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1024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五个算术运算符：加 +、减 −、乘 *、除 /、取余 %。头一条就得改毛病：数学里乘号能省、能写 2x，C 里一律不行，**乘号必须写成星号 ***，2*x 一个都不能少。% 是数学里没有的——它不管商，只管余数。除法这里回看上节课埋的那个坑：例3.1 写的是 5.0/9，要是把 5.0 写成 5、变成 5/9，结果是多少来着？【等学生答，约 2~3 秒】对，是 0，不是 0.55。至于两个整数一除为什么就得出 0，下一张专门讲透。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整除，本节最大一个坑：**两个整数相除，结果还是整数，小数部分直接舍掉**。5 除 3，数学里 1.66，C 里只给 1。负数呢，不同系统不一，课本用的 VC++ 搞'向零取整'，−5/3 得 −1，往 0 那边靠。再取一个最接地气的：8%3，8 除以 3 商 2 余 2，% 只拿那个余数，结果 2。现在把刚才那个 5/9 从头讲透：例3.1 为什么写 5.0/9、不写 5/9？因为 5 和 9 都是整数，5/9 按整除算，结果直接是 0，温度全错了；5.0 带小数点就不是整数除，算得出 0.55。这一下前后对上了吧？练两道题。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'表达式 8/5 的结果是？'四个选项：A 1.6、B 1、C 3、D 0。**先报答案：选 B，就是 1**。为什么？数学里 8/5=1.6，可这是 C：两个都是整数，走整除，只取整数部分 1。那个 A 选项 1.6 就是专门挖你们数学惯性的。真要得 1.6，得把其中一个写成带小数的，8.0/5 或 8/5.0，才不走整除。下一道把 % 也验一下。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'表达式 5%2 的结果是？'四个选项：A 2.5、B 2、C 1、D 3。**先报答案：选 C，就是 1**。5 除以 2，商 2 余 1，% 只拿余数，所以是 1。那个 A 选项 2.5 又是拿数学除法坑人的。% 和 / 是一对：/ 拿商、% 拿余，以后判断一个数是奇是偶，就靠 n%2 等于 0 还是 1。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还有两个符号得认脸：++ 和 --。作用就一个字：加 1 或减 1。i++ 和 ++i 有点区别，一个先用后加、一个先加后用，但今天不展开——本节你们只要看到 ++ 知道是'让某个变量加 1'就够，真正拼它那块到后面循环才考。运算符认全了，剩下就两件事：怎么把它们拼成合法的式子、按什么先后顺序算。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把运算符和括号把常量、变量连起来，就是个合法算术表达式。算的先后靠两条：**优先级**——先乘除后加减；**结合性**——同优先级从左往右算。回例3.1 那行，为什么给 5.0/9 和 f-32 都单独括上？因为乘除同级从左往右，不加括号顺序就跑了。给你们一句实在话：**优先级背不熟就加括号，括号永远不坑你**。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把刚才的整除往前推一步：一个式子里既有整数又有小数怎么办？规矩是一句话：**结果向高精度靠**。两条运算里只要有一个是 float 或 double，系统先把那个也当 double，结果就是 double；int 碰小数也一样先转 double。升只往 int→float→double 这个方向升，不会降。这就把开场那个 5/9 彻底封顶了：只要写 5.0，它就从小盒子升成带小数，整除变真除。还有第三种情况：字符掺进来算怎么办？——字符有 ASCII 码，直接拿码就能参与运算。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3.3，本节的落地例子：给一个大写字母，要求用小写输出。你可能想查表，其实不用——回看第 29 张那句'字符就是整数'：大写字母和小写字母在 ASCII 码里是固定错开 32 的，小写比大大 32。'A' 是 65，那 'a' 就是 65+32=97。所以大转小根本不用查表，就是把那个字符的码加 32。这就是把'字符能当整数算'用到位。上代码。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代码五行：`char c1,c2;` 定义两个字符变量；`c1='A';` 把 'A' 的码 65 放进去；关键一行 `c2 = c1 + 32;`——c1 是个字符，可直接拿它的码 65 加 32，结果 97 放进 c2。下面两行 printf 特别好听：`printf("%c",c2)` 把 97 当字符读，打 a；`printf("%d",c2)` 把同一个 97 当整数读，打 97。这不就是第 33 张那个同格两读吗？一个格子，格式符选哪个就出哪个样子。例3.3 一句话带走：**字符能直接参与整数运算**，因为内存里本来存的就是数。算完了式子，还剩一种情：类型不一致时能不能绕过自动规则自己指定？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上一页是系统自动帮你升型，这一页是你主动出手。强制类型转换写成 `(类型名)(表达式)`，比如 `(double)a`、`(int)(x+y)`、`(float)(5%3)`。一句要紧的话：`(int)a` 只是**把这一次结果临时当整数用**，a 本身一个字没改，下次该是多少还是多少。自动转是默认行为，强制转是你显式接管——两个认脸就行。运算符和表达式到这儿就先收束了。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地图走到第④步：`c = (5.0/9)*(f-32);` 这个等号，跟数学里的等号是一回事吗？翻到 §3.4（每句前标 P 页码），划三句：P58'最常用的语句是赋值语句'、P60'先求赋值运算符右侧表达式的值再赋给左侧变量'、还有 P63 赋值表达式和赋值语句那条区别。最要紧的是中间那句'先右后左'，它就是本节的命门，划完抬头。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 语句分五类，扫一眼认名字：控制语句 if、for、while 那批（那是以后几章的主角）；函数调用语句，比如 printf(); 一行；表达式语句，比如 a=3; 带分号；空语句就一个分号；复合语句用大括号括一堆。本章你们只重点用两类：赋值和输入输出。先把镜头给最基础的那个——赋值。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课本这句直接可划：'C 程序中最常用的语句是赋值语句和输入输出语句，其中最基本的是赋值语句。'为什么赋值是最基本？因为任何一个程序，只要你想记住一个中间结果，就得靠它。那个等号到底什么意思，得先辨清楚。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3.4，已知三角形三边 a、b、c，求面积。数学里有个海伦公式：先算半周长 s=(a+b+c)/2，再 area 等于根号下 s(s-a)(s-b)(s-c)。难点不在算法，在把这个带根号的公式一行行翻译成赋值。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代码来了：`double a,b,c,s,area;` 全用双精度；接三行赋值给 a、b、c 具体值；`s=(a+b+c)/2;` 先把右边算完再赋给 s；`area=sqrt(s*(s-a)*(s-b)*(s-c));` 调平方根函数。这里有个细节：用了 sqrt 就必须在开头 `#include &lt;math.h&gt;`。整个程序就是四步流水线里'先算右边、再赋左边'反复用。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这一页把 printf 那行单独放大，就一个点：`a=%f\tb=%f\t` 里那个 `\t` 是制表符，让输出往后跳一个 tab 位，三个数排得整齐。回指例3.1，printf 里反斜杠开头的 \n、\t 这些都是转义字符，不是普通字母。这题到这儿就讲完了。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用第 57 张那五类标签当场数一遍：a=3.67、b=5.43、c=6.21、s=(a+b+c)/2、area=sqrt(...) 这五行全是赋值语句；最后一行 printf 是函数调用语句（输出）。你们数对了吗？能把这两类分清，这一页就过关了。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到地图第四个'为什么'了：`c = ...` 这个等号跟数学的等号不是一回事。数学里的等号是个关系，两边永远相等；C 里的等号是个**动作**——把右边的值拿来，装进左边的变量。最狠的例子：数学里 a=a+1 根木成立，可 C 里它是把 a 原来的值加 1 再存回 a，天天用。记住两个硬规矩：① 等号是'赋值'不是'相等'；② 等号左边只能站一个变量，不能写 a+b=10 这种。那这个等号，还能不能写得更短？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刚才那个 a=a+1 可以缩写：在等号前拼一个运算符，`a+=3` 就等价于 `a=a+3`。同样 `a*=3`、`a/=2`、`a%=2` 都是一个套路。别把它当新东西，它本质还是赋值，只是右边把变量自己拿进去算了一下再存回去。那这个'先算右边'的过程到底是怎么走的？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把赋值拆开看，永远是两步：第一步，算赋值符**右边**那个表达式的值；第二步，把这个值赋给**左边**的变量。a=2+3 先算 2+3 得 5，再把 5 装进 a。顺序不能颠倒——右边没算完，左边绝不动。这就是你们在第 56 张划住的'先算右边再赋左边'。还有个易错：赋值完之后，整个赋值式子自己也是个值。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赋值解完，不光变量有了值，**整个赋值式子自己也是个值**，就是刚赋进去的那个数。'a=3*5' 解完 a=15，式子的值也是 15。这就解释了 `a=b=5`：它从右往左结合，等于 a=(b=5)，先把 5 赋给 b、b=5 这个式子值也是 5，再赋给 a。所以 a 和 b 都是 5。但注意：`a=b` 和 `b=a` 完全不是一回事——赋值永远从右往左，把右边送到左边。那要是左右两边类型不一样，又该怎么办？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赋值时两边类型不一定一致。一致直接赋；不一致但都是算术型，系统把**右边的型转成左边的型**再存。注意这跟第 52 张不完全一样：那边是运算结果向高升，这边是往**左边的型**靠——比如 float 的值赋给 int，直接砍掉小数存成整数，会丢信息。还有一条：盒子装不下就溢出，所以定义变量时就要把型选对。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最后辨一对名字：赋值表达式 vs 赋值语句。区别就一个分号——`a=3` 是表达式，末尾没分号；`a=3;` 才是语句，带分号。一个式子里可以包含赋值表达式，但绝不能包含一条赋值语句。回看例3.1：`c=(5.0/9)*(f-32)` 是表达式，后面加个分号才成了语句。这个分号在考试里专门坑人。那赋值能不能在定义变量的时候就顺手用上？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变量可以在定义时就赋初值，就是第 9 张例3.2 那个 `float p0=1000,...` 的正式名字。三种写法：基本型 int a=3; 一个一个给；同值型 int a=3,b=3,c=3; 都给 3；最容易错的是部分初始化 int a,b,c=5;——那个 5 **只给了 c**，a 和 b 根本没被赋值，里面是上一手留下的垃圾值。这就是本页最大的坑，务必记死。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三个新手错集中盘：一，连等 `int a=b=c=3;` 直接错，C 里不能这么一串赋，得写 int a=3,b=3,c=3; 分别给。二，刚才那个 `int a,b,c=5;`，新手以为 a、b、c 都是 5，其实只有 c——回指第 69 张。三，局部变量不赋初值就直接用，那格子里是上一手残留的随机数，回指第 15 张那句'变量名是格子标签'，标签贴上了可格子里旧东西没人清。养成习惯：定义一个就赋一个初值，别赌它默认为 0。赋值这一段到这儿就收官了。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地图最后一步⑤：`f=64.0` 写死在代码里，用户想换个数怎么办？§3.5 解决它。小目五个：输入输出举例、概念、printf、scanf、字符数据输入输出。这是本章最后一个硬核节，也是以后你们写每个程序都躲不开的一节。先划概念。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翻到 §3.5（每句前标 P 页码），划四句：P66 一句'C 语言本身不提供输入输出语句，输入输出由库函数实现'；P67 printf、P74 scanf 两个函数的一般形式；最后、也是最要紧的一处——P75 scanf 形式里的'**地址表列**'，每个变量前面那个 &amp;。划的时候把 &amp; 重重划一道，因为漏写 &amp; 是这门课事故率第一的错误，后面第 101 张我们会拿'段错误'当场演示它。划完抬头。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3.5，本章最大的一个例子：求一元二次方程的根，a、b、c **由键盘输入**。听仔细，这跟前面五个例子都不同：例3.1 的 64.0、例3.4 的 3.67 全是写死在代码里的，这题把盒子打开，运行时让用户从键盘把数递进来——地图最后那个'写死了怎么办'，这题就是答案。数学底子：判别式 b 方减 4ac 非负时有两个实根，公式课本都给了，代码里就两行。上代码。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代码贴出来，先只盯第三行：`scanf(\"%lf%lf%lf\", &amp;a, &amp;b, &amp;c);`——读入三个数。两个新面孔：%lf 和 &amp;。%lf 是 double 专用的输入占位符，页底下那段注释说得很硬：double 必须 %lf、float 必须 %f，传错了数据直接坏在内存里。&amp; 呢——回看第 15 张那句'变量名背后是地址'：printf 是把格子里的值**读出来**打印，scanf 是要把键盘的数**写进**格子，写就得知道门牌号，&amp;a 就是把 a 的地址交给它。剩下几行全是老熟人：disc 算判别式、p 和 q 套求根公式，注意分母那处写法带着两重保险——后面两页逐一放大；输出那行的格式符也先埋着，后面专讲。这程序跑起来：键盘敲 1 3 4 回车？disc=9−16 是负的——题目假设 ≥0，换 1 -3 2，得 x1=2.00、x2=1.00。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这页把 scanf 那行单独高亮，就补一句：格式串里写了几个 %lf，就得在后面的地址表列里给几个带 &amp; 的 double 变量，一一对应。这行认了，这程序就认了大半。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这页放大计算那两行，两个保险带：一，分母 2.0*a 必须整个括起来——要是手滑写成 -b/2*a，按第 51 张'同级从左到右'，机器先算 -b/2 再乘 a，拿 a=1、b=−3 试试：正确是 1.5，错写算出 −1.5，符号都飞了。二，2 写成了 2.0，为什么？防整除，回看第 47 张那个坑。至于最后那行输出用的占位符，比老面孔多了俩零件，先记着。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`x1=%7.2f` 这个格式符拆开：7 是总宽度——整个数带小数点带负号占 7 列，不够左边补空格；.2 是小数位数。所以输出 2.00 时前面顶着四个空格。为什么要这么讲究？页底那句说到了点子上：**多行数据要上下对齐**，报表、表格全靠它。例3.5 到此五行全部拆完，你们手里的地图⑤走了一半——'读'这一头，算是过来了。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§3.5.2 先把'输入输出'四个字的定义摆正：课本说得很清楚，**以计算机主机为主体**——从主机往外送数据叫输出，从外面进主机叫输入。注意这个“外面”不只是你手边的键盘：磁盘、光盘、扫描仪往主机里送数据，全算输入。把视角从'人看屏幕'换成'主机看世界'，这套定义就不会绕晕。拿图对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示意图把刚才那句话画出来了：主机居中，左边键盘、扫描仪这类往里送，右边显示器、打印机这类往外走。图认完，留个真正值得想的问题：很多语言自带输入输出语句，C 为什么偏偏不设？这个问题值得想一想。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这张图回答一个没人讲透的问题：C 为什么自己不造输入输出语句？——因为主机外面的设备千种万样，今天这块显卡明天那台打印机。语言标准要是把输入输出写死在语法里，每换一台机器就改一次语言。C 的做法是：语言本身只管算和控，进出这活**外包给库函数**。这就是为什么你们每份程序开头都有引入头文件的那句话——把外包公司请进来。外包公司里两个主力：printf 和 scanf。注意它们的身份——它们是函数名字，不是语言关键字——这个身份要记清。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课本这句要划住（你们在第 72 张刚划过）：'C 语言本身不提供输入输出语句，输入输出由 C 标准函数库中的函数实现'。所以 printf、scanf 是什么？——**库函数的名字**，不是语言关键字。顺带把 putchar、getchar、puts、gets 四个名字也混个脸，都是同一家库的。既然是库给的，用之前就得先把库引进来。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用库函数前得把头引进来，三种写法认个脸：尖括号 `&lt;stdio.h&gt;`，编译系统去它的标准子目录找；双引号，先在用户当前目录找；带全路径，去指定位置找。平时你们写标准库就用尖括号，自定义头文件用双引号——第 1 章那套。头文件的事，到这一章就这么多。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过渡一句：C 里管进出的主力就是 printf 和 scanf，它俩并称为'格式输入输出函数'——名字里这个'格式'，就是必须靠格式符这套占位标记来指挥怎么写怎么读。先把 printf 的骨架拆开。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printf 的一般形式：printf（格式控制，输出表列）。看例子：printf("i=%d,c=%c\\n", i, c); 第一个参数是格式控制串，里面 %d 是有符号十进制整数的占位符、%c 是字符的占位符；第二个参数起是输出表列，i 和 c 按位置排队填进两个空——%d 吃 i，%c 吃 c。占位符和变量个数对不上就出烂数据。那格式串里不是占位符的那些字——比如 i= 和这个逗号——又该怎么处理？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这页把格式串里另一半说清：除 % 开头的占位符，剩下的普通字符——i= 这个逗号、结尾的 \n——**原样照打**。页底那个注解也实在：\n 在 Windows 实际是回车加换行两个控制符，Linux 只换行——屏幕看不出差别，但写文件时差别就出来了。那逗号后面的输出表列那头，又能放些什么？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输出表列那一排不非要变量：常量、变量、表达式都行，输出表列里直接写 3+5，先算出 8 再打。printf 的骨架，到这儿就认全了。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%d：输出带符号十进制整数，int 型专用；long 得用 %ld，那个 l 别丢——第 21 张说过 long 是单独一档，格式符加个 l 跟 int 区分开。还能指定域宽：%5d 意思是这个数占 5 列，不够左边补空格。当场算：printf("%5d%5d\\n",12,-345)，12 只占 2 列前面顶 4 个空格，-345 占 4 列顶1 个——两个数永远不会粘成一个。%d 讲完，轮到字符。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%c 输出一个字符，它就是第 33 张那次'按字符读'的正式名字；%5c 同样带域宽，'a' 前面顶四个空格。单个字符用 %c，那一串 "CHINA" 这样的字符串，又该用哪个占位符？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%s 管字符串：printf(\"%s\", \"CHINA\"); 直接出 CHINA，整个串一次交给这一个占位符，不用拆成五个字符五次 %c。到这里整数、字符、字符串都有主了，就剩管小数的那一位。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%f 输实数。但注意课本这句大实话：'计算机输出的数字不都是绝对精确有效的'——float 单精度只保 6 到 7 位有效数字，double 保 15 位。这就是第 37 张说的那个硬件天花板，现在轮到它兑现。页底这个游戏先玩一把：拿 float 存圆周率再打印，你们猜小数第几位开始说谎？【等学生猜】六七位之后。证据就在下两张，现场开庭。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3.6，两行代码：double a=1.0; printf("%f\\n", a/3); 跑出来 0.333333。1/3 是无限循环小数，这里打了六位 3 就停了——因为 %f 不指定宽度时默认就是 6 位小数，后面的位不是不存在，是不显示。嫌六位不够？那就得自己在占位符里规定宽度和小数位数。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先记这个写法：m 总宽度、n 小数位数。%20.15f 打 1.0/3，十五位小数全给你，不够 20 列左边补空格；另一行 %.0f 打 10000/3.0，小数位砍成 0，四舍五入成整数显示——注意，数据还是那个数据，只是格式上'怎么看'。显示层能调，存储层调不了——盒子本身装不装得下，那是存储层的事。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例 3.7，本节最有名的一幕：float a; a=10000/3.0; printf 打出来——**3333.333252**（本机 GCC 实测；课本 VC++ 印的是 3333.333333，换编译器末位就变）。你们数学上的答案是 3333.3333 无限循环，这个 252 哪来的？谁算错了？【等学生答】没人算错。a 是 float，总共只有六七位有效数字；3333.333 已经吃满七位，再往后的尾数就是二进制凑近时留下的残渣，机器老老实实在把'它记得的近似'打给你看。把定义改成 double，再打就接近 3333.33333333。这就是第 37 张那句'天花板'的现场实录，也是本章从头到尾讲'选对盒子'的终极理由。剩下管小数的还有两个变体写法，快过。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%f 家族最后一个零件：宽度前加个减号，%-m.nf，数字改成**向左靠齐**，空格挪到右边。同一变量打两遍，%-25.15f 和 %25.15f，一边一个样，对齐方向一眼看穿。小数讲完了，还剩一种写法，是把实数拉成科学记数法打出来。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%e 把实数按指数形式打：printf("%e",123.456) 出 1.234560e+002，规矩是小数点前必须有且只有一位非零。回看第 14 张认常量时那个 12.34e3——那是写进去的指数形式，这是打出来的，一回事两头。它照样能配宽度和小数位，玩法跟前面一模一样。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这页就一个对照：printf("%13.2e",123.456) 出 1.23e+002 前面顶四格——宽度和小数位的玩法跟 %m.nf 一模一样，不重复。printf 六家格式符到这儿点齐：%d %c %s %f %m.nf %e。写的问题解决了一半，剩下那半是‘读’——第 74 张已经见过一面。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scanf 回归正题。一般形式：scanf（格式控制，地址表列）。注意这四个字——**地址**表列，不是输出表列那个'值'。页底那行注解钉死了：这里要的是变量的地址，或者字符串的首地址。所以同一个 a，在 printf 里直接写、在 scanf 前必须加 &amp;——&amp;a 就是把第 15 张说的'格子门牌号'取出来交给它，它才能把键盘的数写进格子。格式控制串里的 %d %f 那套和 printf 同族，但它还有个跟 printf 不同的新玩法。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scanf 的格式串除了占位符，还能夹普通字符，这是它和 printf 的一个不同玩法：scanf(\"a=%f,b=%f,c=%f\", &amp;a,&amp;b,&amp;c); 写了这串，用户键盘上就必须一字不差地敲 a=1.5,b=2.5,c=3.5 回车——那个 a= 和逗号都是硬分隔符，少打一个，数据就读不进去。不写普通字符时，默认靠空格或回车分隔。记住这一条：**格式串不只是'怎么显示'，在 scanf 这儿它是'输入模板'**。凡是不按模板敲的，数据就读不进去。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注意事项第一张，左右各一组对照。左边：scanf(\"%f%f%f\",a,b,c) 直接错，每个变量前必须 &amp;；右边：格式串里写了 a=、逗号，键盘就得照模板一字不差，光敲 1 3 2 反而错——正好跟上一页那个'模板'接口。两种毛病各有自查口令：一种查 &amp;，一种查模板。把这两个毛病先认熟，待会儿有张易错总表会把它们一起收网。现在先专治最娇贵的那位成员。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%c 的专场：scanf(\"%c%c%c\",&amp;c1,&amp;c2,&amp;c3); 敲 abc 回车，三个字母各进各家，对；敲 a 空格 b 空格 c 回车——错！为什么？因为 %c 是格式符里唯一'不挑食'的：空格、回车它都当正经字符往格子里收，c2 收到的是那个空格。其他 %d %f 会自动跳过空白，唯独 %c 不跳。这句记牢，%c 的坑就能躲一大半。输入这块的规矩，到这儿就齐了。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把本章埋过的雷集中收网，四条。一，漏 &amp;：错例 scanf(\"%lf\", a)，后果写得很明白——把变量的值当成内存地址去写，直接触发段错误。为什么这么惨？拿第 15 张那句'变量名背后是地址'倒过来想：你给了个假门牌号，操作系统一查没权限，当场把程序抬走。二，模板不匹配：代码等空格你打逗号，后两个变量读不进去，里面留着垃圾。三，整除截断：2*a 那笔账，第 76 张算过。四，缓冲区残留：回车被下一个 %c 吃掉，回指第 100 张。四条都眼熟吧？全是从前面各页长回来的。进出规矩通了，收尾还剩最后一段：字符数据的专用输入输出通道。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putchar，名字里带着 put char，向屏幕输出一个字符，一般形式 putchar(c)。它就是 printf 打单个字符的极简版——不用格式串，括号里塞谁打谁。拿它把 B、O、Y 三个字母挨个打出来，就是一道小例子。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3.8：先后输出 BOY 三个字符。思路没悬念：三个字符变量各自拿初值 B、O、Y，三个 putchar 一行一个挨着打。代码贴出来看。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代码七行：定义三个字符变量、赋初值，这套第 9 张例3.2 就用过；三个 putchar 挨个打 B、O、Y；最后一行 putchar('\n') 有意思——换行符也是个字符，单独交给 putchar 打出去，光标就到下一行。注意它不带引号外层的格式串，单撇号直接圈转义符，回看第 30 张那批控制符。这页代码还有个彩蛋：把 char 换成 int，你猜还跑不跑？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同一道题改一行：把 char 换成 int，直接拿码赋——int a=66,b=79,c=89; 跑出来还是 BOY，一个字母不差错。为什么？putchar 拿到 66 这个数字，查表知道它就是 'B' 的 ASCII 码，打出来自然也是 B。这一下把第 29 张那句'字符在内存里就是整数'又坐实了一遍：字符和整数在这章已经互相客串三回了。输出侧讲完了，输入侧还留着一条反向的通道。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putchar 补两个花样写法：putchar('\101') 打 A——这是八进制转义，101 八进制就是 65；putchar('\'') 打单撇号——撇号自己也是个需要被转义的字符，套在撇号堆里得先给自己逃。这三个例子把转义字符的三种马甲认齐：字母型 \n、数字型 \101、自身型 \'。输出侧收工，轮到输入侧的 getchar。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getchar，括号里什么都不写——它不需要格式串，就一个活：从键盘收一个字符，把这个字符的码作为返回值交给你。a=getchar(); 就是把收来的那个字符存进 a。和第 100 张那个娇贵的 %c 是同一条通道两种写法。用它把例3.8 反过来——从键盘收 BOY 再打回屏幕，正好是本章的压轴例子。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例 3.9，本章压轴：从键盘输入 BOY 三个字符，再把它们原样打到屏幕。用三个 getchar 先后收，putchar 打。代码三行就完，可这里藏着一个必须当堂解决的现象题：敲完一个字母马上按回车，程序会怎么反？这事得先看一张图——你的键盘和程序之间，还隔着一个候车室。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这张图是全章理解输入问题的钥匙：你键盘上敲的字符不是直接飞进程序，而是先进一个叫**输入缓冲区**的候车室排队；按一次 ENTER，整队才放行进程序。所以 getchar 不拍 ENTER 永远等——因为队没放行。回头想第 101 张那条'缓冲区残留回车'：上一批放行后最后那个 ENTER 本身也留在队里，下一个 %c 或 getchar 一上来就把它捡走——同一个根源，这张图全解释了。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代码七行：三个 getchar 挨个把返回值交给 a、b、c，三个 putchar 再挨个打。用第 109 张那张图推一下：敲 B、O、Y 再拍一次 ENTER，回车放行，缓冲区里排着 B、O、Y、回车四个；第一个 getchar 拿 B、第二个 O、第三个 Y，刚好收完，屏幕上 BOY 加个换行收尾。那要是每敲一个字母就按一次回车，又会怎样？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现象题当堂推：运行时每敲一个字母马上按一次 ENTER，屏幕出什么？【等学生推】敲 B 拍 ENTER，第一个 getchar 拿走 B；回车也进了队；敲 O 拍 ENTER，第二个 getchar 拿到的却是那个**回车**——putchar 把回车一打，光标跳下行。最后屏幕上 B、O、Y 竖着排成三行。这现象不靠背，就用刚才那两条合起来推：%c 不挑食、回车也是字符，缓冲区图一切现成。三个 getchar 配三个 putchar，其实还能写得更紧凑。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最后赏一个写法：a=putchar(getchar()); 一行干三件事——最里层 getchar 从缓冲区收一个字符，交给 putchar 打到屏幕，putchar 又把它打的这个字符当返回值交给 a。函数套函数，这就是第 57 张认过的'函数调用语句'嵌套使用的第一个见面例，后面章节天天见。收工——从例3.1 那五行到这一个程序，地图五步全走完了，留作业。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留作业：课本 p80 到 81，习题 2、3、6、7，下次上课收。最后回头看一眼开场那张地图——五个问句现在都能答了：float 是什么、式子按什么顺序算、那个等号什么意思、写死的数怎么让用户现填，四个'为什么'全部清账。这章的程序全是'一条道走到黑'，可现实里更多的是'如果就怎么办'——下一章，咱们让程序学会拐弯。下课。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 userDrawn="1"/>
        </p:nvSpPr>
        <p:spPr>
          <a:xfrm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ap="flat" cmpd="sng">
            <a:noFill/>
            <a:prstDash val="solid"/>
            <a:round/>
          </a:ln>
          <a:effectLst/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 userDrawn="1"/>
        </p:nvSpPr>
        <p:spPr>
          <a:xfrm>
            <a:off x="0" y="771525"/>
            <a:ext cx="9144000" cy="630011"/>
          </a:xfrm>
          <a:prstGeom prst="roundRect">
            <a:avLst>
              <a:gd name="adj" fmla="val 0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457200" y="768350"/>
            <a:ext cx="3008313" cy="711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wrap="square" lIns="91440" tIns="45720" rIns="91440" bIns="45720" anchor="b">
            <a:spAutoFit/>
          </a:bodyPr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xfrm>
            <a:off x="3575050" y="819029"/>
            <a:ext cx="5111750" cy="53071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单击此处编辑母版文本样式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第二级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第三级</a:t>
            </a:r>
          </a:p>
          <a:p>
            <a:pPr marL="1600200" lvl="3" indent="-228600" algn="l">
              <a:lnSpc>
                <a:spcPct val="117000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第四级</a:t>
            </a:r>
          </a:p>
          <a:p>
            <a:pPr marL="2057400" lvl="4" indent="-228600" algn="l">
              <a:lnSpc>
                <a:spcPct val="117000"/>
              </a:lnSpc>
              <a:spcBef>
                <a:spcPct val="20000"/>
              </a:spcBef>
              <a:buClr>
                <a:srgbClr val="FF3300"/>
              </a:buClr>
              <a:buChar char="µ"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1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单击此处编辑母版文本样式</a:t>
            </a:r>
          </a:p>
        </p:txBody>
      </p:sp>
      <p:sp>
        <p:nvSpPr>
          <p:cNvPr id="6" name="AutoShape 6"/>
          <p:cNvSpPr/>
          <p:nvPr userDrawn="1"/>
        </p:nvSpPr>
        <p:spPr>
          <a:xfrm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ap="flat" cmpd="sng">
            <a:noFill/>
            <a:prstDash val="solid"/>
            <a:round/>
          </a:ln>
          <a:effectLst/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5F5D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1654491" y="5799569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wrap="square" lIns="91440" tIns="45720" rIns="91440" bIns="45720" anchor="b">
            <a:spAutoFit/>
          </a:bodyPr>
          <a:lstStyle>
            <a:lvl1pPr algn="ctr">
              <a:lnSpc>
                <a:spcPct val="100000"/>
              </a:lnSpc>
              <a:defRPr sz="2400" b="1" i="0" u="none" strike="noStrike" spc="0">
                <a:solidFill>
                  <a:srgbClr val="19197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1919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PART1: 困局与迷思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8382000"/>
            <a:ext cx="2540000" cy="609600"/>
          </a:xfrm>
          <a:prstGeom prst="rect">
            <a:avLst/>
          </a:prstGeom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" hasCustomPrompt="1"/>
          </p:nvPr>
        </p:nvSpPr>
        <p:spPr>
          <a:xfrm>
            <a:off x="577240" y="2043583"/>
            <a:ext cx="8094473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</a:t>
            </a:r>
          </a:p>
          <a:p>
            <a:pPr marL="0" indent="0" algn="l">
              <a:lnSpc>
                <a:spcPct val="125000"/>
              </a:lnSpc>
            </a:pPr>
            <a:endParaRPr 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</a:pPr>
            <a:endParaRPr lang="en-US" sz="3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 - 3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240"/>
            <a:ext cx="9153524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>
            <a:spLocks noGrp="1"/>
          </p:cNvSpPr>
          <p:nvPr>
            <p:ph type="body" sz="quarter" idx="15" hasCustomPrompt="1"/>
          </p:nvPr>
        </p:nvSpPr>
        <p:spPr>
          <a:xfrm>
            <a:off x="1654491" y="5799569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wrap="square" lIns="91440" tIns="45720" rIns="91440" bIns="45720" anchor="b">
            <a:spAutoFit/>
          </a:bodyPr>
          <a:lstStyle>
            <a:lvl1pPr algn="ctr">
              <a:lnSpc>
                <a:spcPct val="100000"/>
              </a:lnSpc>
              <a:defRPr sz="2400" b="1" i="0" u="none" strike="noStrike" spc="0">
                <a:solidFill>
                  <a:srgbClr val="19197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1919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PART2: 致命幻觉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6" hasCustomPrompt="1"/>
          </p:nvPr>
        </p:nvSpPr>
        <p:spPr>
          <a:xfrm>
            <a:off x="233367" y="1458834"/>
            <a:ext cx="4338633" cy="2616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15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幻觉</a:t>
            </a:r>
            <a:r>
              <a:rPr lang="en-US" sz="342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indent="0" algn="l">
              <a:lnSpc>
                <a:spcPct val="125000"/>
              </a:lnSpc>
            </a:pPr>
            <a:endParaRPr sz="3400"/>
          </a:p>
          <a:p>
            <a:pPr marL="0" indent="0" algn="l">
              <a:lnSpc>
                <a:spcPct val="125000"/>
              </a:lnSpc>
            </a:pPr>
            <a:endParaRPr sz="3400"/>
          </a:p>
          <a:p>
            <a:pPr algn="l">
              <a:lnSpc>
                <a:spcPct val="125000"/>
              </a:lnSpc>
            </a:pPr>
            <a:endParaRPr sz="34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7" hasCustomPrompt="1"/>
          </p:nvPr>
        </p:nvSpPr>
        <p:spPr>
          <a:xfrm>
            <a:off x="4681913" y="1387191"/>
            <a:ext cx="4107872" cy="30099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31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真相：</a:t>
            </a:r>
          </a:p>
          <a:p>
            <a:pPr marL="0" indent="0" algn="l">
              <a:lnSpc>
                <a:spcPct val="125000"/>
              </a:lnSpc>
            </a:pPr>
            <a:endParaRPr lang="en-US" sz="315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315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315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</a:pPr>
            <a:endParaRPr lang="en-US" sz="315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 - 3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8" hasCustomPrompt="1"/>
          </p:nvPr>
        </p:nvSpPr>
        <p:spPr>
          <a:xfrm>
            <a:off x="1828800" y="6051590"/>
            <a:ext cx="54864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wrap="square" lIns="91440" tIns="45720" rIns="91440" bIns="45720" anchor="b">
            <a:spAutoFit/>
          </a:bodyPr>
          <a:lstStyle>
            <a:lvl1pPr algn="ctr">
              <a:lnSpc>
                <a:spcPct val="100000"/>
              </a:lnSpc>
              <a:defRPr sz="2400" b="1" i="0" u="none" strike="noStrike" spc="0">
                <a:solidFill>
                  <a:srgbClr val="19197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1919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PART 3: 核心重塑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9" hasCustomPrompt="1"/>
          </p:nvPr>
        </p:nvSpPr>
        <p:spPr>
          <a:xfrm>
            <a:off x="419811" y="1852448"/>
            <a:ext cx="2515837" cy="22860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0" hasCustomPrompt="1"/>
          </p:nvPr>
        </p:nvSpPr>
        <p:spPr>
          <a:xfrm>
            <a:off x="3345366" y="1852448"/>
            <a:ext cx="2247900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</a:p>
          <a:p>
            <a:pPr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1" hasCustomPrompt="1"/>
          </p:nvPr>
        </p:nvSpPr>
        <p:spPr>
          <a:xfrm>
            <a:off x="6299200" y="1852448"/>
            <a:ext cx="2032000" cy="2743200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</a:pPr>
            <a:endParaRPr lang="en-US" sz="24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 userDrawn="1"/>
        </p:nvSpPr>
        <p:spPr>
          <a:xfrm>
            <a:off x="0" y="-4002"/>
            <a:ext cx="9140545" cy="770321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5E9EFF">
                  <a:alpha val="100000"/>
                </a:srgbClr>
              </a:gs>
              <a:gs pos="39998">
                <a:srgbClr val="85C2FF">
                  <a:alpha val="100000"/>
                </a:srgbClr>
              </a:gs>
              <a:gs pos="69999">
                <a:srgbClr val="C4D6EB">
                  <a:alpha val="100000"/>
                </a:srgbClr>
              </a:gs>
              <a:gs pos="100000">
                <a:srgbClr val="FFEBFA">
                  <a:alpha val="100000"/>
                </a:srgbClr>
              </a:gs>
            </a:gsLst>
            <a:lin ang="5400000"/>
          </a:gra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24400" y="0"/>
            <a:ext cx="3007803" cy="76631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21680"/>
            <a:ext cx="9144000" cy="61363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5878" y="-17252"/>
            <a:ext cx="9144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42C032-4A78-5ACA-595C-8ACB7255B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564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539750" y="1628775"/>
            <a:ext cx="8153400" cy="449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单击此处编辑母版文本样式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第二级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第三级</a:t>
            </a:r>
          </a:p>
        </p:txBody>
      </p:sp>
      <p:sp>
        <p:nvSpPr>
          <p:cNvPr id="3" name="AutoShape 3"/>
          <p:cNvSpPr/>
          <p:nvPr/>
        </p:nvSpPr>
        <p:spPr>
          <a:xfrm>
            <a:off x="-7021" y="0"/>
            <a:ext cx="9158265" cy="73822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 cap="flat" cmpd="sng">
            <a:noFill/>
            <a:prstDash val="solid"/>
            <a:round/>
          </a:ln>
          <a:effectLst/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9686" y="0"/>
            <a:ext cx="890212" cy="7382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557260" y="6432550"/>
            <a:ext cx="472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9.png"/><Relationship Id="rId5" Type="http://schemas.openxmlformats.org/officeDocument/2006/relationships/image" Target="../media/image4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2.png"/><Relationship Id="rId5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png"/><Relationship Id="rId5" Type="http://schemas.openxmlformats.org/officeDocument/2006/relationships/image" Target="../media/image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4.png"/><Relationship Id="rId5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Relationship Id="rId10" Type="http://schemas.openxmlformats.org/officeDocument/2006/relationships/tags" Target="../tags/tag27.xml"/><Relationship Id="rId11" Type="http://schemas.openxmlformats.org/officeDocument/2006/relationships/tags" Target="../tags/tag28.xml"/><Relationship Id="rId12" Type="http://schemas.openxmlformats.org/officeDocument/2006/relationships/tags" Target="../tags/tag29.xml"/><Relationship Id="rId13" Type="http://schemas.openxmlformats.org/officeDocument/2006/relationships/tags" Target="../tags/tag30.xml"/><Relationship Id="rId14" Type="http://schemas.openxmlformats.org/officeDocument/2006/relationships/tags" Target="../tags/tag31.xml"/><Relationship Id="rId15" Type="http://schemas.openxmlformats.org/officeDocument/2006/relationships/tags" Target="../tags/tag32.xml"/><Relationship Id="rId16" Type="http://schemas.openxmlformats.org/officeDocument/2006/relationships/tags" Target="../tags/tag33.xml"/><Relationship Id="rId17" Type="http://schemas.openxmlformats.org/officeDocument/2006/relationships/tags" Target="../tags/tag34.xml"/><Relationship Id="rId18" Type="http://schemas.openxmlformats.org/officeDocument/2006/relationships/tags" Target="../tags/tag35.xml"/><Relationship Id="rId19" Type="http://schemas.openxmlformats.org/officeDocument/2006/relationships/tags" Target="../tags/tag36.xml"/><Relationship Id="rId20" Type="http://schemas.openxmlformats.org/officeDocument/2006/relationships/tags" Target="../tags/tag37.xml"/><Relationship Id="rId21" Type="http://schemas.openxmlformats.org/officeDocument/2006/relationships/tags" Target="../tags/tag38.xml"/><Relationship Id="rId22" Type="http://schemas.openxmlformats.org/officeDocument/2006/relationships/tags" Target="../tags/tag39.xml"/><Relationship Id="rId23" Type="http://schemas.openxmlformats.org/officeDocument/2006/relationships/tags" Target="../tags/tag40.xml"/><Relationship Id="rId24" Type="http://schemas.openxmlformats.org/officeDocument/2006/relationships/tags" Target="../tags/tag41.xml"/><Relationship Id="rId25" Type="http://schemas.openxmlformats.org/officeDocument/2006/relationships/slideLayout" Target="../slideLayouts/slideLayout11.xml"/><Relationship Id="rId26" Type="http://schemas.openxmlformats.org/officeDocument/2006/relationships/notesSlide" Target="../notesSlides/notesSlide17.xml"/><Relationship Id="rId27" Type="http://schemas.openxmlformats.org/officeDocument/2006/relationships/image" Target="../media/image15.tm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Relationship Id="rId11" Type="http://schemas.openxmlformats.org/officeDocument/2006/relationships/tags" Target="../tags/tag66.xml"/><Relationship Id="rId12" Type="http://schemas.openxmlformats.org/officeDocument/2006/relationships/tags" Target="../tags/tag67.xml"/><Relationship Id="rId13" Type="http://schemas.openxmlformats.org/officeDocument/2006/relationships/tags" Target="../tags/tag68.xml"/><Relationship Id="rId14" Type="http://schemas.openxmlformats.org/officeDocument/2006/relationships/tags" Target="../tags/tag69.xml"/><Relationship Id="rId15" Type="http://schemas.openxmlformats.org/officeDocument/2006/relationships/tags" Target="../tags/tag70.xml"/><Relationship Id="rId16" Type="http://schemas.openxmlformats.org/officeDocument/2006/relationships/tags" Target="../tags/tag71.xml"/><Relationship Id="rId17" Type="http://schemas.openxmlformats.org/officeDocument/2006/relationships/tags" Target="../tags/tag72.xml"/><Relationship Id="rId18" Type="http://schemas.openxmlformats.org/officeDocument/2006/relationships/tags" Target="../tags/tag73.xml"/><Relationship Id="rId19" Type="http://schemas.openxmlformats.org/officeDocument/2006/relationships/tags" Target="../tags/tag74.xml"/><Relationship Id="rId20" Type="http://schemas.openxmlformats.org/officeDocument/2006/relationships/tags" Target="../tags/tag75.xml"/><Relationship Id="rId21" Type="http://schemas.openxmlformats.org/officeDocument/2006/relationships/tags" Target="../tags/tag76.xml"/><Relationship Id="rId22" Type="http://schemas.openxmlformats.org/officeDocument/2006/relationships/tags" Target="../tags/tag77.xml"/><Relationship Id="rId23" Type="http://schemas.openxmlformats.org/officeDocument/2006/relationships/tags" Target="../tags/tag78.xml"/><Relationship Id="rId24" Type="http://schemas.openxmlformats.org/officeDocument/2006/relationships/slideLayout" Target="../slideLayouts/slideLayout11.xml"/><Relationship Id="rId25" Type="http://schemas.openxmlformats.org/officeDocument/2006/relationships/notesSlide" Target="../notesSlides/notesSlide32.xml"/><Relationship Id="rId26" Type="http://schemas.openxmlformats.org/officeDocument/2006/relationships/image" Target="../media/image15.tmp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tags" Target="../tags/tag87.xml"/><Relationship Id="rId9" Type="http://schemas.openxmlformats.org/officeDocument/2006/relationships/tags" Target="../tags/tag88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tags" Target="../tags/tag91.xml"/><Relationship Id="rId13" Type="http://schemas.openxmlformats.org/officeDocument/2006/relationships/tags" Target="../tags/tag92.xml"/><Relationship Id="rId14" Type="http://schemas.openxmlformats.org/officeDocument/2006/relationships/tags" Target="../tags/tag93.xml"/><Relationship Id="rId15" Type="http://schemas.openxmlformats.org/officeDocument/2006/relationships/tags" Target="../tags/tag94.xml"/><Relationship Id="rId16" Type="http://schemas.openxmlformats.org/officeDocument/2006/relationships/tags" Target="../tags/tag95.xml"/><Relationship Id="rId17" Type="http://schemas.openxmlformats.org/officeDocument/2006/relationships/tags" Target="../tags/tag96.xml"/><Relationship Id="rId18" Type="http://schemas.openxmlformats.org/officeDocument/2006/relationships/slideLayout" Target="../slideLayouts/slideLayout11.xml"/><Relationship Id="rId19" Type="http://schemas.openxmlformats.org/officeDocument/2006/relationships/notesSlide" Target="../notesSlides/notesSlide34.xml"/><Relationship Id="rId20" Type="http://schemas.openxmlformats.org/officeDocument/2006/relationships/image" Target="../media/image15.tmp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tags" Target="../tags/tag109.xml"/><Relationship Id="rId14" Type="http://schemas.openxmlformats.org/officeDocument/2006/relationships/tags" Target="../tags/tag110.xml"/><Relationship Id="rId15" Type="http://schemas.openxmlformats.org/officeDocument/2006/relationships/tags" Target="../tags/tag111.xml"/><Relationship Id="rId16" Type="http://schemas.openxmlformats.org/officeDocument/2006/relationships/tags" Target="../tags/tag112.xml"/><Relationship Id="rId17" Type="http://schemas.openxmlformats.org/officeDocument/2006/relationships/tags" Target="../tags/tag113.xml"/><Relationship Id="rId18" Type="http://schemas.openxmlformats.org/officeDocument/2006/relationships/slideLayout" Target="../slideLayouts/slideLayout11.xml"/><Relationship Id="rId19" Type="http://schemas.openxmlformats.org/officeDocument/2006/relationships/notesSlide" Target="../notesSlides/notesSlide35.xml"/><Relationship Id="rId20" Type="http://schemas.openxmlformats.org/officeDocument/2006/relationships/image" Target="../media/image15.tmp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1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118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1.xml"/><Relationship Id="rId4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tags" Target="../tags/tag120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2.xml"/><Relationship Id="rId4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tags" Target="../tags/tag1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tags" Target="../tags/tag1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2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tags" Target="../tags/tag12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tags" Target="../tags/tag12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2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tags" Target="../tags/tag127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2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tags" Target="../tags/tag1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tags" Target="../tags/tag13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tags" Target="../tags/tag13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Relationship Id="rId4" Type="http://schemas.openxmlformats.org/officeDocument/2006/relationships/image" Target="../media/image3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tags" Target="../tags/tag13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tags" Target="../tags/tag134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6.xml"/><Relationship Id="rId4" Type="http://schemas.openxmlformats.org/officeDocument/2006/relationships/image" Target="../media/image31.png"/><Relationship Id="rId5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tags" Target="../tags/tag13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tags" Target="../tags/tag138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4" Type="http://schemas.openxmlformats.org/officeDocument/2006/relationships/image" Target="../media/image3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tags" Target="../tags/tag14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tags" Target="../tags/tag14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tags" Target="../tags/tag14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tags" Target="../tags/tag14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tags" Target="../tags/tag14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tags" Target="../tags/tag147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tags" Target="../tags/tag14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tags" Target="../tags/tag15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Relationship Id="rId4" Type="http://schemas.openxmlformats.org/officeDocument/2006/relationships/image" Target="../media/image33.png"/><Relationship Id="rId5" Type="http://schemas.openxmlformats.org/officeDocument/2006/relationships/image" Target="../media/image5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tags" Target="../tags/tag15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Relationship Id="rId4" Type="http://schemas.openxmlformats.org/officeDocument/2006/relationships/image" Target="../media/image200.png"/><Relationship Id="rId5" Type="http://schemas.openxmlformats.org/officeDocument/2006/relationships/image" Target="../media/image21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tags" Target="../tags/tag1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4" Type="http://schemas.openxmlformats.org/officeDocument/2006/relationships/image" Target="../media/image34.png"/><Relationship Id="rId5" Type="http://schemas.openxmlformats.org/officeDocument/2006/relationships/image" Target="../media/image23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tags" Target="../tags/tag15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tags" Target="../tags/tag15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3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Relationship Id="rId4" Type="http://schemas.openxmlformats.org/officeDocument/2006/relationships/image" Target="../media/image3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tags" Target="../tags/tag15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tags" Target="../tags/tag16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tags" Target="../tags/tag16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tags" Target="../tags/tag16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tags" Target="../tags/tag16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tags" Target="../tags/tag16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tags" Target="../tags/tag16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0.xml"/><Relationship Id="rId4" Type="http://schemas.openxmlformats.org/officeDocument/2006/relationships/hyperlink" Target="https://funcourse.surge.sh/3.2.5&amp;3.5.3_%E5%8F%8C%E7%B2%BE%E5%BA%A6%E4%B8%8Efloat%E7%9A%84%E5%8C%BA%E5%88%AB%E6%B8%B8%E6%88%8F%E5%92%8Cprintf%E5%AE%9E%E7%8E%B0.html" TargetMode="Externa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Relationship Id="rId4" Type="http://schemas.openxmlformats.org/officeDocument/2006/relationships/image" Target="../media/image3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2.xml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tags" Target="../tags/tag17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Relationship Id="rId4" Type="http://schemas.openxmlformats.org/officeDocument/2006/relationships/image" Target="../media/image4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4.xml"/><Relationship Id="rId4" Type="http://schemas.openxmlformats.org/officeDocument/2006/relationships/image" Target="../media/image42.png"/><Relationship Id="rId5" Type="http://schemas.openxmlformats.org/officeDocument/2006/relationships/hyperlink" Target="https://funcourse.surge.sh/3.2.5&amp;3.5.3_%E5%8F%8C%E7%B2%BE%E5%BA%A6%E4%B8%8Efloat%E7%9A%84%E5%8C%BA%E5%88%AB%E6%B8%B8%E6%88%8F%E5%92%8Cprintf%E5%AE%9E%E7%8E%B0.html" TargetMode="Externa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tags" Target="../tags/tag17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0.xml"/><Relationship Id="rId4" Type="http://schemas.openxmlformats.org/officeDocument/2006/relationships/image" Target="../media/image4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tags" Target="../tags/tag18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tags" Target="../tags/tag181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tags" Target="../tags/tag182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4.xml"/><Relationship Id="rId4" Type="http://schemas.openxmlformats.org/officeDocument/2006/relationships/image" Target="../media/image4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5.xml"/><Relationship Id="rId4" Type="http://schemas.openxmlformats.org/officeDocument/2006/relationships/image" Target="../media/image4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9.xml"/><Relationship Id="rId4" Type="http://schemas.openxmlformats.org/officeDocument/2006/relationships/image" Target="../media/image45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tags" Target="../tags/tag188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0.xml"/><Relationship Id="rId4" Type="http://schemas.openxmlformats.org/officeDocument/2006/relationships/image" Target="../media/image4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tags" Target="../tags/tag189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1.xml"/><Relationship Id="rId4" Type="http://schemas.openxmlformats.org/officeDocument/2006/relationships/image" Target="../media/image4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tags" Target="../tags/tag19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tags" Target="../tags/tag191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38188" y="908050"/>
            <a:ext cx="8001000" cy="825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spAutoFit/>
          </a:bodyPr>
          <a:lstStyle>
            <a:lvl1pPr algn="ctr">
              <a:lnSpc>
                <a:spcPct val="100000"/>
              </a:lnSpc>
              <a:defRPr sz="4800" b="1" i="0" u="none" strike="noStrike" spc="0">
                <a:solidFill>
                  <a:srgbClr val="8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8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333500" y="1914862"/>
            <a:ext cx="7049770" cy="38930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50000"/>
              </a:spcBef>
            </a:pP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3.1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顺序程序设计举例</a:t>
            </a:r>
            <a:endParaRPr lang="en-US" sz="36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50000"/>
              </a:spcBef>
            </a:pP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数据的表现形式及其运算</a:t>
            </a:r>
            <a:endParaRPr lang="en-US" altLang="en-US" sz="36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>
              <a:spcBef>
                <a:spcPct val="50000"/>
              </a:spcBef>
            </a:pPr>
            <a:r>
              <a:rPr lang="en-US" altLang="en-US" dirty="0">
                <a:solidFill>
                  <a:srgbClr val="000000"/>
                </a:solidFill>
                <a:ea typeface="Verdana" panose="020B0604030504040204"/>
                <a:sym typeface="Noto Sans SC" panose="020B0200000000000000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Verdana" panose="020B0604030504040204"/>
                <a:sym typeface="Noto Sans SC" panose="020B0200000000000000" charset="-122"/>
              </a:rPr>
              <a:t>.</a:t>
            </a:r>
            <a:r>
              <a:rPr lang="en-US" altLang="en-US" dirty="0">
                <a:solidFill>
                  <a:srgbClr val="000000"/>
                </a:solidFill>
                <a:ea typeface="Verdana" panose="020B0604030504040204"/>
                <a:sym typeface="Noto Sans SC" panose="020B0200000000000000" charset="-122"/>
              </a:rPr>
              <a:t>3</a:t>
            </a:r>
            <a:r>
              <a:rPr lang="en-US" altLang="en-US" dirty="0">
                <a:solidFill>
                  <a:srgbClr val="000000"/>
                </a:solidFill>
                <a:sym typeface="Noto Sans SC" panose="020B0200000000000000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sym typeface="Noto Sans SC" panose="020B0200000000000000" charset="-122"/>
              </a:rPr>
              <a:t>运算符和表达式</a:t>
            </a:r>
            <a:endParaRPr lang="en-US" dirty="0">
              <a:solidFill>
                <a:srgbClr val="000000"/>
              </a:solidFill>
              <a:ea typeface="Verdana" panose="020B0604030504040204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50000"/>
              </a:spcBef>
            </a:pP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alt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语句</a:t>
            </a:r>
            <a:endParaRPr lang="en-US" sz="36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50000"/>
              </a:spcBef>
            </a:pP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alt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</a:t>
            </a:r>
            <a:r>
              <a:rPr lang="en-US" sz="36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数据的输入输出</a:t>
            </a:r>
            <a:endParaRPr lang="en-US" sz="36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45492" y="185351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779463" y="1690688"/>
            <a:ext cx="7678737" cy="76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3 </a:t>
            </a:r>
            <a:r>
              <a:rPr lang="zh-CN" altLang="en-US" dirty="0"/>
              <a:t>章 主线地图</a:t>
            </a:r>
            <a:r>
              <a:rPr lang="en-US" altLang="zh-CN" dirty="0"/>
              <a:t>•</a:t>
            </a:r>
            <a:r>
              <a:rPr lang="zh-CN" altLang="en-US" dirty="0"/>
              <a:t>一条线读懂一个顺序程序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1073569" y="2860675"/>
            <a:ext cx="7384631" cy="311467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图片 6" descr="图形用户界面, 文本, 应用程序">
            <a:extLst>
              <a:ext uri="{FF2B5EF4-FFF2-40B4-BE49-F238E27FC236}">
                <a16:creationId xmlns:a16="http://schemas.microsoft.com/office/drawing/2014/main" id="{563ABA8D-DDFD-0D34-2331-AA5708305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918012" y="941112"/>
            <a:ext cx="458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动笔划课本</a:t>
            </a:r>
            <a:r>
              <a:rPr lang="en-US" altLang="zh-CN" dirty="0"/>
              <a:t>·§3.1</a:t>
            </a:r>
            <a:r>
              <a:rPr lang="zh-CN" altLang="en-US" dirty="0"/>
              <a:t>顺序程序设计举例（★开场）</a:t>
            </a:r>
            <a:endParaRPr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779463" y="1690688"/>
            <a:ext cx="7678737" cy="762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4294967295"/>
          </p:nvPr>
        </p:nvSpPr>
        <p:spPr>
          <a:xfrm>
            <a:off x="1073569" y="2860675"/>
            <a:ext cx="7384631" cy="311467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Picture 7" descr="3.1conce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anchor="b">
            <a:spAutoFit/>
          </a:bodyPr>
          <a:lstStyle>
            <a:lvl1pPr algn="ctr">
              <a:lnSpc>
                <a:spcPct val="100000"/>
              </a:lnSpc>
              <a:defRPr sz="3500" b="1" i="0" u="none" strike="noStrike" spc="0">
                <a:solidFill>
                  <a:srgbClr val="8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0" y="1384300"/>
            <a:ext cx="9144000" cy="1373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100" b="1" i="0" u="none" strike="noStrike" spc="0">
                <a:solidFill>
                  <a:srgbClr val="0000CC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1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31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有人用温度计测量出用华氏法表示的温度</a:t>
            </a:r>
            <a:r>
              <a:rPr lang="en-US" sz="31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1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</a:t>
            </a:r>
            <a:r>
              <a:rPr lang="en-US" sz="31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F</a:t>
            </a:r>
            <a:r>
              <a:rPr lang="en-US" sz="31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，今要求把它转换为以摄氏法表示的温度</a:t>
            </a:r>
            <a:r>
              <a:rPr lang="en-US" sz="31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1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</a:t>
            </a:r>
            <a:r>
              <a:rPr lang="en-US" sz="31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C) </a:t>
            </a:r>
            <a:r>
              <a:rPr lang="en-US" sz="31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5" name="AutoShape 5"/>
          <p:cNvSpPr txBox="1"/>
          <p:nvPr/>
        </p:nvSpPr>
        <p:spPr>
          <a:xfrm>
            <a:off x="644758" y="3142795"/>
            <a:ext cx="7143750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解题思路：找到二者间的转换公式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09102" y="3962663"/>
            <a:ext cx="6215062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l">
              <a:lnSpc>
                <a:spcPct val="117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代表华氏温度，</a:t>
            </a:r>
            <a:r>
              <a:rPr lang="en-US" sz="32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代表摄氏温度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861300" y="762000"/>
            <a:ext cx="1270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3.1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</a:t>
            </a:fld>
            <a:endParaRPr lang="zh-CN" altLang="en-US"/>
          </a:p>
        </p:txBody>
      </p:sp>
      <p:graphicFrame>
        <p:nvGraphicFramePr>
          <p:cNvPr id="11" name="Table 5"/>
          <p:cNvGraphicFramePr>
            <a:graphicFrameLocks noGrp="1"/>
          </p:cNvGraphicFramePr>
          <p:nvPr/>
        </p:nvGraphicFramePr>
        <p:xfrm>
          <a:off x="2743200" y="4800600"/>
          <a:ext cx="3071813" cy="15544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7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  <a:sym typeface="Verdana" panose="020B0604030504040204"/>
                        </a:rPr>
                        <a:t>f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的值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c=5/9(f-32)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 dirty="0" err="1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</a:t>
                      </a:r>
                      <a:r>
                        <a:rPr lang="en-US" sz="2800" b="1" i="0" u="none" strike="noStrike" dirty="0" err="1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  <a:sym typeface="Verdana" panose="020B0604030504040204"/>
                        </a:rPr>
                        <a:t>c</a:t>
                      </a:r>
                      <a:r>
                        <a:rPr lang="en-US" sz="2800" b="1" i="0" u="none" strike="noStrike" dirty="0" err="1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的值</a:t>
                      </a:r>
                      <a:endParaRPr lang="en-US" sz="11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AutoShape 3"/>
          <p:cNvSpPr txBox="1"/>
          <p:nvPr/>
        </p:nvSpPr>
        <p:spPr>
          <a:xfrm>
            <a:off x="548640" y="5120640"/>
            <a:ext cx="2058988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算法：</a:t>
            </a:r>
            <a:endParaRPr lang="en-US" sz="1100"/>
          </a:p>
        </p:txBody>
      </p:sp>
      <p:sp>
        <p:nvSpPr>
          <p:cNvPr id="13" name="AutoShape 7"/>
          <p:cNvSpPr/>
          <p:nvPr/>
        </p:nvSpPr>
        <p:spPr>
          <a:xfrm>
            <a:off x="5989320" y="5532120"/>
            <a:ext cx="1357312" cy="642938"/>
          </a:xfrm>
          <a:prstGeom prst="wedgeRoundRectCallout">
            <a:avLst>
              <a:gd name="adj1" fmla="val -78028"/>
              <a:gd name="adj2" fmla="val -65806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N-S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</a:t>
            </a:r>
            <a:endParaRPr lang="en-US" sz="11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36068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71563" y="1785938"/>
            <a:ext cx="7429500" cy="43576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float f,c; 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f=64.0; 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c=(5.0/9)*(f-32); 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printf("f=%f\nc=%f\n",f,c);        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3714750" y="3194050"/>
            <a:ext cx="4857750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为单精度浮点型变量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3714750" y="3714750"/>
            <a:ext cx="2214563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5929313" y="4262438"/>
            <a:ext cx="2214562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913717" y="5330826"/>
            <a:ext cx="2786062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22031" y="5807075"/>
            <a:ext cx="2533650" cy="8572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 txBox="1"/>
          <p:nvPr/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861300" y="762000"/>
            <a:ext cx="1270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3.1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85813" y="1857375"/>
            <a:ext cx="7632700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CC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计算存款利息。有</a:t>
            </a: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1000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元，想存一年。有三种方法可选：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(1)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活期，年利率为</a:t>
            </a: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r1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(2)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一年期定期，年利率为</a:t>
            </a: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r2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(3)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存两次半年定期，年利率为</a:t>
            </a: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r3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请分别计算出一年后按三种方法所得到的本息和</a:t>
            </a:r>
            <a:r>
              <a:rPr lang="en-US" sz="3200" b="1" i="0" u="none" strike="noStrike" dirty="0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833207" y="749300"/>
            <a:ext cx="1310793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85813" y="1857375"/>
            <a:ext cx="76327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08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解题思路：确定计算本息和的公式。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从数学知识可知：若存款额为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，则：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活期存款一年后本息和为：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p1=p0(1+r1)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一年期定期存款，一年后本息和为：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p2=p0(1+r2)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两次半年定期存款，一年后本息和为：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p3=p0(1+r3/2)(1+r3/2)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85813" y="1857375"/>
            <a:ext cx="2071687" cy="714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 · N-S 算法：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786063" y="2286000"/>
          <a:ext cx="485775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p0,r1,r2,r3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的值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p1=p0(1+r1)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p2=p0(1+r2)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计算</a:t>
                      </a: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p3=p0(1+ r3/2)(1+r3/2)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输出</a:t>
                      </a: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p1,p2,p3</a:t>
                      </a:r>
                      <a:endParaRPr lang="en-US" sz="11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6683" y="1439863"/>
            <a:ext cx="9010634" cy="5295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{float p0=1000, r1=0.0036,r2=0.0225,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 r3=0.0198, p1, p2, p3;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p1 = p0 * (1 +  r1);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p2 = p0 * (1 +  r2);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p3 = p0 * (1 +  r3/2) * (1 + r3/2);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printf(”%f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\n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%f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\n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%f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\n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”,p1, p2, p3);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2000" y="1554163"/>
            <a:ext cx="4072581" cy="642937"/>
          </a:xfrm>
          <a:prstGeom prst="wedgeRoundRectCallout">
            <a:avLst>
              <a:gd name="adj1" fmla="val -19889"/>
              <a:gd name="adj2" fmla="val 90056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定义变量同时赋予初值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8291" y="5521346"/>
            <a:ext cx="2120900" cy="121443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 txBox="1"/>
          <p:nvPr/>
        </p:nvSpPr>
        <p:spPr>
          <a:xfrm>
            <a:off x="-1870" y="749300"/>
            <a:ext cx="4635500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</a:t>
            </a:r>
            <a:r>
              <a:rPr lang="en-US" sz="3500" b="1" i="0" u="none" strike="noStrike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顺序程序设计举例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p38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833207" y="749300"/>
            <a:ext cx="13208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 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714500" y="1571625"/>
            <a:ext cx="6000750" cy="5000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3.2.1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常量和变量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3.2.2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数据类型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3.2.3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整型数据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3.2.4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字符型数据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3.2.5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浮点型数据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3.2.6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怎样确定常量的类型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3.2.7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运算符和表达式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831" y="749300"/>
            <a:ext cx="6000672" cy="6350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5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244639" y="863600"/>
            <a:ext cx="469900" cy="406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48348" y="3121816"/>
            <a:ext cx="4647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动笔划课本</a:t>
            </a:r>
            <a:r>
              <a:rPr lang="en-US" altLang="zh-CN" dirty="0"/>
              <a:t>·§3.2 </a:t>
            </a:r>
            <a:r>
              <a:rPr lang="zh-CN" altLang="en-US" dirty="0"/>
              <a:t>数据的表现形式及其运算（★★★硬核）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6" name="Picture 5" descr="3.2conce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4" name="Picture 3" descr="3.2concepts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Picture 3" descr="3.2concepts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6310" y="1428750"/>
            <a:ext cx="8673378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698500" indent="-355600" algn="l">
              <a:lnSpc>
                <a:spcPct val="108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08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常量：在程序运行过程中，其值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不能被改变的量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整型常量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1000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12345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-345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实型常量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十进制小数形式：如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0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34    -56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79   0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0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指数形式：如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12.34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 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12.34</a:t>
            </a:r>
            <a:r>
              <a:rPr lang="en-US" sz="2800" b="1" i="0" u="none" strike="noStrike">
                <a:solidFill>
                  <a:srgbClr val="000000"/>
                </a:solidFill>
                <a:latin typeface="Symbol" panose="05050102010706020507"/>
                <a:ea typeface="Symbol" panose="05050102010706020507"/>
                <a:cs typeface="Symbol" panose="05050102010706020507"/>
                <a:sym typeface="Symbol" panose="05050102010706020507"/>
              </a:rPr>
              <a:t>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10</a:t>
            </a:r>
            <a:r>
              <a:rPr lang="en-US" sz="2800" b="1" i="0" u="none" strike="noStrike" baseline="30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字符常量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：如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?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</a:t>
            </a:r>
          </a:p>
          <a:p>
            <a:pPr marL="742950" lvl="1" indent="-285750" algn="l">
              <a:lnSpc>
                <a:spcPct val="108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转义字符：如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\n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字符串常量：如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boy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</a:p>
          <a:p>
            <a:pPr marL="342900" indent="-342900" algn="l">
              <a:lnSpc>
                <a:spcPct val="108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符号常量：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#define  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PI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3.1416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3.2.1 常量和变量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500188"/>
            <a:ext cx="8215312" cy="4286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698500" indent="-355600" algn="l">
              <a:lnSpc>
                <a:spcPct val="117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变量：在程序运行期间，变量值是可以改变的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变量必须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先定义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后使用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定义变量时指定该变量的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名字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变量名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变量值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是两个不同的概念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变量名实际上是以一个名字代表的一个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存储地址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从变量中取值，实际上是通过变量名找到相应的内存地址，从该存储单元中读取数据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3.2.1 常量和变量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500188"/>
            <a:ext cx="8215312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698500" indent="-355600" algn="l">
              <a:lnSpc>
                <a:spcPct val="117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155700" indent="-355600"/>
            <a:lvl3pPr marL="1612900" indent="-355600"/>
            <a:lvl4pPr marL="2070100" indent="-355600"/>
            <a:lvl5pPr marL="2527300" indent="-355600"/>
            <a:lvl6pPr marL="2984500" indent="-355600"/>
            <a:lvl7pPr marL="3441700" indent="-355600"/>
            <a:lvl8pPr marL="3898900" indent="-355600"/>
            <a:lvl9pPr marL="43561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常变量：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const int a=3;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4.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标识符：一个对象的名字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Ｃ语言规定标识符只能由</a:t>
            </a:r>
            <a:r>
              <a:rPr lang="en-US" sz="2800" b="1" i="0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字母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下划线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种字符组成，且</a:t>
            </a:r>
            <a:r>
              <a:rPr lang="en-US" sz="2800" b="1" i="0" u="none" strike="noStrike" dirty="0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第一个字符必须为字母或下划线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合法的标识符：如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sum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average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 _total, Class, day, BASIC, 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li_ling</a:t>
            </a:r>
            <a:endParaRPr lang="en-US" sz="2800" b="1" i="0" u="none" strike="noStrike" dirty="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不合法的标识符：</a:t>
            </a:r>
            <a:r>
              <a:rPr lang="en-US" altLang="zh-CN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</a:t>
            </a:r>
            <a:r>
              <a:rPr lang="en-US" altLang="zh-Han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loat</a:t>
            </a:r>
            <a:r>
              <a:rPr lang="en-US" altLang="zh-Han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zh-Hans" alt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M.D.John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，￥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123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，＃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33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3D64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＞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199585" y="1885782"/>
            <a:ext cx="3593895" cy="642937"/>
          </a:xfrm>
          <a:prstGeom prst="wedgeRoundRectCallout">
            <a:avLst>
              <a:gd name="adj1" fmla="val -30884"/>
              <a:gd name="adj2" fmla="val 86157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大小写字母是不同的字符</a:t>
            </a:r>
            <a:endParaRPr lang="en-US" sz="2400" dirty="0"/>
          </a:p>
        </p:txBody>
      </p:sp>
      <p:sp>
        <p:nvSpPr>
          <p:cNvPr id="9" name="AutoShape 9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3.2.1 常量和变量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p41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 hidden="1">
            <a:extLst>
              <a:ext uri="{FF2B5EF4-FFF2-40B4-BE49-F238E27FC236}">
                <a16:creationId xmlns:a16="http://schemas.microsoft.com/office/drawing/2014/main" id="{DE0CAB8D-9AB6-4243-3F28-A42B111E77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ED47F9-94EB-7CF2-6D42-55C7E0D3C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E7BB1-2DA6-5D44-58B0-8B7054F012C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defRPr/>
            </a:pPr>
            <a:r>
              <a:rPr lang="en-US" sz="2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下列C语言标识符中合法的变量名是</a:t>
            </a: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  ）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8735E9-9B80-1D7E-426F-B1947AA9BCA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5e8</a:t>
            </a:r>
            <a:endParaRPr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9E599-9A9F-52C5-8662-48CD909EB25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you</a:t>
            </a:r>
            <a:endParaRPr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77A052-18BC-3554-0C0D-C04A0C9C6F0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</a:t>
            </a:r>
            <a:endParaRPr 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0F7ADC-B1D5-D793-168C-2240C8DB506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float</a:t>
            </a:r>
            <a:endParaRPr lang="en-US" sz="11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025500-83AD-C687-7D24-FFDFF1997AB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C32C89-5712-4F87-87BC-AA00D2D0A74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9C33D8-5173-87B9-96D5-423B003D333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65A417-FB18-CA77-D0C8-370A4847F910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0B25F37-EEC1-47AC-DF4E-7FBF752CCCE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 hidden="1">
            <a:extLst>
              <a:ext uri="{FF2B5EF4-FFF2-40B4-BE49-F238E27FC236}">
                <a16:creationId xmlns:a16="http://schemas.microsoft.com/office/drawing/2014/main" id="{423D5CD7-2734-B609-4D9F-1C4CF8CD7E9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613900" y="6126777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  <a:endParaRPr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文本框 31" hidden="1">
            <a:extLst>
              <a:ext uri="{FF2B5EF4-FFF2-40B4-BE49-F238E27FC236}">
                <a16:creationId xmlns:a16="http://schemas.microsoft.com/office/drawing/2014/main" id="{175A09B1-9D52-22D7-8F85-5735F3C21A5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sz="200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0" name="组合 29" hidden="1">
            <a:extLst>
              <a:ext uri="{FF2B5EF4-FFF2-40B4-BE49-F238E27FC236}">
                <a16:creationId xmlns:a16="http://schemas.microsoft.com/office/drawing/2014/main" id="{FAB6DBA1-BBAF-779A-0306-3130B5495EDD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7" name="RemarkBack" hidden="1">
              <a:extLst>
                <a:ext uri="{FF2B5EF4-FFF2-40B4-BE49-F238E27FC236}">
                  <a16:creationId xmlns:a16="http://schemas.microsoft.com/office/drawing/2014/main" id="{65EDEB38-7259-C65E-F5C8-B23EDF263EC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markBlock" hidden="1">
              <a:extLst>
                <a:ext uri="{FF2B5EF4-FFF2-40B4-BE49-F238E27FC236}">
                  <a16:creationId xmlns:a16="http://schemas.microsoft.com/office/drawing/2014/main" id="{FCCD97CC-76E0-D4F1-7C9E-DEEB9F04AB0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markTitleText" hidden="1">
              <a:extLst>
                <a:ext uri="{FF2B5EF4-FFF2-40B4-BE49-F238E27FC236}">
                  <a16:creationId xmlns:a16="http://schemas.microsoft.com/office/drawing/2014/main" id="{54BDBE05-1881-C5A4-EFD3-77F055E85E5C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sz="18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7E8FCED-7EFE-AE73-6A67-818362B65744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1AE2AB3F-8075-415D-6011-16768095746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C9FBFEDD-CEFF-356E-6FB6-2F527DF7F9D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3F5A8DCE-5203-86F7-E092-857CE45A1F59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A14DDA9B-31F9-8022-D5CA-023F360D602E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A824D17-6E71-ECD6-E0B0-A1F31759E81E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7209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428750"/>
            <a:ext cx="8215313" cy="3357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所谓</a:t>
            </a:r>
            <a:r>
              <a:rPr lang="en-US" sz="32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，就是对数据分配存储单元的安排，包括存储单元的长度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占多少字节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以及数据的存储形式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不同的类型分配不同的长度和存储形式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9164" y="793750"/>
            <a:ext cx="86741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3.2.2 数据类型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p42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55650" y="1482725"/>
            <a:ext cx="5741987" cy="5357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语言允许使用的数据类型：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基本类型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整型类型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基本整型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短整型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长整型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双长整型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0000CC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布尔型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5265689" y="2685276"/>
            <a:ext cx="3786187" cy="250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 panose="05000000000000000000"/>
              <a:buChar char="u"/>
              <a:defRPr/>
            </a:pPr>
            <a:r>
              <a:rPr lang="en-US" sz="2800" b="1" i="0" u="none" strike="noStrike">
                <a:solidFill>
                  <a:srgbClr val="9E01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浮点类型</a:t>
            </a:r>
            <a:endParaRPr lang="en-US" sz="1100"/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9E01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单精度浮点型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9E01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双精度浮点型</a:t>
            </a: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9E01DD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9E01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复数浮点型</a:t>
            </a:r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5802" y="793750"/>
            <a:ext cx="8328857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3.2.2 数据类型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3500438" y="2214563"/>
            <a:ext cx="1643062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50888" y="1285875"/>
            <a:ext cx="7766626" cy="5572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08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08000"/>
              </a:lnSpc>
              <a:spcBef>
                <a:spcPct val="20000"/>
              </a:spcBef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语言允许使用的数据类型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基本类型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枚举类型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空类型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派生类型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指针类型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数组类型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结构体类型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共用体类型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函数类型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071813" y="2152650"/>
            <a:ext cx="214312" cy="857250"/>
          </a:xfrm>
          <a:prstGeom prst="rightBracke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0000CC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500438" y="2286000"/>
            <a:ext cx="19288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算术类型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43063" y="4214813"/>
            <a:ext cx="1643062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643313" y="3500438"/>
            <a:ext cx="19288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纯量类型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3429000" y="2857500"/>
            <a:ext cx="857249" cy="1643062"/>
            <a:chOff x="3429000" y="2857500"/>
            <a:chExt cx="857249" cy="1643062"/>
          </a:xfrm>
        </p:grpSpPr>
        <p:cxnSp>
          <p:nvCxnSpPr>
            <p:cNvPr id="13" name="Connector 13"/>
            <p:cNvCxnSpPr/>
            <p:nvPr/>
          </p:nvCxnSpPr>
          <p:spPr>
            <a:xfrm rot="5400000">
              <a:off x="3929062" y="3214688"/>
              <a:ext cx="714375" cy="0"/>
            </a:xfrm>
            <a:prstGeom prst="line">
              <a:avLst/>
            </a:pr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4" name="Connector 14"/>
            <p:cNvCxnSpPr/>
            <p:nvPr/>
          </p:nvCxnSpPr>
          <p:spPr>
            <a:xfrm rot="10800000" flipV="1">
              <a:off x="3429000" y="4000500"/>
              <a:ext cx="714375" cy="500063"/>
            </a:xfrm>
            <a:prstGeom prst="line">
              <a:avLst/>
            </a:pr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5" name="AutoShape 15"/>
          <p:cNvSpPr txBox="1"/>
          <p:nvPr/>
        </p:nvSpPr>
        <p:spPr>
          <a:xfrm>
            <a:off x="0" y="1270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0" y="76200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3.2.2 数据类型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8411" y="1428750"/>
            <a:ext cx="8531277" cy="4071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整型数据的分类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最基本的整型类型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(int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个或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(short int)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VC++6.0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(long int)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VC++6.0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(long long int)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C99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新增的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3.2.3 整形数据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A45EBD-D1B4-DA12-889C-0864622787F5}"/>
              </a:ext>
            </a:extLst>
          </p:cNvPr>
          <p:cNvSpPr txBox="1"/>
          <p:nvPr/>
        </p:nvSpPr>
        <p:spPr>
          <a:xfrm>
            <a:off x="498423" y="5500688"/>
            <a:ext cx="8531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只需要记：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 ≤ int ≤ long ≤ long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long</a:t>
            </a:r>
            <a:endParaRPr sz="36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补码系列1_原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C58979-B09F-F364-CBFA-2BA5A97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补码系列2_反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F54304-55E8-7B64-73EA-2F8E4E54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补码系列3_补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BAD31D-3386-2503-459E-9E022A1FF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补码系列4_三码竖式对比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C90A81-9046-ED5B-B8C1-EB3AC9DCE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补码系列5_随堂竖式练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60D7D0-9C54-65A9-7894-E0C1F4ABF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358188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整型数据的分类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整型变量的符号属性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整型变量的值的范围包括负数到正数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可以将变量定义为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无符号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扩充的整形类型：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3.2.3 整形数据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8625" y="1285875"/>
            <a:ext cx="8429625" cy="5429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698500" indent="-3556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742950" indent="0"/>
            <a:lvl3pPr marL="787400" indent="0"/>
            <a:lvl4pPr marL="831850" indent="0"/>
            <a:lvl5pPr marL="876300" indent="0"/>
            <a:lvl6pPr marL="920750" indent="0"/>
            <a:lvl7pPr marL="965200" indent="0"/>
            <a:lvl8pPr marL="1009650" indent="0"/>
            <a:lvl9pPr marL="10541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以上4种整形数据可扩展的整型数据：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有符号基本整型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[signed] int;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无符号基本整型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unsigned int;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有符号短整型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[signed] short [int];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无符号短整型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unsigned short [int];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有符号长整型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[signed] long [int];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无符号长整型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unsigned long [int]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有符号双长整型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[signed] long long [int]; 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无符号双长整型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unsigned long long [int] 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5110" y="793750"/>
            <a:ext cx="82296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3.2.3 整形数据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p46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714500"/>
            <a:ext cx="7929563" cy="2786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字符是按其代码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整数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形式存储的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C99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把字符型数据作为整数类型的一种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字符型数据在使用上有自己的特点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3.2.4 字符型数据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954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7929563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字符与字符代码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大多数系统采用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ASCII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字符集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字母：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 ~Z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 ~z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0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～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9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专门符号：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29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!  ”  #  &amp;  ‘  (  )  *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空格符：空格、水平制表符、换行等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不能显示的字符：空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(null)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‘\0’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、警告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‘\a’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、退格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‘\b’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、回车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‘\r’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3.2.4 字符型数据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7929563" cy="4071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’1’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和整数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是不同的概念：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’1’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只是代表一个形状为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’1’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的符号，在需要时按原样输出，在内存中以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ASCII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码形式存储，占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endParaRPr sz="2800"/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整数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是以整数存储方式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二进制补码方式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存储的，占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个或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202051" y="3197047"/>
          <a:ext cx="2928938" cy="86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8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华文楷体" panose="02010600040101010101" charset="-122"/>
                        </a:rPr>
                        <a:t>0 0 1 1 0 0 0 1 </a:t>
                      </a:r>
                      <a:endParaRPr lang="en-US" sz="1100" dirty="0"/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643063" y="5572125"/>
          <a:ext cx="5857876" cy="50006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28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华文楷体" panose="02010600040101010101" charset="-122"/>
                        </a:rPr>
                        <a:t>0 0 0 0 0 0 0 0</a:t>
                      </a:r>
                      <a:endParaRPr lang="en-US" sz="110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华文楷体" panose="02010600040101010101" charset="-122"/>
                          <a:ea typeface="华文楷体" panose="02010600040101010101" charset="-122"/>
                          <a:cs typeface="华文楷体" panose="02010600040101010101" charset="-122"/>
                          <a:sym typeface="华文楷体" panose="02010600040101010101" charset="-122"/>
                        </a:rPr>
                        <a:t>0 0 0 0 0 0 0 1</a:t>
                      </a:r>
                      <a:endParaRPr lang="en-US" sz="11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utoShape 9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3.2.4 字符型数据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8E351E1-C228-46E7-C418-82808776B7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D3F606-1124-3577-9C70-49685A817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7127A6-4B81-D8FB-330D-C724086211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defRPr/>
            </a:pPr>
            <a:r>
              <a:rPr lang="en-US" sz="2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在c语言中，字符型数据所占的内存空间是</a:t>
            </a: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   ）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4F261C-31BD-C74B-053B-96B1DC1700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2个字节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43A298-132A-58D4-EC91-CB7C6F9AE29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4个字节</a:t>
            </a:r>
            <a:endParaRPr lang="en-US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D455AB-1048-5160-DE9F-B8135B7D611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1个字节</a:t>
            </a:r>
            <a:endParaRPr 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BD2849-8CD9-327B-E68D-74336F66DBC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由用户自己定义</a:t>
            </a:r>
            <a:endParaRPr lang="en-US" sz="11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D40E558-16D3-8FEB-A6AD-C57B23F6D86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5549153-6701-1233-ACAC-2A15CE5FE7E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EF0095E-4325-057C-B049-DDBECCA533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AEB8523-AB1E-33FC-D6C7-130F126BBAA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219881F-0CEC-6614-D773-BC231C42A58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0FE6F6-1290-3828-A7C6-9D6A3FEAB61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2480" cy="440120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▶ 第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32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张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·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随堂题②（字符型占几字节，单选）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第二题：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'C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语言中字符型数据占几个字节？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'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选项有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、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、用户自定义。答案干脆：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个字节，选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。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char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天生就是一个字节，不像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int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那样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2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或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4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要看环境。也正因为它只有一个字节、存的是一个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0~255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的小整数，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 才把它当整数家族最小的那只盒子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——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这是后面能拿 </a:t>
            </a:r>
            <a:r>
              <a:rPr kumimoji="0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char </a:t>
            </a: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做加减的另一层伏笔。这题是白送的分。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0295001-3095-0CA1-49ED-C53AC873807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2" name="RemarkBack">
              <a:extLst>
                <a:ext uri="{FF2B5EF4-FFF2-40B4-BE49-F238E27FC236}">
                  <a16:creationId xmlns:a16="http://schemas.microsoft.com/office/drawing/2014/main" id="{B2A72D59-A583-9634-9120-AC61B0DE1BD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markBlock">
              <a:extLst>
                <a:ext uri="{FF2B5EF4-FFF2-40B4-BE49-F238E27FC236}">
                  <a16:creationId xmlns:a16="http://schemas.microsoft.com/office/drawing/2014/main" id="{71EF13DD-3D60-A5D7-8655-106645688A57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markTitleText">
              <a:extLst>
                <a:ext uri="{FF2B5EF4-FFF2-40B4-BE49-F238E27FC236}">
                  <a16:creationId xmlns:a16="http://schemas.microsoft.com/office/drawing/2014/main" id="{5018432D-D56A-69BD-5CFC-ECFD45C09F11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sz="18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299F765-1CCF-20F1-E08A-1E7B50785550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A5697F75-DA16-0FD1-3D03-7FD166D5530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E61EC255-4BD1-B85A-E6D6-138B1E61F6FE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CC28DB53-5860-A7B4-7343-21832848027D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sz="26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9A5A9F8E-4F7B-5B1C-92A4-74861F89B62D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9C3083BF-D229-3E95-1AE0-944CF0F7FF0C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891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215313" cy="457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</a:t>
            </a:r>
            <a:r>
              <a:rPr lang="en-US" sz="32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字符变量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用类型符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char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定义字符变量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char c = ’?’;</a:t>
            </a:r>
          </a:p>
          <a:p>
            <a:pPr marL="742950" lvl="1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系统把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“?”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ASCII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63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赋给变量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(”</a:t>
            </a:r>
            <a:r>
              <a:rPr lang="en-US" sz="2800" b="1" i="0" u="none" strike="noStrike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%d  %c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\n”,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c,c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);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输出结果是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63  ?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3.2.4 字符型数据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DF45CD-BA0B-F90B-4212-4B7ECF7D27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/>
          <a:lstStyle/>
          <a:p>
            <a:fld id="{7D9BB5D0-35E4-459D-AEF3-FE4D7C45CC19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EFA711-9661-5C8F-95D1-21797C6ED1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defRPr/>
            </a:pPr>
            <a:r>
              <a:rPr lang="en-US" sz="2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下列字符常量中表示错误的是</a:t>
            </a: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（）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08DC4C-B3A6-0139-2B09-74A71D4F1E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‘a’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1EB1F9-88D4-7AAF-9056-76627551582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‘?’</a:t>
            </a:r>
            <a:endParaRPr sz="2600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F570D0-0BAA-00E6-7991-7F9F9FF72F6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‘\n’</a:t>
            </a:r>
            <a:endParaRPr 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D8A5DD-02E6-1776-543B-046A82A45BC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“\n”</a:t>
            </a:r>
            <a:endParaRPr lang="en-US" sz="11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08B2AED-0E49-F37B-64FB-C360DACFE17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61B22E5-784A-274B-CA7E-EC978CD55DA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29FC8AE-6B0E-5668-9762-FF6B8E58D2E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E78B9DE-E042-2AFA-CA2B-35AFCF7E7A1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6BE38BB-FAC3-CB19-E64B-7C2F0ADBC63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3BBB44D-461F-C48F-A0B7-1B359A2268F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E75C31C6-3A2F-7D31-C103-C4818EB748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306E8FFA-C4E2-54D8-3A67-1BC8D1C0262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DDF4ACA9-AF87-A174-9532-A7835998348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sz="26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EB29EA57-08EB-CF39-E368-2ABBD262796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1D9BCBE-4C6F-CB93-F923-D1E44C2E1C0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937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76EFEF-47AA-27F7-2702-D01B1835F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644DCC-E2CA-1B8B-4ECB-8BCB2C63FF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975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defRPr/>
            </a:pPr>
            <a:r>
              <a:rPr lang="en-US" sz="2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已定义c为字符型变量，则下列语句中正确的是</a:t>
            </a: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  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6B1405-B18B-E92F-8809-E88B400AA7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c=‘97’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269BDB-3ED8-194C-275A-9B70DF24440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c=“97”</a:t>
            </a:r>
            <a:endParaRPr lang="en-US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F1BC08-0A66-F603-0263-6AE98A914EC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c=‘a’</a:t>
            </a:r>
            <a:endParaRPr lang="en-US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C7C544-55B7-B145-1D50-8986D86EB9B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defRPr/>
            </a:pPr>
            <a:r>
              <a:rPr lang="en-US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c=“a”</a:t>
            </a:r>
            <a:endParaRPr lang="en-US" sz="11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FB8232C-9891-DE9C-FEC2-BBCB6A729FD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FF24318-7B76-A07B-49BF-F449C218ADE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B734737-1DBC-38BA-53E1-69A82601D7B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8CECAB2-68C4-0D2C-634E-ED8A35D6A51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E9B533-B813-D5D1-2F18-0B1714E7C6B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E0A367B-38C7-9577-8F6B-6346F2EED1D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884CC7F7-2FD0-E61B-B5FD-7C77A155A73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A7ECE19-6118-47CC-D04F-4AA0EE21DEB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D8F05052-D6BA-C99D-EB79-AB2CF5DB900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sz="260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A3B5ADB9-A576-400F-43C9-82D421400F1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539B5C1-365D-D3D7-3D84-D2D3FB21001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7956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215313" cy="3714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浮点型数据是用来表示具有小数点的实数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单精度浮点型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编译系统为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型变量分配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数值以</a:t>
            </a:r>
            <a:r>
              <a:rPr lang="en-US" sz="2800" b="1" i="0" u="none" strike="noStrike" dirty="0" err="1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规范化的二进制数指数形式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存放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3.2.5 浮点型数据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11" name="图片 10" descr="电脑屏幕的照片&#10;&#10;AI 生成的内容可能不正确。">
            <a:extLst>
              <a:ext uri="{FF2B5EF4-FFF2-40B4-BE49-F238E27FC236}">
                <a16:creationId xmlns:a16="http://schemas.microsoft.com/office/drawing/2014/main" id="{11A40A31-AE12-2CFD-D638-00FE92FB6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86" y="3942602"/>
            <a:ext cx="7467600" cy="29375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215313" cy="5038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749300" indent="-406400"/>
            <a:lvl3pPr marL="1098550" indent="-355600"/>
            <a:lvl4pPr marL="1447800" indent="-355600"/>
            <a:lvl5pPr marL="1797050" indent="-355600"/>
            <a:lvl6pPr marL="2146300" indent="-355600"/>
            <a:lvl7pPr marL="2495550" indent="-355600"/>
            <a:lvl8pPr marL="2844800" indent="-355600"/>
            <a:lvl9pPr marL="319405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浮点型数据是用来表示具有小数点的实数</a:t>
            </a:r>
            <a:endParaRPr 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altLang="zh-Han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zh-CN" alt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字节，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单精度浮点型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endParaRPr lang="zh-Hans" altLang="en-US" sz="3200" b="1" i="0" u="none" strike="noStrike" dirty="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742950" lvl="2" indent="-342900">
              <a:lnSpc>
                <a:spcPct val="117000"/>
              </a:lnSpc>
              <a:spcBef>
                <a:spcPct val="20000"/>
              </a:spcBef>
              <a:buFont typeface="Wingdings" panose="05000000000000000000"/>
              <a:buChar char="u"/>
            </a:pPr>
            <a:r>
              <a:rPr lang="en-US" altLang="zh-Hans" sz="2800" b="1" dirty="0">
                <a:latin typeface="Verdana" panose="020B0604030504040204"/>
                <a:ea typeface="Verdana" panose="020B0604030504040204"/>
                <a:sym typeface="Verdana" panose="020B0604030504040204"/>
              </a:rPr>
              <a:t>6</a:t>
            </a:r>
            <a:r>
              <a:rPr lang="zh-CN" altLang="en-US" sz="2800" b="1" dirty="0">
                <a:latin typeface="Verdana" panose="020B0604030504040204"/>
                <a:sym typeface="Verdana" panose="020B0604030504040204"/>
              </a:rPr>
              <a:t>位有效数字</a:t>
            </a:r>
            <a:endParaRPr lang="en-US" sz="2800" b="1" dirty="0">
              <a:latin typeface="Verdana" panose="020B0604030504040204"/>
              <a:ea typeface="Verdana" panose="020B0604030504040204"/>
              <a:sym typeface="Verdana" panose="020B0604030504040204"/>
            </a:endParaRP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altLang="zh-Han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8</a:t>
            </a:r>
            <a:r>
              <a:rPr lang="zh-CN" alt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字节，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双精度浮点型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742950" lvl="2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15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位有效数字</a:t>
            </a:r>
          </a:p>
          <a:p>
            <a:pPr marL="342900" lvl="1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long double(</a:t>
            </a:r>
            <a:r>
              <a:rPr lang="en-US" altLang="zh-Hans" sz="32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8</a:t>
            </a:r>
            <a:r>
              <a:rPr lang="zh-CN" altLang="en-US" sz="32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字节，</a:t>
            </a:r>
            <a:r>
              <a:rPr lang="en-US" sz="32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长双精度</a:t>
            </a: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32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  <a:endParaRPr lang="zh-Hans" altLang="en-US" sz="32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742950" lvl="2" indent="-342900">
              <a:lnSpc>
                <a:spcPct val="117000"/>
              </a:lnSpc>
              <a:spcBef>
                <a:spcPct val="20000"/>
              </a:spcBef>
              <a:buFont typeface="Wingdings" panose="05000000000000000000"/>
              <a:buChar char="u"/>
            </a:pPr>
            <a:r>
              <a:rPr lang="en-US" altLang="zh-Hans" sz="2800" b="1" dirty="0">
                <a:latin typeface="Verdana" panose="020B0604030504040204"/>
                <a:ea typeface="Verdana" panose="020B0604030504040204"/>
                <a:sym typeface="Noto Sans SC" panose="020B0200000000000000" charset="-122"/>
              </a:rPr>
              <a:t>15</a:t>
            </a:r>
            <a:r>
              <a:rPr lang="zh-CN" altLang="en-US" sz="2800" b="1" dirty="0">
                <a:latin typeface="Verdana" panose="020B0604030504040204"/>
                <a:sym typeface="Noto Sans SC" panose="020B0200000000000000" charset="-122"/>
              </a:rPr>
              <a:t>位有效</a:t>
            </a:r>
            <a:r>
              <a:rPr lang="zh-CN" altLang="en-US" sz="2800" b="1">
                <a:latin typeface="Verdana" panose="020B0604030504040204"/>
                <a:sym typeface="Noto Sans SC" panose="020B0200000000000000" charset="-122"/>
              </a:rPr>
              <a:t>数字</a:t>
            </a:r>
            <a:endParaRPr lang="en-US" sz="2800" b="1" dirty="0">
              <a:latin typeface="Verdana" panose="020B0604030504040204"/>
              <a:ea typeface="Verdana" panose="020B0604030504040204"/>
              <a:sym typeface="Noto Sans SC" panose="020B0200000000000000" charset="-122"/>
            </a:endParaRP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9992" y="793750"/>
            <a:ext cx="8686800" cy="584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数据的表现形式及其运算  3.2.5 浮点型数据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2797" y="866775"/>
            <a:ext cx="571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p49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浮点精度系列1_字节分两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D24913-8164-E560-B559-8B2C718BB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浮点精度系列1b_6位与范围怎么算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168940-228C-0253-1DCF-A2A8AFDC5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39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浮点精度系列1c_指数127怎么来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AC7142-6371-0BF9-A190-5ABE240F3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3ADCDB4-C019-F902-EB90-BE5DD1990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4" name="Picture 3" descr="浮点精度系列2_字节有效数字范围对照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">
            <a:extLst>
              <a:ext uri="{FF2B5EF4-FFF2-40B4-BE49-F238E27FC236}">
                <a16:creationId xmlns:a16="http://schemas.microsoft.com/office/drawing/2014/main" id="{ACD88C3C-B00A-DA83-48CF-C460CEF34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DA4C96-DE4D-C3FF-9D83-801D7528F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57188" y="1428750"/>
            <a:ext cx="8670356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字符常量：由单撇号括起来的单个字符或转义字符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整型常量：不带小数点的数值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系统根据数值的大小确定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型还是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long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浮点型常量：凡以小数形式或指数形式出现的实数,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编译系统把浮点型常量都按双精度处理,分配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8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个字节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思考：类型与变量？P51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0" y="890885"/>
            <a:ext cx="8429625" cy="46166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</a:t>
            </a:r>
            <a:r>
              <a:rPr lang="en-US" sz="2400" b="1" i="0" u="none" strike="noStrike" dirty="0" err="1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数据的表现形式及其运算</a:t>
            </a:r>
            <a:r>
              <a:rPr lang="en-US" sz="2400" b="1" i="0" u="none" strike="noStrike" dirty="0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3.2.6 </a:t>
            </a:r>
            <a:r>
              <a:rPr lang="en-US" sz="2400" b="1" i="0" u="none" strike="noStrike" dirty="0" err="1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怎样确定常量的类型</a:t>
            </a:r>
            <a:endParaRPr lang="en-US" sz="1050" dirty="0"/>
          </a:p>
        </p:txBody>
      </p:sp>
      <p:sp>
        <p:nvSpPr>
          <p:cNvPr id="9" name="AutoShape 9"/>
          <p:cNvSpPr txBox="1"/>
          <p:nvPr/>
        </p:nvSpPr>
        <p:spPr>
          <a:xfrm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p50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86000" y="3358484"/>
            <a:ext cx="4593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动笔划课本</a:t>
            </a:r>
            <a:r>
              <a:rPr lang="en-US" altLang="zh-CN" dirty="0"/>
              <a:t>·§3.3 </a:t>
            </a:r>
            <a:r>
              <a:rPr lang="zh-CN" altLang="en-US" dirty="0"/>
              <a:t>运算符和表达式（★★会认）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6" name="Picture 5" descr="3.3conce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-5857" y="844550"/>
            <a:ext cx="5779077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 3.3.1 C运算符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5250"/>
            <a:ext cx="9144000" cy="549275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 txBox="1"/>
          <p:nvPr/>
        </p:nvSpPr>
        <p:spPr>
          <a:xfrm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p52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215313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742950" indent="0"/>
            <a:lvl3pPr marL="1200150" indent="0"/>
            <a:lvl4pPr marL="1657350" indent="0"/>
            <a:lvl5pPr marL="2114550" indent="0"/>
            <a:lvl6pPr marL="2571750" indent="0"/>
            <a:lvl7pPr marL="3028950" indent="0"/>
            <a:lvl8pPr marL="3486150" indent="0"/>
            <a:lvl9pPr marL="394335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最常用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的算术运算符：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+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：正号运算符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单目运算符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-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：负号运算符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单目运算符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：乘法运算符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/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：除法运算符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：求余运算符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+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：加法运算符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-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：减法运算符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5976" y="844550"/>
            <a:ext cx="7220719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3.3.2 基本的算术运算符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p52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71500" y="1428750"/>
            <a:ext cx="8215313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698500" indent="-3556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两个整数相除的结果为整数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5/3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的结果值为１，舍去小数部分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如果除数或被除数中有一个为负值，舍入方向不固定。例如，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-5/3(=-1.666...)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，有的系统中得到的结果为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，在有的系统中则得到结果为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-2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VC++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采取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向零取整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的方法</a:t>
            </a:r>
          </a:p>
          <a:p>
            <a:pPr marL="742950" lvl="1" indent="0" algn="l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5/3=1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-5/3=-1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，取整后向零靠拢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运算符要求参加运算的运算对象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即操作数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为整数，结果也是整数。如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8%3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，结果为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8767" y="844550"/>
            <a:ext cx="7226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3.3.2 基本的算术运算符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83044" y="898525"/>
            <a:ext cx="444500" cy="368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在C语言程序中，表达式8/5的结果是（   ）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1.6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4425" y="284956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14425" y="370681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254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4425" y="456406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4425" y="5421313"/>
            <a:ext cx="514350" cy="514350"/>
          </a:xfrm>
          <a:prstGeom prst="rect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提交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4000" b="1" i="0" u="none" strike="noStrike">
                  <a:solidFill>
                    <a:srgbClr val="00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4000" b="1" i="0" u="none" strike="noStrike">
                  <a:solidFill>
                    <a:srgbClr val="00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 txBox="1"/>
            <p:nvPr/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26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单</a:t>
              </a:r>
              <a:r>
                <a:rPr lang="en-US" sz="26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选题</a:t>
              </a:r>
              <a:endParaRPr lang="en-US" sz="1100" dirty="0"/>
            </a:p>
          </p:txBody>
        </p:sp>
        <p:sp>
          <p:nvSpPr>
            <p:cNvPr id="16" name="AutoShape 16"/>
            <p:cNvSpPr txBox="1"/>
            <p:nvPr/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5分</a:t>
              </a:r>
              <a:endParaRPr lang="en-US" sz="1100"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在C语言程序中，表达式5%2的结果是（    ）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2.5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828800" y="5357813"/>
            <a:ext cx="6400800" cy="642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254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14425" y="5421313"/>
            <a:ext cx="514350" cy="514350"/>
          </a:xfrm>
          <a:prstGeom prst="ellipse">
            <a:avLst/>
          </a:prstGeom>
          <a:solidFill>
            <a:srgbClr val="80808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72200" y="6215063"/>
            <a:ext cx="1543050" cy="411162"/>
          </a:xfrm>
          <a:prstGeom prst="roundRect">
            <a:avLst>
              <a:gd name="adj" fmla="val 16666"/>
            </a:avLst>
          </a:prstGeom>
          <a:solidFill>
            <a:srgbClr val="808080">
              <a:alpha val="100000"/>
            </a:srgbClr>
          </a:solidFill>
          <a:ln w="381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ctr" anchorCtr="1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提交</a:t>
            </a:r>
            <a:endParaRPr lang="en-US" sz="1100"/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4000" b="1" i="0" u="none" strike="noStrike">
                  <a:solidFill>
                    <a:srgbClr val="00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4000" b="1" i="0" u="none" strike="noStrike">
                  <a:solidFill>
                    <a:srgbClr val="000000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 txBox="1"/>
            <p:nvPr/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0" i="0" u="none" strike="noStrike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en-US" sz="1100"/>
            </a:p>
          </p:txBody>
        </p:sp>
        <p:sp>
          <p:nvSpPr>
            <p:cNvPr id="16" name="AutoShape 16"/>
            <p:cNvSpPr txBox="1"/>
            <p:nvPr/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5分</a:t>
              </a:r>
              <a:endParaRPr lang="en-US" sz="1100"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49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0" y="1428750"/>
            <a:ext cx="9144000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自增、自减运算符：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作用是使变量的值１或减１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++i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--i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：在使用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之前，先使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的值加（减）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i++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i--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：在使用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之后，使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的值加（减）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-24526" y="749300"/>
            <a:ext cx="8578072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7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3.3.3 自增（++）自减（--）运算符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636488" y="819150"/>
            <a:ext cx="4318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p53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81443" y="1399068"/>
            <a:ext cx="8981113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endParaRPr sz="3200"/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用算术运算符和括号将运算对象（也称操作数）连接起来的、符合Ｃ语法规则的式子，称为Ｃ算术表达式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运算对象包括常量、变量、函数等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Ｃ语言规定了运算符的优先级和结合性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6023" y="844550"/>
            <a:ext cx="9144000" cy="4572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3.3.4 算术表达式和运算符的优先级与结合性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491424" y="184150"/>
            <a:ext cx="4318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57188" y="1597025"/>
            <a:ext cx="8429625" cy="5214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(1)+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-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、、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/ 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运算的两个数中有一个数为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型，结果是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型。系统将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型数据都先转换为</a:t>
            </a: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型，然后进行运算</a:t>
            </a:r>
          </a:p>
          <a:p>
            <a:pPr marL="514350" indent="-51435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(2) 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型与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型数据进行运算，先把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型和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型数据转换为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型，然后进行运算，结果是</a:t>
            </a:r>
            <a:r>
              <a:rPr lang="en-US" sz="2800" b="1" i="0" u="none" strike="noStrike" dirty="0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 dirty="0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</a:t>
            </a:r>
          </a:p>
          <a:p>
            <a:pPr marL="514350" indent="-51435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 dirty="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(3)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字符型数据与整型数据进行运算，就是把字符的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ASCII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代码与整型数据进行运算</a:t>
            </a:r>
            <a:endParaRPr lang="en-US" sz="2800" b="1" i="0" u="none" strike="noStrike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3671" y="881062"/>
            <a:ext cx="8333446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3.3.5 不同类型数据间的混合运算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505504" y="895350"/>
            <a:ext cx="437048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14824" y="1500188"/>
            <a:ext cx="8565070" cy="12144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CC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3.3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给定一个大写字母，要求用小写字母输出。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28625" y="2714625"/>
            <a:ext cx="7929563" cy="3143250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txBody>
          <a:bodyPr wrap="square" lIns="91440" tIns="45720" rIns="91440" bIns="45720" rtlCol="0" anchor="t">
            <a:noAutofit/>
          </a:bodyPr>
          <a:lstStyle>
            <a:lvl1pPr marL="749300" indent="-406400"/>
            <a:lvl2pPr marL="1155700" indent="-355600"/>
            <a:lvl3pPr marL="1562100" indent="-355600"/>
            <a:lvl4pPr marL="1968500" indent="-355600"/>
            <a:lvl5pPr marL="2374900" indent="-355600"/>
            <a:lvl6pPr marL="2781300" indent="-355600"/>
            <a:lvl7pPr marL="3187700" indent="-355600"/>
            <a:lvl8pPr marL="3594100" indent="-355600"/>
            <a:lvl9pPr marL="40005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</a:t>
            </a:r>
            <a:endParaRPr lang="en-US" sz="1100"/>
          </a:p>
          <a:p>
            <a:pPr marL="800100" lvl="1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关键是找到大、小写字母间的内在联系</a:t>
            </a:r>
          </a:p>
          <a:p>
            <a:pPr marL="800100" lvl="1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同一个字母，用小写表示的字符的</a:t>
            </a:r>
            <a:r>
              <a:rPr lang="en-US" sz="2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ASCII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代码比用大写表示的字符的</a:t>
            </a:r>
            <a:r>
              <a:rPr lang="en-US" sz="2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ASCII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代码大</a:t>
            </a:r>
            <a:r>
              <a:rPr lang="en-US" sz="2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32</a:t>
            </a:r>
          </a:p>
          <a:p>
            <a:pPr marL="800100" lvl="1" indent="-342900" algn="l">
              <a:lnSpc>
                <a:spcPct val="117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见P344 ASCII码表</a:t>
            </a:r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10949" y="844550"/>
            <a:ext cx="89154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3.3.5 不同类型数据间的混合运算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0" y="1357313"/>
            <a:ext cx="914400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char c1,c2;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c1=’A’;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c2=c1+32;       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printf("%c\n",c2);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printf(”%d\n”,c2);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}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3071813" y="3429000"/>
            <a:ext cx="578643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将字符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‘A’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ASCII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65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放到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c1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643313" y="3929063"/>
            <a:ext cx="435768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65+32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的结果放到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c2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357813" y="4429125"/>
            <a:ext cx="2928937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用字符形式输出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1941899" y="4318800"/>
            <a:ext cx="714375" cy="0"/>
          </a:xfrm>
          <a:prstGeom prst="line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Connector 11"/>
          <p:cNvCxnSpPr/>
          <p:nvPr/>
        </p:nvCxnSpPr>
        <p:spPr>
          <a:xfrm>
            <a:off x="1941899" y="5281370"/>
            <a:ext cx="714375" cy="0"/>
          </a:xfrm>
          <a:prstGeom prst="line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5357813" y="4929188"/>
            <a:ext cx="335756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用十进制形式输出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36594" y="5732462"/>
            <a:ext cx="1006475" cy="8223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4" name="AutoShape 1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-10949" y="844550"/>
            <a:ext cx="89154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3.3.5 不同类型数据间的混合运算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77492" y="1551028"/>
            <a:ext cx="8786812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强制类型转换运算符的一般形式为（类型名）（表达式）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(double)a      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（将ａ转换成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类型）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(int) (x+y)    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（将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x+y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的值转换成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型）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(float)(5%3)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（将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5%3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的值转换成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型）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有两种类型转换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系统自动进行的类型转换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强制类型转换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0949" y="844550"/>
            <a:ext cx="7706235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运算符和表达式 3.3.6 强制类型转换运算符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p56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83310" y="3326211"/>
            <a:ext cx="458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动笔划课本</a:t>
            </a:r>
            <a:r>
              <a:rPr lang="en-US" altLang="zh-CN" dirty="0"/>
              <a:t>·§3.4 C</a:t>
            </a:r>
            <a:r>
              <a:rPr lang="zh-CN" altLang="en-US" dirty="0"/>
              <a:t>语句</a:t>
            </a:r>
            <a:r>
              <a:rPr lang="en-US" altLang="zh-CN" dirty="0"/>
              <a:t>·</a:t>
            </a:r>
            <a:r>
              <a:rPr lang="zh-CN" altLang="en-US" dirty="0"/>
              <a:t>赋值语句（★★★硬核）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Picture 5" descr="3.4conce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07219" y="2143125"/>
            <a:ext cx="7929562" cy="4714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Ｃ语句分为以下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(1)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控制语句：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if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switch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for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while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do…while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continue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break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return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goto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(2)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函数调用语句: printf("hi");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(3)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表达式语句:a=3是赋值表达式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(4)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空语句：；啥 也不干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(5)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复合语句：｛｝的语句，见课本58页中间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3122" y="844550"/>
            <a:ext cx="63373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3.4.1 C语句的作用和分类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p56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46397" y="1739278"/>
            <a:ext cx="7851206" cy="3071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149350" indent="-406400"/>
            <a:lvl3pPr marL="1549400" indent="-406400"/>
            <a:lvl4pPr marL="1949450" indent="-406400"/>
            <a:lvl5pPr marL="2349500" indent="-406400"/>
            <a:lvl6pPr marL="2749550" indent="-406400"/>
            <a:lvl7pPr marL="3149600" indent="-406400"/>
            <a:lvl8pPr marL="3549650" indent="-406400"/>
            <a:lvl9pPr marL="39497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程序中，最常用的语句是：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赋值语句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输入输出语句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其中最基本的是赋值语句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13122" y="844550"/>
            <a:ext cx="6943981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619804" y="8953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44655" y="2428875"/>
            <a:ext cx="7500937" cy="442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解题思路：假设给定的三个边符合构成三角形的条件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关键是找到求三角形面积的公式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公式为：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area=根号下：[s(s-a)(s-b)(s-c)]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</a:t>
            </a:r>
            <a:r>
              <a:rPr lang="en-US" sz="3200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s=(a+b+c)/2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0" y="1498600"/>
            <a:ext cx="8899525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342900" indent="-342900" algn="l">
              <a:lnSpc>
                <a:spcPct val="117000"/>
              </a:lnSpc>
              <a:spcBef>
                <a:spcPct val="20000"/>
              </a:spcBef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给出三角形的三边长，求三角形面积。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695064" y="74295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3.4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13813" y="8318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250564" y="91440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59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2" y="571500"/>
            <a:ext cx="8143875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ts val="3100"/>
              </a:lnSpc>
              <a:defRPr sz="19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  #include &lt;math.h&gt;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double a,b,c,s,area;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a=3.67;    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b=5.43;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c=6.21;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s=(a+b+c)/2;	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area=sqrt(s*(s-a)*(s-b)*(s-c));   printf("a=%f\tb=%f\tc=%f\n",a,b,c);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printf("area=%f\n",area);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19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 }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28938" y="2571750"/>
            <a:ext cx="285750" cy="1143000"/>
          </a:xfrm>
          <a:prstGeom prst="rightBrace">
            <a:avLst>
              <a:gd name="adj1" fmla="val 8314"/>
              <a:gd name="adj2" fmla="val 50000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0000CC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571875" y="2786063"/>
            <a:ext cx="3643313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对边长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143250" y="3857625"/>
            <a:ext cx="142875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3.4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0" y="88900"/>
            <a:ext cx="6710252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81493" y="3857625"/>
            <a:ext cx="4000500" cy="642938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sqrt数学函数，计算平方根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112106" y="812232"/>
            <a:ext cx="2869887" cy="44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调用数学函数加此行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981493" y="5483226"/>
            <a:ext cx="1447800" cy="5715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area</a:t>
            </a:r>
            <a:endParaRPr lang="en-US" sz="110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" y="711200"/>
            <a:ext cx="8143875" cy="614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ts val="3100"/>
              </a:lnSpc>
              <a:defRPr sz="21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  #include &lt;math.h&gt;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double a,b,c,s,area;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a=3.67;    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b=5.43;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c=6.21;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s=(a+b+c)/2;	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area=sqrt(s*(s-a)*(s-b)*(s-c));   printf("a=%f\tb=%f\t%f\n",a,b,c);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printf("area=%f\n",area);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3430728"/>
            <a:ext cx="3798074" cy="1351684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\t转义字符，使输出位置跳到下一个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tab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位置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076817" y="1153222"/>
            <a:ext cx="3643313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调用数学函数加此行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79155" y="5214938"/>
            <a:ext cx="428625" cy="500063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79155" y="6255641"/>
            <a:ext cx="5535013" cy="6023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 txBox="1"/>
          <p:nvPr/>
        </p:nvSpPr>
        <p:spPr>
          <a:xfrm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3.4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0" y="8890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603807" y="77222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p58</a:t>
            </a:r>
            <a:endParaRPr lang="en-US" sz="11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95202" y="711200"/>
            <a:ext cx="8143875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ts val="3100"/>
              </a:lnSpc>
              <a:defRPr sz="21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    #include &lt;math.h&gt;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double a,b,c,s,area;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a=3.67;    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b=5.43;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c=6.21;      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s=(a+b+c)/2;	      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area=sqrt(s*(s-a)*(s-b)*(s-c));   printf("a=%f\tb=%f\t%f\n",a,b,c);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printf("area=%f\n",area);                </a:t>
            </a:r>
          </a:p>
          <a:p>
            <a:pPr marL="342900" indent="-342900" algn="l">
              <a:lnSpc>
                <a:spcPts val="3100"/>
              </a:lnSpc>
              <a:spcBef>
                <a:spcPct val="20000"/>
              </a:spcBef>
            </a:pPr>
            <a:r>
              <a:rPr lang="en-US" sz="21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710252" y="88900"/>
            <a:ext cx="1422400" cy="622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3.4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0" y="8890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330698" y="2481537"/>
            <a:ext cx="6008379" cy="1132641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?哪些是赋值语句，哪些是输入输出语句？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5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它们是不是C最常见的语句？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8603807" y="77222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p58</a:t>
            </a:r>
            <a:endParaRPr lang="en-US" sz="11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66536" y="1807323"/>
            <a:ext cx="8153400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赋值运算符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＝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是赋值运算符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作用是将一个数据赋给一个变量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也可以将一个表达式的值赋给一个变量</a:t>
            </a:r>
          </a:p>
        </p:txBody>
      </p:sp>
      <p:sp>
        <p:nvSpPr>
          <p:cNvPr id="5" name="AutoShape 5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3122" y="844550"/>
            <a:ext cx="6856618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41262" y="1883766"/>
            <a:ext cx="8153400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复合的赋值运算符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在赋值符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＝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之前加上其他运算符，可以构成复合的运算符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ａ＋＝３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等价于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ａ＝ａ＋３</a:t>
            </a:r>
          </a:p>
        </p:txBody>
      </p:sp>
      <p:sp>
        <p:nvSpPr>
          <p:cNvPr id="5" name="AutoShape 5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p59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8625" y="1408729"/>
            <a:ext cx="8153400" cy="53270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赋值表达式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一般形式为：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赋值运算符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对赋值表达式求解的过程：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求赋值运算符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右侧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赋给赋值运算符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左侧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的变量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p60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52864" y="1490662"/>
            <a:ext cx="8602516" cy="5357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赋值表达式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赋值表达式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“a=3*5”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15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，对表达式求解后，变量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的值和表达式的值都是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15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“a=(b=5)”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“a=b=5”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等价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“a=b”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“b=a”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含义不同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p61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76225" y="1365250"/>
            <a:ext cx="8153400" cy="54852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赋值过程中的类型转换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两侧类型一致时，直接赋值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两侧类型不一致，但都是算术类型时，自动将右侧的类型转换为左侧类型后赋值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定义变量时要防止数据溢出</a:t>
            </a:r>
          </a:p>
        </p:txBody>
      </p:sp>
      <p:sp>
        <p:nvSpPr>
          <p:cNvPr id="5" name="AutoShape 5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p61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16541" y="1375968"/>
            <a:ext cx="8954713" cy="52471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赋值表达式和赋值语句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赋值表达式的末尾没有分号，而赋值语句有分号</a:t>
            </a: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一个表达式可以包含赋值表达式，但决不能包含赋值语句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16541" y="1419650"/>
            <a:ext cx="8813147" cy="4958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577850" indent="-2921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35050" indent="-292100"/>
            <a:lvl3pPr marL="1492250" indent="-292100"/>
            <a:lvl4pPr marL="1949450" indent="-292100"/>
            <a:lvl5pPr marL="2406650" indent="-292100"/>
            <a:lvl6pPr marL="2863850" indent="-292100"/>
            <a:lvl7pPr marL="3321050" indent="-292100"/>
            <a:lvl8pPr marL="3778250" indent="-292100"/>
            <a:lvl9pPr marL="4235450" indent="-292100"/>
          </a:lstStyle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6.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变量赋初值</a:t>
            </a:r>
          </a:p>
          <a:p>
            <a:pPr marL="285750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基本赋初值：</a:t>
            </a:r>
          </a:p>
          <a:p>
            <a:pPr algn="l">
              <a:lnSpc>
                <a:spcPct val="117000"/>
              </a:lnSpc>
              <a:spcBef>
                <a:spcPct val="20000"/>
              </a:spcBef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 = 3;          // 整型初值</a:t>
            </a:r>
          </a:p>
          <a:p>
            <a:pPr marL="0" indent="0" algn="l">
              <a:lnSpc>
                <a:spcPct val="117000"/>
              </a:lnSpc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float f = 3.56;     // 浮点型初值</a:t>
            </a:r>
          </a:p>
          <a:p>
            <a:pPr marL="0" indent="0" algn="l">
              <a:lnSpc>
                <a:spcPct val="117000"/>
              </a:lnSpc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 c = 'a';       // 字符型初值</a:t>
            </a:r>
          </a:p>
          <a:p>
            <a:pPr marL="285750" indent="-28575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部分初始化：</a:t>
            </a:r>
          </a:p>
          <a:p>
            <a:pPr marL="0" indent="0" algn="l">
              <a:lnSpc>
                <a:spcPct val="117000"/>
              </a:lnSpc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a, b, c = 5;    // 仅 c 初始化为 5，a b 的初值不确定（垃圾值）</a:t>
            </a:r>
          </a:p>
          <a:p>
            <a:pPr marL="285750" indent="-28575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同值初始化：</a:t>
            </a:r>
          </a:p>
          <a:p>
            <a:pPr marL="0" indent="0" algn="l">
              <a:lnSpc>
                <a:spcPct val="117000"/>
              </a:lnSpc>
            </a:pPr>
            <a:r>
              <a:rPr lang="en-US" sz="23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 = 3, b = 3, c = 3;  // 正确：分别指定每个变量的初值</a:t>
            </a:r>
          </a:p>
          <a:p>
            <a:pPr algn="l">
              <a:lnSpc>
                <a:spcPct val="117000"/>
              </a:lnSpc>
            </a:pPr>
            <a:endParaRPr lang="en-US" sz="23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p63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69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683559" y="1490382"/>
            <a:ext cx="7937500" cy="430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>
            <a:lvl1pPr marL="539750" indent="-254000"/>
            <a:lvl2pPr marL="996950" indent="-254000"/>
            <a:lvl3pPr marL="1454150" indent="-254000"/>
            <a:lvl4pPr marL="1911350" indent="-254000"/>
            <a:lvl5pPr marL="2368550" indent="-254000"/>
            <a:lvl6pPr marL="2825750" indent="-254000"/>
            <a:lvl7pPr marL="3282950" indent="-254000"/>
            <a:lvl8pPr marL="3740150" indent="-254000"/>
            <a:lvl9pPr marL="4197350" indent="-254000"/>
          </a:lstStyle>
          <a:p>
            <a:pPr algn="l">
              <a:lnSpc>
                <a:spcPct val="125000"/>
              </a:lnSpc>
              <a:defRPr/>
            </a:pPr>
            <a:r>
              <a:rPr lang="en-US" sz="2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6.变量赋初值的新手易错点</a:t>
            </a:r>
            <a:endParaRPr lang="en-US" sz="1100"/>
          </a:p>
          <a:p>
            <a:pPr algn="l">
              <a:lnSpc>
                <a:spcPct val="125000"/>
              </a:lnSpc>
            </a:pPr>
            <a:endParaRPr lang="en-US" sz="1100"/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错误使用连等初始化</a:t>
            </a:r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错误写法：int a = b = c = 3; （语法错误，编译器无法识别）</a:t>
            </a:r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✔️ 正确写法：int a = 3, b = 3, c = 3;</a:t>
            </a:r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误以为部分初始化会波及全员</a:t>
            </a:r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int a, b, c = 5; 中，新手常误以为 a、b、c 都是 5，实际上 a 和 b 未被初始化。</a:t>
            </a:r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忽略局部变量的未定义行为</a:t>
            </a:r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局部变量若不显式赋初值，其值取决于内存中的随机残留数据，直接参与运算会导致不可预测的结果。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-13813" y="844550"/>
            <a:ext cx="6858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3.4 C语句   3.4.2 最基本的语句-赋值语句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143000" y="1857375"/>
            <a:ext cx="7358063" cy="3857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3.5.1 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输入输出举例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3.5.2 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有关数据输入输出的概念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3.5.3 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函数输出数据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3.5.4 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函数输入数据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6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3.5.5 </a:t>
            </a: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字符数据的输入输出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13795" y="844550"/>
            <a:ext cx="3406434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557644" y="8445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86000" y="3358484"/>
            <a:ext cx="4593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动笔划课本</a:t>
            </a:r>
            <a:r>
              <a:rPr lang="en-US" altLang="zh-CN" dirty="0"/>
              <a:t>·§3.5 </a:t>
            </a:r>
            <a:r>
              <a:rPr lang="zh-CN" altLang="en-US" dirty="0"/>
              <a:t>数据的输入输出（★★★硬核）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6" name="Picture 5" descr="3.5concep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"/>
            <a:ext cx="9144000" cy="68275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AutoShape 3"/>
              <p:cNvSpPr>
                <a:spLocks noGrp="1"/>
              </p:cNvSpPr>
              <p:nvPr>
                <p:ph type="body" sz="quarter" idx="4294967295" hasCustomPrompt="1"/>
              </p:nvPr>
            </p:nvSpPr>
            <p:spPr>
              <a:xfrm>
                <a:off x="-18729" y="1440118"/>
                <a:ext cx="9049604" cy="1352297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vert="horz" wrap="square" lIns="91440" tIns="45720" rIns="91440" bIns="45720" anchor="t">
                <a:noAutofit/>
              </a:bodyPr>
              <a:lstStyle>
                <a:lvl1pPr algn="l">
                  <a:lnSpc>
                    <a:spcPct val="117000"/>
                  </a:lnSpc>
                  <a:defRPr sz="3200" b="1" i="0" u="none" strike="noStrike" spc="0">
                    <a:solidFill>
                      <a:srgbClr val="0000CC">
                        <a:alpha val="100000"/>
                      </a:srgbClr>
                    </a:solidFill>
                    <a:latin typeface="Noto Sans SC" panose="020B0200000000000000" charset="-122"/>
                  </a:defRPr>
                </a:lvl1pPr>
              </a:lstStyle>
              <a:p>
                <a:pPr marL="0" indent="0" algn="l">
                  <a:lnSpc>
                    <a:spcPct val="117000"/>
                  </a:lnSpc>
                </a:pPr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例3.5：求</a:t>
                </a:r>
                <a14:m>
                  <m:oMath xmlns:m="http://schemas.openxmlformats.org/officeDocument/2006/math"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𝑎</m:t>
                    </m:r>
                    <m:sSup>
                      <m:sSupPr>
                        <m:ctrlP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pPr>
                      <m:e>
                        <m: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𝑥</m:t>
                        </m:r>
                      </m:e>
                      <m:sup>
                        <m: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p>
                    </m:sSup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+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𝑏𝑥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+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𝑐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=0</m:t>
                    </m:r>
                  </m:oMath>
                </a14:m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方程的根。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Verdana" panose="020B0604030504040204"/>
                    <a:ea typeface="Verdana" panose="020B0604030504040204"/>
                    <a:cs typeface="Verdana" panose="020B0604030504040204"/>
                    <a:sym typeface="Verdana" panose="020B0604030504040204"/>
                  </a:rPr>
                  <a:t>a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Verdana" panose="020B0604030504040204"/>
                    <a:ea typeface="Verdana" panose="020B0604030504040204"/>
                    <a:cs typeface="Verdana" panose="020B0604030504040204"/>
                    <a:sym typeface="Verdana" panose="020B0604030504040204"/>
                  </a:rPr>
                  <a:t>b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Verdana" panose="020B0604030504040204"/>
                    <a:ea typeface="Verdana" panose="020B0604030504040204"/>
                    <a:cs typeface="Verdana" panose="020B0604030504040204"/>
                    <a:sym typeface="Verdana" panose="020B0604030504040204"/>
                  </a:rPr>
                  <a:t>c</a:t>
                </a:r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由键盘输入,设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pPr>
                      <m:e>
                        <m: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</m:e>
                      <m:sup>
                        <m:r>
                          <a:rPr sz="3200" b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p>
                    </m:sSup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−4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𝑎𝑐</m:t>
                    </m:r>
                    <m:r>
                      <a:rPr sz="3200" b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0</m:t>
                    </m:r>
                  </m:oMath>
                </a14:m>
                <a:r>
                  <a:rPr lang="en-US" sz="3200" b="1" i="0" u="none" strike="noStrike">
                    <a:solidFill>
                      <a:srgbClr val="0000CC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" name="AutoShap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4294967295" hasCustomPrompt="1"/>
              </p:nvPr>
            </p:nvSpPr>
            <p:spPr>
              <a:xfrm>
                <a:off x="-18729" y="1440118"/>
                <a:ext cx="9049604" cy="1352297"/>
              </a:xfrm>
              <a:prstGeom prst="rect">
                <a:avLst/>
              </a:prstGeom>
              <a:blipFill rotWithShape="1">
                <a:blip r:embed="rId4"/>
                <a:stretch>
                  <a:fillRect l="3" t="-42" r="6" b="24"/>
                </a:stretch>
              </a:blipFill>
              <a:ln w="1270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18729" y="844550"/>
            <a:ext cx="6742101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AutoShape 12"/>
              <p:cNvSpPr txBox="1"/>
              <p:nvPr/>
            </p:nvSpPr>
            <p:spPr>
              <a:xfrm>
                <a:off x="-46030" y="2672577"/>
                <a:ext cx="8825924" cy="418542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vert="horz" wrap="square" lIns="91440" tIns="45720" rIns="91440" bIns="45720" rtlCol="0" anchor="t">
                <a:noAutofit/>
              </a:bodyPr>
              <a:lstStyle>
                <a:lvl1pPr marL="762000" indent="-419100"/>
                <a:lvl2pPr marL="1219200" indent="-419100"/>
                <a:lvl3pPr marL="1676400" indent="-419100"/>
                <a:lvl4pPr marL="2133600" indent="-419100"/>
                <a:lvl5pPr marL="2590800" indent="-419100"/>
                <a:lvl6pPr marL="3048000" indent="-419100"/>
                <a:lvl7pPr marL="3505200" indent="-419100"/>
                <a:lvl8pPr marL="3962400" indent="-419100"/>
                <a:lvl9pPr marL="4419600" indent="-419100"/>
              </a:lstStyle>
              <a:p>
                <a:pPr marL="342900" indent="-342900" algn="l">
                  <a:lnSpc>
                    <a:spcPct val="117000"/>
                  </a:lnSpc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/>
                  <a:buChar char="Ø"/>
                  <a:defRPr/>
                </a:pPr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解题思路：先要知道求方程式的根的方法。</a:t>
                </a:r>
                <a:endParaRPr lang="en-US" sz="1100"/>
              </a:p>
              <a:p>
                <a:pPr marL="342900" indent="-342900" algn="l">
                  <a:lnSpc>
                    <a:spcPct val="117000"/>
                  </a:lnSpc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/>
                  <a:buChar char="Ø"/>
                </a:pPr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由数学知识已知：如果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p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</m:e>
                      <m:sup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p>
                    </m:sSup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−4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𝑎𝑐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≥0</m:t>
                    </m:r>
                  </m:oMath>
                </a14:m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，则一元二次方程有两个实根</a:t>
                </a:r>
                <a:r>
                  <a:rPr lang="en-US" sz="3300" b="1" i="0" u="none" strike="noStrike">
                    <a:solidFill>
                      <a:srgbClr val="000000"/>
                    </a:solidFill>
                    <a:latin typeface="Verdana" panose="020B0604030504040204"/>
                    <a:ea typeface="Verdana" panose="020B0604030504040204"/>
                    <a:cs typeface="Verdana" panose="020B0604030504040204"/>
                    <a:sym typeface="Verdana" panose="020B0604030504040204"/>
                  </a:rPr>
                  <a:t>:</a:t>
                </a:r>
              </a:p>
              <a:p>
                <a:pPr marL="342900" indent="-342900" algn="l">
                  <a:lnSpc>
                    <a:spcPct val="117000"/>
                  </a:lnSpc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𝑥</m:t>
                        </m:r>
                      </m:e>
                      <m:sub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sub>
                    </m:sSub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f>
                      <m:f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fPr>
                      <m:num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sz="33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</m:ctrlPr>
                              </m:sSupPr>
                              <m:e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−4</m:t>
                            </m:r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𝑎</m:t>
                        </m:r>
                      </m:den>
                    </m:f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，</m:t>
                    </m:r>
                    <m:sSub>
                      <m:sSub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𝑥</m:t>
                        </m:r>
                      </m:e>
                      <m:sub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b>
                    </m:sSub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f>
                      <m:f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fPr>
                      <m:num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sz="33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</m:ctrlPr>
                              </m:sSupPr>
                              <m:e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−4</m:t>
                            </m:r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，</a:t>
                </a:r>
              </a:p>
              <a:p>
                <a:pPr marL="342900" indent="-342900" algn="l">
                  <a:lnSpc>
                    <a:spcPct val="117000"/>
                  </a:lnSpc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/>
                  <a:buChar char="Ø"/>
                </a:pPr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若记</a:t>
                </a:r>
                <a14:m>
                  <m:oMath xmlns:m="http://schemas.openxmlformats.org/officeDocument/2006/math"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𝑝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f>
                      <m:f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fPr>
                      <m:num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</m:num>
                      <m:den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𝑎</m:t>
                        </m:r>
                      </m:den>
                    </m:f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, 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𝑞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f>
                      <m:fPr>
                        <m:ctrlPr>
                          <a:rPr sz="33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sz="33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</m:ctrlPr>
                              </m:sSupPr>
                              <m:e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sz="3300" b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Noto Sans SC" panose="020B0200000000000000" charset="-122"/>
                                    <a:cs typeface="Noto Sans SC" panose="020B0200000000000000" charset="-122"/>
                                    <a:sym typeface="Noto Sans SC" panose="020B0200000000000000" charset="-122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−4</m:t>
                            </m:r>
                            <m:r>
                              <a:rPr sz="33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Noto Sans SC" panose="020B0200000000000000" charset="-122"/>
                                <a:cs typeface="Noto Sans SC" panose="020B0200000000000000" charset="-122"/>
                                <a:sym typeface="Noto Sans SC" panose="020B0200000000000000" charset="-122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,</a:t>
                </a:r>
              </a:p>
              <a:p>
                <a:pPr marL="342900" indent="-342900" algn="l">
                  <a:lnSpc>
                    <a:spcPct val="117000"/>
                  </a:lnSpc>
                  <a:spcBef>
                    <a:spcPct val="20000"/>
                  </a:spcBef>
                  <a:buClr>
                    <a:srgbClr val="000000"/>
                  </a:buClr>
                  <a:buFont typeface="Wingdings" panose="05000000000000000000"/>
                  <a:buChar char="Ø"/>
                </a:pPr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p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</m:e>
                      <m:sup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p>
                    </m:sSup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−4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𝑎𝑐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≥0</m:t>
                    </m:r>
                  </m:oMath>
                </a14:m>
                <a:r>
                  <a:rPr lang="en-US" sz="3300" b="1" i="0" u="none" strike="noStrike">
                    <a:solidFill>
                      <a:srgbClr val="00000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𝑥</m:t>
                        </m:r>
                      </m:e>
                      <m:sub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1</m:t>
                        </m:r>
                      </m:sub>
                    </m:sSub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𝑝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+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𝑞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, </m:t>
                    </m:r>
                    <m:sSub>
                      <m:sSubPr>
                        <m:ctrlP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𝑥</m:t>
                        </m:r>
                      </m:e>
                      <m:sub>
                        <m:r>
                          <a:rPr sz="33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sub>
                    </m:sSub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=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𝑝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−</m:t>
                    </m:r>
                    <m:r>
                      <a:rPr sz="33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𝑞</m:t>
                    </m:r>
                  </m:oMath>
                </a14:m>
                <a:endParaRPr lang="en-US" sz="3300" b="1" i="0" u="none" strike="noStrike">
                  <a:solidFill>
                    <a:srgbClr val="00000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mc:Choice>
        <mc:Fallback xmlns="">
          <p:sp>
            <p:nvSpPr>
              <p:cNvPr id="12" name="AutoShap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030" y="2672577"/>
                <a:ext cx="8825924" cy="4185423"/>
              </a:xfrm>
              <a:prstGeom prst="rect">
                <a:avLst/>
              </a:prstGeom>
              <a:blipFill rotWithShape="1">
                <a:blip r:embed="rId5"/>
                <a:stretch>
                  <a:fillRect l="4" t="-12" r="4" b="-18206"/>
                </a:stretch>
              </a:blipFill>
              <a:ln w="1270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13"/>
          <p:cNvSpPr txBox="1"/>
          <p:nvPr/>
        </p:nvSpPr>
        <p:spPr>
          <a:xfrm>
            <a:off x="8001000" y="7493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556500" y="16510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 &lt;math.h&gt;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{double a,b,c,disc,x1,x2,p,q;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("%lf%lf%lf",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disc=b*b-4*a*c;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p=-b/(2.0*a);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q=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sqrt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(disc)/(2.0*a);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x1=p+q;   x2=p-q;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("x1=%7.2f\nx2=%7.2f\n",x1,x2);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4572000" y="1117600"/>
            <a:ext cx="4357688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程序中调用数学函数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sqrt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768422" y="2509371"/>
            <a:ext cx="2714625" cy="55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a,b,c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的值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151353" y="3067050"/>
            <a:ext cx="4992647" cy="952500"/>
          </a:xfrm>
          <a:prstGeom prst="wedgeRectCallout">
            <a:avLst/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 (scanf)：double 必须使用 %lf，float 必须使用 %f。传错占位符会导致内存截断或乱码。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400300" y="5506571"/>
            <a:ext cx="6743700" cy="1351429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 (printf)：由于 C 语言的可变参数默认提升规则，float 参数会自动提升为 double，因此 printf 中使用 %f 即可同时输出 float 和 double（C99 允许在 printf 中使用 %lf，但行为与 %f 一致）。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 &lt;math.h&gt;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{double a,b,c,disc,x1,x2,p,q;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("%lf%lf%lf",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disc=b*b-4*a*c;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p=-b/(2.0*a);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q=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sqrt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(disc)/(2.0*a);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x1=p+q;   x2=p-q;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("x1=%7.2f\nx2=%7.2f\n",x1,x2);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00438" y="2571750"/>
            <a:ext cx="785812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43500" y="3429000"/>
            <a:ext cx="2214563" cy="1143000"/>
          </a:xfrm>
          <a:prstGeom prst="wedgeRoundRectCallout">
            <a:avLst>
              <a:gd name="adj1" fmla="val -87806"/>
              <a:gd name="adj2" fmla="val -84796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输入的是双精度型实数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 &lt;math.h&gt;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{double a,b,c,disc,x1,x2,p,q;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("%lf%lf%lf",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disc=b*b-4*a*c;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p=-b/(2.0*a);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q=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sqrt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(disc)/(2.0*a);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x1=p+q;   x2=p-q;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("x1=%7.2f\nx2=%7.2f\n",x1,x2);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71688" y="2571750"/>
            <a:ext cx="2214562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143375" y="3500438"/>
            <a:ext cx="3143250" cy="642937"/>
          </a:xfrm>
          <a:prstGeom prst="wedgeRoundRectCallout">
            <a:avLst>
              <a:gd name="adj1" fmla="val -45875"/>
              <a:gd name="adj2" fmla="val -102333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要求输入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个实数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29250" y="642938"/>
            <a:ext cx="2538413" cy="50006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8" name="AutoShape 18"/>
          <p:cNvSpPr/>
          <p:nvPr/>
        </p:nvSpPr>
        <p:spPr>
          <a:xfrm>
            <a:off x="6143625" y="1428750"/>
            <a:ext cx="2571750" cy="1000125"/>
          </a:xfrm>
          <a:prstGeom prst="wedgeRoundRectCallout">
            <a:avLst>
              <a:gd name="adj1" fmla="val -43088"/>
              <a:gd name="adj2" fmla="val -81352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自动转成实数后赋给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a,b,c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AutoShape 21"/>
              <p:cNvSpPr/>
              <p:nvPr/>
            </p:nvSpPr>
            <p:spPr>
              <a:xfrm>
                <a:off x="3608294" y="5681382"/>
                <a:ext cx="5535706" cy="1176618"/>
              </a:xfrm>
              <a:prstGeom prst="roundRect">
                <a:avLst>
                  <a:gd name="adj" fmla="val 0"/>
                </a:avLst>
              </a:prstGeom>
              <a:solidFill>
                <a:srgbClr val="FAF1D1">
                  <a:alpha val="100000"/>
                </a:srgbClr>
              </a:solidFill>
              <a:ln w="25400">
                <a:noFill/>
                <a:prstDash val="solid"/>
              </a:ln>
            </p:spPr>
            <p:txBody>
              <a:bodyPr wrap="square" lIns="63500" tIns="63500" rIns="63500" bIns="63500" rtlCol="0" anchor="ctr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800" b="0" i="0" u="none" strike="noStrike">
                    <a:solidFill>
                      <a:srgbClr val="1F2329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分母括号与浮点运算：</a:t>
                </a:r>
                <a:endParaRPr lang="en-US" sz="110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800" b="0" i="0" u="none" strike="noStrike">
                    <a:solidFill>
                      <a:srgbClr val="1F2329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必须写成 2.0 * a 且加括号 (2.0 * a)；若误写为 -b / 2 * a，结合性从左到右，实际计算为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800">
                            <a:solidFill>
                              <a:srgbClr val="1F2329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fPr>
                      <m:num>
                        <m:r>
                          <a:rPr sz="1800">
                            <a:solidFill>
                              <a:srgbClr val="1F2329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−</m:t>
                        </m:r>
                        <m:r>
                          <a:rPr sz="1800">
                            <a:solidFill>
                              <a:srgbClr val="1F2329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𝑏</m:t>
                        </m:r>
                      </m:num>
                      <m:den>
                        <m:r>
                          <a:rPr sz="1800">
                            <a:solidFill>
                              <a:srgbClr val="1F2329"/>
                            </a:solidFill>
                            <a:latin typeface="Cambria Math" panose="02040503050406030204" pitchFamily="18" charset="0"/>
                            <a:ea typeface="Noto Sans SC" panose="020B0200000000000000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2</m:t>
                        </m:r>
                      </m:den>
                    </m:f>
                    <m:r>
                      <a:rPr sz="1800">
                        <a:solidFill>
                          <a:srgbClr val="1F2329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⋅</m:t>
                    </m:r>
                    <m:r>
                      <a:rPr sz="1800">
                        <a:solidFill>
                          <a:srgbClr val="1F2329"/>
                        </a:solidFill>
                        <a:latin typeface="Cambria Math" panose="02040503050406030204" pitchFamily="18" charset="0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rPr>
                      <m:t>𝑎</m:t>
                    </m:r>
                  </m:oMath>
                </a14:m>
                <a:endParaRPr lang="en-US" sz="18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mc:Choice>
        <mc:Fallback xmlns="">
          <p:sp>
            <p:nvSpPr>
              <p:cNvPr id="21" name="Auto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94" y="5681382"/>
                <a:ext cx="5535706" cy="1176618"/>
              </a:xfrm>
              <a:prstGeom prst="roundRect">
                <a:avLst>
                  <a:gd name="adj" fmla="val 0"/>
                </a:avLst>
              </a:prstGeom>
              <a:blipFill rotWithShape="1">
                <a:blip r:embed="rId5"/>
                <a:stretch>
                  <a:fillRect l="-4" t="-2324" r="-2363" b="-2321"/>
                </a:stretch>
              </a:blipFill>
              <a:ln w="2540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22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85750" y="571500"/>
            <a:ext cx="8858250" cy="628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 &lt;math.h&gt;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{double a,b,c,disc,x1,x2,p,q;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("%lf%lf%lf",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b,</a:t>
            </a: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disc=b*b-4*a*c;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p=-b/(2.0*a);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q=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sqrt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(disc)/(2.0*a);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x1=p+q;   x2=p-q;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9E01D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("x1=%7.2f\nx2=%7.2f\n",x1,x2);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48038" y="5143500"/>
            <a:ext cx="642937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571750" y="5929313"/>
            <a:ext cx="5745163" cy="642937"/>
          </a:xfrm>
          <a:prstGeom prst="wedgeRoundRectCallout">
            <a:avLst>
              <a:gd name="adj1" fmla="val -26208"/>
              <a:gd name="adj2" fmla="val -80866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输出数据占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列，其中小数占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29250" y="642938"/>
            <a:ext cx="2538413" cy="50006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29250" y="1143000"/>
            <a:ext cx="2538413" cy="8350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0" name="AutoShape 20"/>
          <p:cNvSpPr txBox="1"/>
          <p:nvPr/>
        </p:nvSpPr>
        <p:spPr>
          <a:xfrm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932431" y="3017923"/>
            <a:ext cx="4202206" cy="1288676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格式修饰符 %7.2f：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总显示宽度占 7 列（包含负号与小数点），保留 2 位小数，默认右对齐（不足 7 列时左侧补空格）。常用于多行数据上下对齐。</a:t>
            </a:r>
          </a:p>
        </p:txBody>
      </p:sp>
      <p:sp>
        <p:nvSpPr>
          <p:cNvPr id="23" name="AutoShape 23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2" y="2949595"/>
            <a:ext cx="7929563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(1)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所谓输入输出是以计算机主机为主体而言的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从计算机向输出设备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如显示器、打印机等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输出数据称为输出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从输入设备（如键盘、磁盘、光盘、扫描仪等）向计算机输入数据称为输入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54944" y="1498600"/>
            <a:ext cx="8209631" cy="1714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>
            <a:lvl1pPr marL="749300" indent="-406400"/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几乎每一个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程序都包含输入输出，输入输出是程序中最基本的操作之一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20394"/>
          <a:stretch>
            <a:fillRect/>
          </a:stretch>
        </p:blipFill>
        <p:spPr>
          <a:xfrm>
            <a:off x="0" y="2269864"/>
            <a:ext cx="9144000" cy="458813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</a:t>
            </a:r>
            <a:r>
              <a:rPr lang="en-US" sz="2800" b="1" i="0" u="none" strike="noStrike" dirty="0" err="1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数据的输入输出</a:t>
            </a:r>
            <a:r>
              <a:rPr lang="en-US" sz="2800" b="1" i="0" u="none" strike="noStrike" dirty="0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3.5.2 </a:t>
            </a:r>
            <a:r>
              <a:rPr lang="en-US" sz="2800" b="1" i="0" u="none" strike="noStrike" dirty="0" err="1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有关数据输入输出的概念</a:t>
            </a:r>
            <a:endParaRPr lang="en-US" sz="1100" dirty="0"/>
          </a:p>
        </p:txBody>
      </p:sp>
      <p:sp>
        <p:nvSpPr>
          <p:cNvPr id="6" name="AutoShape 6"/>
          <p:cNvSpPr txBox="1"/>
          <p:nvPr/>
        </p:nvSpPr>
        <p:spPr>
          <a:xfrm>
            <a:off x="8661400" y="8774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139849" y="1590089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计算机主机与输入输出示意图</a:t>
            </a:r>
            <a:endParaRPr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79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2735"/>
          <a:stretch>
            <a:fillRect/>
          </a:stretch>
        </p:blipFill>
        <p:spPr>
          <a:xfrm>
            <a:off x="0" y="1538344"/>
            <a:ext cx="9144000" cy="531965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 txBox="1"/>
          <p:nvPr/>
        </p:nvSpPr>
        <p:spPr>
          <a:xfrm>
            <a:off x="0" y="160991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608992" y="193862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6" name="文本框 5"/>
          <p:cNvSpPr txBox="1"/>
          <p:nvPr/>
        </p:nvSpPr>
        <p:spPr>
          <a:xfrm>
            <a:off x="0" y="817630"/>
            <a:ext cx="6362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/>
              <a:t>C</a:t>
            </a:r>
            <a:r>
              <a:rPr lang="zh-CN" altLang="en-US" sz="3200" dirty="0"/>
              <a:t>语言为什么没有</a:t>
            </a:r>
            <a:r>
              <a:rPr lang="en-US" altLang="en-US" sz="3200" dirty="0"/>
              <a:t>I/O</a:t>
            </a:r>
            <a:r>
              <a:rPr lang="zh-CN" altLang="en-US" sz="3200" dirty="0"/>
              <a:t>语句？（图）</a:t>
            </a:r>
            <a:endParaRPr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42148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(2)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Ｃ语言本身不提供输入输出语句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输入和输出操作是由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标准函数库中的函数来实现的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不是Ｃ语言的关键字，而只是库函数的名字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getchar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puts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gets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3643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742950" indent="0"/>
            <a:lvl3pPr marL="1200150" indent="0"/>
            <a:lvl4pPr marL="1657350" indent="0"/>
            <a:lvl5pPr marL="2114550" indent="0"/>
            <a:lvl6pPr marL="2571750" indent="0"/>
            <a:lvl7pPr marL="3028950" indent="0"/>
            <a:lvl8pPr marL="3486150" indent="0"/>
            <a:lvl9pPr marL="394335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(3)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在使用输入输出函数时，要在程序文件的开头用预编译指令。三种方式：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 #include &lt;stdio.h&gt; 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//标准方式—编译系统子目录找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2 #include ″stdio.h″   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//用户当前目录找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3 #include "c:\temp\file1.h"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//其他自定义目录寻找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408" y="844550"/>
            <a:ext cx="83566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3.5.2 有关数据输入输出的概念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程序中用来实现输出和输入的，主要是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函数和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这两个函数是格式输入输出函数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用这两个函数时，必须指定格式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2408" y="844550"/>
            <a:ext cx="7929563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函数的一般格式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（格式控制，输出表列）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”i=%d,c=%c\n”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</a:t>
            </a:r>
            <a:r>
              <a:rPr lang="en-US" sz="32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i,c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24275" y="3857625"/>
            <a:ext cx="785813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27450" y="4869379"/>
            <a:ext cx="2276475" cy="1753712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格式声明-有符号的十进制整数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24463" y="3824288"/>
            <a:ext cx="785812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03925" y="4869379"/>
            <a:ext cx="2276475" cy="1753712"/>
          </a:xfrm>
          <a:prstGeom prst="wedgeRoundRectCallout">
            <a:avLst>
              <a:gd name="adj1" fmla="val -25153"/>
              <a:gd name="adj2" fmla="val -80903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格式声明-输出一个字符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函数的一般格式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（格式控制，输出表列）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”i=%d,c=%c\n”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</a:t>
            </a:r>
            <a:r>
              <a:rPr lang="en-US" sz="32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i,c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21200" y="4714875"/>
            <a:ext cx="1711325" cy="642938"/>
          </a:xfrm>
          <a:prstGeom prst="wedgeRectCallout">
            <a:avLst/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普通字符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14938" y="3857625"/>
            <a:ext cx="782637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997575" y="3857625"/>
            <a:ext cx="571500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3325" y="4714875"/>
            <a:ext cx="2707490" cy="1428750"/>
          </a:xfrm>
          <a:prstGeom prst="roundRect">
            <a:avLst>
              <a:gd name="adj" fmla="val 0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\n: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win:回车换行</a:t>
            </a:r>
          </a:p>
          <a:p>
            <a:pPr marL="0" indent="0" algn="ctr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linux:换行</a:t>
            </a:r>
          </a:p>
        </p:txBody>
      </p:sp>
      <p:sp>
        <p:nvSpPr>
          <p:cNvPr id="16" name="AutoShape 16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7929563" cy="300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函数的一般格式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（格式控制，输出表列）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例如：</a:t>
            </a:r>
          </a:p>
          <a:p>
            <a:pPr marL="342900" indent="-342900" algn="ctr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”i=%d,c=%c\n”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</a:t>
            </a:r>
            <a:r>
              <a:rPr lang="en-US" sz="32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i,c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29438" y="3857625"/>
            <a:ext cx="571500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4714875"/>
            <a:ext cx="5294313" cy="642938"/>
          </a:xfrm>
          <a:prstGeom prst="wedgeRoundRectCallout">
            <a:avLst>
              <a:gd name="adj1" fmla="val 19417"/>
              <a:gd name="adj2" fmla="val -86792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可以是常量、变量或表达式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ｄ格式符。用来输出一个有符号的十进制整数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可以在格式声明中指定输出数据的域宽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printf(”%5d%5d\n”,12,-345);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%d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%ld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long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  （p45)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3786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ｃ格式符。用来输出一个字符    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char ch=’a’;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printf(”%c”,ch);   //输出'a'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printf(”%5c”,ch);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900624" y="4707686"/>
            <a:ext cx="65405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//输出字符：   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a(a前面有4个空格）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441124" y="84455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25003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555750" indent="-355600"/>
            <a:lvl4pPr marL="2012950" indent="-355600"/>
            <a:lvl5pPr marL="2470150" indent="-355600"/>
            <a:lvl6pPr marL="2927350" indent="-355600"/>
            <a:lvl7pPr marL="3384550" indent="-355600"/>
            <a:lvl8pPr marL="3841750" indent="-355600"/>
            <a:lvl9pPr marL="429895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ｓ格式符。用来输出一个字符串   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printf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”%s”,”CHINA”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;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428875" y="3714750"/>
            <a:ext cx="371475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输出字符串：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CHINA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515350" y="83185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89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3929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格式符。用来输出实数，以小数形式输出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型数据只能保证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6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位有效数字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double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型数据能保证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15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位有效数字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计算机输出的数字不都是绝对精确有效的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56220" y="5724872"/>
            <a:ext cx="49784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45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4" tooltip="https://funcourse.surge.sh/3.2.5&amp;3.5.3_%E5%8F%8C%E7%B2%BE%E5%BA%A6%E4%B8%8Efloat%E7%9A%84%E5%8C%BA%E5%88%AB%E6%B8%B8%E6%88%8F%E5%92%8Cprintf%E5%AE%9E%E7%8E%B0.html"/>
              </a:rPr>
              <a:t>游戏：真假圆周率：精度大挑战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708419" y="984250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4500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格式符。用来输出实数，以小数形式输出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①不指定数据宽度和小数位数，用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%f</a:t>
            </a:r>
          </a:p>
          <a:p>
            <a:pPr marL="68580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3.6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输出实数</a:t>
            </a: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(双精度）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，只能得到６位小数。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double a=1.0;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printf(”%f\n”,a/3);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00750" y="5429250"/>
            <a:ext cx="2019300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23824" y="1365250"/>
            <a:ext cx="8358187" cy="3929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格式符。用来输出实数，以小数形式输出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指定数据宽度和小数位数。用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%m.nf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printf("%20.15f\n",1/3);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endParaRPr sz="2800"/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</a:t>
            </a: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printf("%.0f\n”,10000/3.0);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68456" y="3757582"/>
            <a:ext cx="4921250" cy="50006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98565" y="4314785"/>
            <a:ext cx="1174750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22530" y="5052219"/>
            <a:ext cx="8775700" cy="1524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algn="l">
              <a:defRPr/>
            </a:pPr>
            <a:br/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格式控制符 %20.15f 的含义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f：表示按浮点数（小数）形式输出。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.15：表示小数点后保留 15 位数字。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20：表示整个输出结果的最小宽度为 20 个字符。如果实际输出长度不足 20 个字符，左边会自动补空格（右对齐）。</a:t>
            </a:r>
          </a:p>
        </p:txBody>
      </p:sp>
      <p:sp>
        <p:nvSpPr>
          <p:cNvPr id="15" name="AutoShape 15"/>
          <p:cNvSpPr txBox="1"/>
          <p:nvPr/>
        </p:nvSpPr>
        <p:spPr>
          <a:xfrm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p69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22530" y="1428750"/>
            <a:ext cx="8913931" cy="5106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格式符。用来输出实数，以小数形式输出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指定数据宽度和小数位数。用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%m.nf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例3.7 float型数据的有效位数。</a:t>
            </a:r>
            <a:b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float a;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a=10000/3.0;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printf("%f\n",a);</a:t>
            </a:r>
          </a:p>
          <a:p>
            <a:pPr marL="285750" indent="-285750" algn="l">
              <a:lnSpc>
                <a:spcPct val="117000"/>
              </a:lnSpc>
              <a:spcBef>
                <a:spcPct val="20000"/>
              </a:spcBef>
            </a:pPr>
            <a:endParaRPr lang="en-US" sz="2800" b="1" i="0" u="none" strike="noStrik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lnSpc>
                <a:spcPct val="117000"/>
              </a:lnSpc>
              <a:spcBef>
                <a:spcPct val="20000"/>
              </a:spcBef>
            </a:pPr>
            <a:endParaRPr lang="en-US" sz="2800" b="1" i="0" u="none" strike="noStrik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619625" y="4787383"/>
            <a:ext cx="40894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//实数的输出，默认6位小数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p69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288" y="3905019"/>
            <a:ext cx="2951760" cy="67402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 txBox="1"/>
          <p:nvPr/>
        </p:nvSpPr>
        <p:spPr>
          <a:xfrm>
            <a:off x="395538" y="5568990"/>
            <a:ext cx="8191500" cy="1054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50" b="0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为什么“错了”？float 的有效数字只有 6~7 位，到了后面就会开始失真和出现误差</a:t>
            </a:r>
            <a:r>
              <a:rPr lang="en-US" sz="1760" b="0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66586" y="1714500"/>
            <a:ext cx="8821839" cy="25882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143000" indent="0"/>
            <a:lvl4pPr marL="1187450" indent="0"/>
            <a:lvl5pPr marL="1231900" indent="0"/>
            <a:lvl6pPr marL="1276350" indent="0"/>
            <a:lvl7pPr marL="1320800" indent="0"/>
            <a:lvl8pPr marL="1365250" indent="0"/>
            <a:lvl9pPr marL="14097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f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格式符。用来输出实数，以小数形式输出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输出的数据向左对齐，用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%-m.nf</a:t>
            </a:r>
          </a:p>
          <a:p>
            <a:pPr marL="1143000" lvl="2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printf("%-25.15f, %25.15f\n",a,a)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p70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6" y="4726624"/>
            <a:ext cx="9026854" cy="20091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4" name="AutoShape 14"/>
          <p:cNvSpPr txBox="1"/>
          <p:nvPr/>
        </p:nvSpPr>
        <p:spPr>
          <a:xfrm>
            <a:off x="2018164" y="4205924"/>
            <a:ext cx="6388100" cy="520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//不加 - 号</a:t>
            </a:r>
            <a:r>
              <a:rPr lang="en-US" sz="2700" b="0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的情况下，</a:t>
            </a:r>
            <a:r>
              <a:rPr lang="en-US" sz="27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默认全部都是右对齐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4017190" y="1631950"/>
            <a:ext cx="49784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45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  <a:hlinkClick r:id="rId5" tooltip="https://funcourse.surge.sh/3.2.5&amp;3.5.3_%E5%8F%8C%E7%B2%BE%E5%BA%A6%E4%B8%8Efloat%E7%9A%84%E5%8C%BA%E5%88%AB%E6%B8%B8%E6%88%8F%E5%92%8Cprintf%E5%AE%9E%E7%8E%B0.html"/>
              </a:rPr>
              <a:t>游戏：真假圆周率：精度大挑战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10641" y="1714500"/>
            <a:ext cx="8708338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格式符。指定以指数形式输出实数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VC++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给出小数位数为６位,指数部分占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5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列,小数点前必须有而且只有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位非零数字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printf(”%e”,123.456);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234560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e+002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493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p70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500063" y="1714500"/>
            <a:ext cx="8358187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98600" indent="-355600"/>
            <a:lvl4pPr marL="1898650" indent="-355600"/>
            <a:lvl5pPr marL="2298700" indent="-355600"/>
            <a:lvl6pPr marL="2698750" indent="-355600"/>
            <a:lvl7pPr marL="3098800" indent="-355600"/>
            <a:lvl8pPr marL="3498850" indent="-355600"/>
            <a:lvl9pPr marL="38989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常用格式字符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格式符。指定以指数形式输出实数</a:t>
            </a:r>
          </a:p>
          <a:p>
            <a:pPr marL="1143000" lvl="2" indent="-2286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%m.ne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printf(”%13.2e”,123.456);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1.23e+002    (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前面有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4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个空格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440" y="844550"/>
            <a:ext cx="79375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3.5.3 用printf函数输出数据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74700"/>
            <a:ext cx="5588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p71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001000" cy="4357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 scanf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函数的一般形式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（格式控制，地址表列）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71625" y="3429000"/>
            <a:ext cx="3143250" cy="642938"/>
          </a:xfrm>
          <a:prstGeom prst="wedgeRoundRectCallout">
            <a:avLst>
              <a:gd name="adj1" fmla="val 14569"/>
              <a:gd name="adj2" fmla="val -86745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含义同</a:t>
            </a:r>
            <a:r>
              <a:rPr lang="en-US" sz="2800" b="1" i="0" u="none" strike="noStrik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printf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88020" y="3321844"/>
            <a:ext cx="4319588" cy="1143000"/>
          </a:xfrm>
          <a:prstGeom prst="wedgeRoundRectCallout">
            <a:avLst>
              <a:gd name="adj1" fmla="val -4282"/>
              <a:gd name="adj2" fmla="val -77639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可以是变量的地址，或字符串的首地址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429625" cy="3714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742950" indent="0"/>
            <a:lvl3pPr marL="736600" indent="0"/>
            <a:lvl4pPr marL="730250" indent="0"/>
            <a:lvl5pPr marL="723900" indent="0"/>
            <a:lvl6pPr marL="717550" indent="0"/>
            <a:lvl7pPr marL="711200" indent="0"/>
            <a:lvl8pPr marL="704850" indent="0"/>
            <a:lvl9pPr marL="698500" indent="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函数中的格式声明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printf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函数中的格式声明相似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以％开始，以一个格式字符结束，中间可以插入附加的字符</a:t>
            </a:r>
          </a:p>
          <a:p>
            <a:pPr marL="742950" lvl="1" indent="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scanf("a=%f,b=%f,c=%f",&amp;a,&amp;b,&amp;c);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p74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072438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函数时应注意的问题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scanf(”%f%f%f”,a,b,c);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scanf(”%f%f%f”,</a:t>
            </a: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a,</a:t>
            </a: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b,</a:t>
            </a: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&amp;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c);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scanf("a=%f,b=%f,c=%f",&amp;a,&amp;b,&amp;c);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 3 2↙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       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</a:t>
            </a:r>
            <a:r>
              <a:rPr lang="en-US" sz="2800" b="1" i="0" u="sng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a=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</a:t>
            </a:r>
            <a:r>
              <a:rPr lang="en-US" sz="2800" b="1" i="0" u="sng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,b=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sng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,c=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a=1 b=3 c=2↙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8096" y="8445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99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072438" cy="49291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函数时应注意的问题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scanf(”%c%c%c”,&amp;c1,&amp;c2,&amp;c3);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abc↙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</a:t>
            </a:r>
            <a:r>
              <a:rPr lang="en-US" sz="2800" b="1" i="0" u="sng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 b c↙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</a:t>
            </a:r>
            <a:r>
              <a:rPr lang="en-US" sz="2800" b="1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scanf(”</a:t>
            </a:r>
            <a:r>
              <a:rPr lang="en-US" sz="28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%d</a:t>
            </a:r>
            <a:r>
              <a:rPr lang="en-US" sz="2800" b="1" i="0" u="none" strike="noStrike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%c</a:t>
            </a:r>
            <a:r>
              <a:rPr lang="en-US" sz="2800" b="1" i="0" u="none" strike="noStrike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%f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”,&amp;a,&amp;b,&amp;c);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若输入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                    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8096" y="831850"/>
            <a:ext cx="80010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3.5.4  用scanf函数输入数据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429625" y="774700"/>
            <a:ext cx="5715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p75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4692722"/>
            <a:ext cx="4224182" cy="216178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361259" y="1118721"/>
            <a:ext cx="8439249" cy="5054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>
            <a:lvl1pPr marL="501650" indent="-215900"/>
            <a:lvl2pPr marL="958850" indent="-215900"/>
            <a:lvl3pPr marL="1416050" indent="-215900"/>
            <a:lvl4pPr marL="1873250" indent="-215900"/>
            <a:lvl5pPr marL="2330450" indent="-215900"/>
            <a:lvl6pPr marL="2787650" indent="-215900"/>
            <a:lvl7pPr marL="3244850" indent="-215900"/>
            <a:lvl8pPr marL="3702050" indent="-215900"/>
            <a:lvl9pPr marL="4159250" indent="-215900"/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新手高频易错点</a:t>
            </a:r>
            <a:endParaRPr lang="en-US" sz="1100"/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漏写取地址符 &amp;</a:t>
            </a: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错误写法：scanf("%lf", a);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后果：将变量的值当作内存地址写入，直接触发段错误（Segmentation fault / Access Violation）。</a:t>
            </a:r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输入格式与代码不匹配</a:t>
            </a: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代码为 scanf("%lf%lf%lf", &amp;a, &amp;b, &amp;c); 时，输入时两个数之间应使用空白字符（空格、Tab 或回车）分隔。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若学生在键盘输入 1, 3, 2（带逗号），会导致第 2、3 个变量读取失败，内存保留垃圾值。</a:t>
            </a:r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分母整数除法截断</a:t>
            </a: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若变量声明为整型且写成 2 * a，极易因整数除法丢失小数部分；推荐常量显式书写为浮点字面量 2.0。</a:t>
            </a:r>
          </a:p>
          <a:p>
            <a:pPr marL="285750" indent="-28575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输入缓冲区残留换行符</a:t>
            </a: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</a:p>
          <a:p>
            <a:pPr marL="0" indent="0" algn="l">
              <a:lnSpc>
                <a:spcPct val="125000"/>
              </a:lnSpc>
            </a:pPr>
            <a:r>
              <a:rPr lang="en-US" sz="1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后续若连续读取字符（%c），前一个 scanf 遗留的回车换行会直接被当作字符读取。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9764" y="107950"/>
            <a:ext cx="67437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3.5.1 输入输出举例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6982734" y="12700"/>
            <a:ext cx="1143000" cy="635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CC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3.5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699500" y="737721"/>
            <a:ext cx="444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p65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072438" cy="26732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1.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函数输出一个字符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从计算机向显示器输出一个字符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函数的一般形式为：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putchar(c)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字符输入输出函数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714500"/>
            <a:ext cx="8072438" cy="3143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3.8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先后输出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BOY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三个字符。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个字符变量，分别赋以初值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O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Y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函数输出这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个字符变量的值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500188"/>
            <a:ext cx="8072438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char a='B',b='O',c='Y';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putchar(a);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putchar(b);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putchar(c);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 ('\n');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4143375" y="3571875"/>
            <a:ext cx="3429000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向显示器输出字符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4357688" y="5072063"/>
            <a:ext cx="3643312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向显示器输出换行符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5715000"/>
            <a:ext cx="903288" cy="5000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AutoShape 1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500188"/>
            <a:ext cx="8072438" cy="5072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main ( )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char a='B',b='O',c='Y';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putchar(a);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putchar(b);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putchar(c);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putchar ('\n');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40601" y="5098289"/>
            <a:ext cx="903287" cy="50006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3286125" y="2000250"/>
            <a:ext cx="4957763" cy="642938"/>
          </a:xfrm>
          <a:prstGeom prst="wedgeRoundRectCallout">
            <a:avLst>
              <a:gd name="adj1" fmla="val -36167"/>
              <a:gd name="adj2" fmla="val 107532"/>
              <a:gd name="adj3" fmla="val 16667"/>
            </a:avLst>
          </a:prstGeom>
          <a:solidFill>
            <a:srgbClr val="FFFFCC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改为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 a=66,b=79,c=89;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kumimoji="0" lang="en-US" sz="4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42938" y="2071688"/>
            <a:ext cx="8143875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’\101’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(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输出字符Ａ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)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’\’’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(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输出单撇号字符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’)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643063"/>
            <a:ext cx="7715250" cy="30718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206500" indent="-406400"/>
            <a:lvl3pPr marL="1663700" indent="-406400"/>
            <a:lvl4pPr marL="2120900" indent="-406400"/>
            <a:lvl5pPr marL="2578100" indent="-406400"/>
            <a:lvl6pPr marL="3035300" indent="-406400"/>
            <a:lvl7pPr marL="3492500" indent="-406400"/>
            <a:lvl8pPr marL="3949700" indent="-406400"/>
            <a:lvl9pPr marL="4406900" indent="-4064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2.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getchar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函数输入一个字符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向计算机输入一个字符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getchar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函数的一般形式为：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           getchar( )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51692" y="1643063"/>
            <a:ext cx="8077933" cy="39290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749300" indent="-406400" algn="l">
              <a:lnSpc>
                <a:spcPct val="117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  <a:lvl2pPr marL="1098550" indent="-355600"/>
            <a:lvl3pPr marL="1447800" indent="-355600"/>
            <a:lvl4pPr marL="1797050" indent="-355600"/>
            <a:lvl5pPr marL="2146300" indent="-355600"/>
            <a:lvl6pPr marL="2495550" indent="-355600"/>
            <a:lvl7pPr marL="2844800" indent="-355600"/>
            <a:lvl8pPr marL="3194050" indent="-355600"/>
            <a:lvl9pPr marL="3543300" indent="-355600"/>
          </a:lstStyle>
          <a:p>
            <a:pPr marL="342900" indent="-342900" algn="l">
              <a:lnSpc>
                <a:spcPct val="117000"/>
              </a:lnSpc>
              <a:spcBef>
                <a:spcPct val="20000"/>
              </a:spcBef>
            </a:pP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3.9 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从键盘输入</a:t>
            </a:r>
            <a:r>
              <a:rPr lang="en-US" sz="32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BOY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三个字符，然后把它们输出到屏幕。</a:t>
            </a:r>
          </a:p>
          <a:p>
            <a:pPr marL="342900" indent="-34290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Ø"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解题思路：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3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getchar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函数先后从键盘向计算机输入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BOY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三个字符</a:t>
            </a:r>
          </a:p>
          <a:p>
            <a:pPr marL="742950" lvl="1" indent="-285750" algn="l">
              <a:lnSpc>
                <a:spcPct val="117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/>
              <a:buChar char="u"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</a:t>
            </a: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putchar</a:t>
            </a: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函数输出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7603"/>
          <a:stretch>
            <a:fillRect/>
          </a:stretch>
        </p:blipFill>
        <p:spPr>
          <a:xfrm>
            <a:off x="0" y="1944254"/>
            <a:ext cx="9144000" cy="49137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p78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-4762" y="1421034"/>
            <a:ext cx="52531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键盘输入与输入缓冲区示意图</a:t>
            </a:r>
            <a:endParaRPr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109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 main ( )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char a,b,c;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putchar(a); putchar(b); putchar(c);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putchar('\n');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143375" y="3071813"/>
            <a:ext cx="4357688" cy="54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输入一个字符，送给变量</a:t>
            </a: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29125" y="5630863"/>
            <a:ext cx="1214438" cy="51276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29125" y="5143500"/>
            <a:ext cx="1214438" cy="51276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AutoShape 1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p77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110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  <a:endParaRPr lang="en-US" sz="1100"/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 main ( )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char a,b,c;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putchar(a); putchar(b); putchar(c);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putchar('\n');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p78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02757" y="4456113"/>
            <a:ext cx="500062" cy="800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02757" y="5256213"/>
            <a:ext cx="500062" cy="8001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4909038" y="1685192"/>
            <a:ext cx="3355731" cy="1274885"/>
          </a:xfrm>
          <a:prstGeom prst="roundRect">
            <a:avLst>
              <a:gd name="adj" fmla="val 0"/>
            </a:avLst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>
            <a:lvl2pPr marL="457200" indent="0"/>
            <a:lvl3pPr marL="914400" indent="0"/>
            <a:lvl4pPr marL="1371600" indent="0"/>
            <a:lvl5pPr marL="1828800" indent="0"/>
            <a:lvl6pPr marL="2286000" indent="0"/>
            <a:lvl7pPr marL="2743200" indent="0"/>
            <a:lvl8pPr marL="3200400" indent="0"/>
            <a:lvl9pPr marL="3657600" indent="0"/>
          </a:lstStyle>
          <a:p>
            <a:pPr marL="457200" lvl="1" indent="0" algn="l">
              <a:lnSpc>
                <a:spcPct val="125000"/>
              </a:lnSpc>
              <a:defRPr/>
            </a:pPr>
            <a:r>
              <a:rPr lang="en-US" sz="2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如果运行时，每输入一个字符后马上按ENTER键，会得到什么结果？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111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14375" y="1500188"/>
            <a:ext cx="7715250" cy="5214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#include &lt;stdio.h&gt;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int  main ( )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{ char a,b,c;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a=getchar();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b=getchar();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c=getchar();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putchar(a); putchar(b); putchar(c);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putchar('\n');                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  return 0;</a:t>
            </a: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</a:pPr>
            <a:r>
              <a:rPr lang="en-US" sz="28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}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778986" y="3120537"/>
            <a:ext cx="3797300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a=putchar(getchar());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b=putchar(getchar());</a:t>
            </a:r>
          </a:p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0000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c=putchar(getchar());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71563" y="3071813"/>
            <a:ext cx="2714625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00125" y="4572000"/>
            <a:ext cx="2571750" cy="571500"/>
          </a:xfrm>
          <a:prstGeom prst="rect">
            <a:avLst/>
          </a:pr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643" y="819150"/>
            <a:ext cx="7569200" cy="5207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st="38100" dir="3378595" algn="ctr">
              <a:srgbClr val="DDDDDD">
                <a:alpha val="100000"/>
              </a:srgbClr>
            </a:outerShdw>
          </a:effectLst>
        </p:spPr>
        <p:txBody>
          <a:bodyPr vert="horz" wrap="square" lIns="91440" tIns="45720" rIns="91440" bIns="45720" rtlCol="0" anchor="b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3.5 数据的输入输出  3.5.5 字符数据的输入输出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78986" y="1905000"/>
            <a:ext cx="3971192" cy="1084385"/>
          </a:xfrm>
          <a:prstGeom prst="wedgeRectCallout">
            <a:avLst/>
          </a:prstGeom>
          <a:solidFill>
            <a:srgbClr val="FAF1D1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将接收到的字符输出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263313" y="774700"/>
            <a:ext cx="774700" cy="533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p78</a:t>
            </a:r>
            <a:endParaRPr lang="en-US" sz="11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75448" y="1844675"/>
            <a:ext cx="5148580" cy="2616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第三章作业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p80-81</a:t>
            </a:r>
          </a:p>
          <a:p>
            <a:pPr marL="0" indent="0" algn="ctr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习题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5400" b="0" i="0" u="none" strike="noStrike">
                <a:solidFill>
                  <a:srgbClr val="000000"/>
                </a:solidFill>
                <a:effectLst>
                  <a:outerShdw blurRad="38100" dist="12700" dir="2700000">
                    <a:srgbClr val="000000">
                      <a:alpha val="4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</a:p>
        </p:txBody>
      </p:sp>
      <p:sp>
        <p:nvSpPr>
          <p:cNvPr id="3" name="AutoShape 3"/>
          <p:cNvSpPr txBox="1"/>
          <p:nvPr/>
        </p:nvSpPr>
        <p:spPr>
          <a:xfrm>
            <a:off x="-4762" y="0"/>
            <a:ext cx="65024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第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章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最简单的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r>
              <a:rPr lang="en-US" sz="4200" b="1" i="0" u="none" strike="noStrike">
                <a:solidFill>
                  <a:srgbClr val="800000"/>
                </a:solidFill>
                <a:effectLst>
                  <a:outerShdw blurRad="38100" dist="38100" dir="2700000">
                    <a:srgbClr val="000000">
                      <a:alpha val="100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程序设计</a:t>
            </a:r>
            <a:endParaRPr lang="en-US" sz="11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113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135309480223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1600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21177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2484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28315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3291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35182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38335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43115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46139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50572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5300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56051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60442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63506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66052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69267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MultipleChoiceMA"/>
  <p:tag name="RAINPROBLEM" val="MultipleChoiceMA"/>
  <p:tag name="PROBLEMSCORE_HALF" val="0.0"/>
  <p:tag name="PROBLEMSCORE" val="5.0"/>
  <p:tag name="PROBLEMHASREMARK" val="False"/>
  <p:tag name="LOCALSLIDEID" val="1791359308309105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75297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78703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83151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86243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9308328220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9308331570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9308335176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9308338772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9308340122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89192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91481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9526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897318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02749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True"/>
  <p:tag name="LOCALSLIDEID" val="17913726119964709"/>
  <p:tag name="PROBLEMREMARK" val="▶ 第 32 张 · 随堂题②（字符型占几字节，单选）&#10;第二题：'C 语言中字符型数据占几个字节？'选项有 2、4、1、用户自定义。答案干脆：1 个字节，选 1。char 天生就是一个字节，不像 int 那样 2 或 4 要看环境。也正因为它只有一个字节、存的是一个 0~255 的小整数，C 才把它当整数家族最小的那只盒子——这是后面能拿 char 做加减的另一层伏笔。这题是白送的分。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11082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LOCALSLIDEID" val="1791372612021110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LOCALSLIDEID" val="1791372612051381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19122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22728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7261205441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77020438218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79105456157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72612057954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72612060500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26781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30716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33480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36499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38177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41234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44151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50289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53452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57126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60600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67779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703068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77491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78989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826026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85770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88153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91493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94528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96503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4998150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00025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03312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06334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09277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11308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13264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154238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173876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20518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249609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27429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28316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32729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39055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41408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43850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45849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47887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502436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522126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54861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56742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58756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60440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62850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64702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705808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7366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752338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76455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78412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803325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829149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85568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88154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90069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933497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95158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97270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099269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02776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04780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06830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098176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12180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14634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17351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198229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3530951214306"/>
</p:tagLst>
</file>

<file path=ppt/theme/theme1.xml><?xml version="1.0" encoding="utf-8"?>
<a:theme xmlns:a="http://schemas.openxmlformats.org/drawingml/2006/main" name="2_Bold Strip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16149</Words>
  <Application>Microsoft Office PowerPoint</Application>
  <PresentationFormat>全屏显示(4:3)</PresentationFormat>
  <Paragraphs>1714</Paragraphs>
  <Slides>113</Slides>
  <Notes>113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113</vt:i4>
      </vt:variant>
    </vt:vector>
  </HeadingPairs>
  <TitlesOfParts>
    <vt:vector size="125" baseType="lpstr">
      <vt:lpstr>Noto Sans SC</vt:lpstr>
      <vt:lpstr>黑体</vt:lpstr>
      <vt:lpstr>华文楷体</vt:lpstr>
      <vt:lpstr>微软雅黑</vt:lpstr>
      <vt:lpstr>微软雅黑</vt:lpstr>
      <vt:lpstr>Arial</vt:lpstr>
      <vt:lpstr>Cambria Math</vt:lpstr>
      <vt:lpstr>Symbol</vt:lpstr>
      <vt:lpstr>Times New Roman</vt:lpstr>
      <vt:lpstr>Verdana</vt:lpstr>
      <vt:lpstr>Wingdings</vt:lpstr>
      <vt:lpstr>2_Bold Stripes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a669</cp:lastModifiedBy>
  <cp:revision>71</cp:revision>
  <dcterms:created xsi:type="dcterms:W3CDTF">2026-10-03T14:32:12Z</dcterms:created>
  <dcterms:modified xsi:type="dcterms:W3CDTF">2026-10-16T01:28:45Z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F5510AE203EA4AB5B8679FFA66CDE684_12</vt:lpwstr>
  </property>
</Properties>
</file>