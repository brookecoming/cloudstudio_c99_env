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</p:sldIdLst>
  <p:sldSz cx="9144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00" Target="slides/slide92.xml" Type="http://schemas.openxmlformats.org/officeDocument/2006/relationships/slide"/><Relationship Id="rId101" Target="slides/slide93.xml" Type="http://schemas.openxmlformats.org/officeDocument/2006/relationships/slide"/><Relationship Id="rId102" Target="slides/slide94.xml" Type="http://schemas.openxmlformats.org/officeDocument/2006/relationships/slide"/><Relationship Id="rId103" Target="slides/slide95.xml" Type="http://schemas.openxmlformats.org/officeDocument/2006/relationships/slide"/><Relationship Id="rId104" Target="slides/slide96.xml" Type="http://schemas.openxmlformats.org/officeDocument/2006/relationships/slide"/><Relationship Id="rId105" Target="slides/slide97.xml" Type="http://schemas.openxmlformats.org/officeDocument/2006/relationships/slide"/><Relationship Id="rId106" Target="slides/slide98.xml" Type="http://schemas.openxmlformats.org/officeDocument/2006/relationships/slide"/><Relationship Id="rId107" Target="slides/slide99.xml" Type="http://schemas.openxmlformats.org/officeDocument/2006/relationships/slide"/><Relationship Id="rId108" Target="slides/slide100.xml" Type="http://schemas.openxmlformats.org/officeDocument/2006/relationships/slide"/><Relationship Id="rId109" Target="slides/slide101.xml" Type="http://schemas.openxmlformats.org/officeDocument/2006/relationships/slide"/><Relationship Id="rId11" Target="slides/slide3.xml" Type="http://schemas.openxmlformats.org/officeDocument/2006/relationships/slide"/><Relationship Id="rId110" Target="slides/slide102.xml" Type="http://schemas.openxmlformats.org/officeDocument/2006/relationships/slide"/><Relationship Id="rId111" Target="slides/slide103.xml" Type="http://schemas.openxmlformats.org/officeDocument/2006/relationships/slide"/><Relationship Id="rId112" Target="slides/slide104.xml" Type="http://schemas.openxmlformats.org/officeDocument/2006/relationships/slide"/><Relationship Id="rId113" Target="slides/slide105.xml" Type="http://schemas.openxmlformats.org/officeDocument/2006/relationships/slide"/><Relationship Id="rId114" Target="slides/slide106.xml" Type="http://schemas.openxmlformats.org/officeDocument/2006/relationships/slide"/><Relationship Id="rId115" Target="slides/slide107.xml" Type="http://schemas.openxmlformats.org/officeDocument/2006/relationships/slide"/><Relationship Id="rId116" Target="notesSlides/notesSlide1.xml" Type="http://schemas.openxmlformats.org/officeDocument/2006/relationships/notesSlide"/><Relationship Id="rId117" Target="notesSlides/notesSlide2.xml" Type="http://schemas.openxmlformats.org/officeDocument/2006/relationships/notesSlide"/><Relationship Id="rId118" Target="notesSlides/notesSlide3.xml" Type="http://schemas.openxmlformats.org/officeDocument/2006/relationships/notesSlide"/><Relationship Id="rId119" Target="notesSlides/notesSlide4.xml" Type="http://schemas.openxmlformats.org/officeDocument/2006/relationships/notesSlide"/><Relationship Id="rId12" Target="slides/slide4.xml" Type="http://schemas.openxmlformats.org/officeDocument/2006/relationships/slide"/><Relationship Id="rId120" Target="notesSlides/notesSlide5.xml" Type="http://schemas.openxmlformats.org/officeDocument/2006/relationships/notesSlide"/><Relationship Id="rId121" Target="notesSlides/notesSlide6.xml" Type="http://schemas.openxmlformats.org/officeDocument/2006/relationships/notesSlide"/><Relationship Id="rId122" Target="notesSlides/notesSlide7.xml" Type="http://schemas.openxmlformats.org/officeDocument/2006/relationships/notesSlide"/><Relationship Id="rId123" Target="notesSlides/notesSlide8.xml" Type="http://schemas.openxmlformats.org/officeDocument/2006/relationships/notesSlide"/><Relationship Id="rId124" Target="notesSlides/notesSlide9.xml" Type="http://schemas.openxmlformats.org/officeDocument/2006/relationships/notesSlide"/><Relationship Id="rId125" Target="notesSlides/notesSlide10.xml" Type="http://schemas.openxmlformats.org/officeDocument/2006/relationships/notesSlide"/><Relationship Id="rId126" Target="notesSlides/notesSlide11.xml" Type="http://schemas.openxmlformats.org/officeDocument/2006/relationships/notesSlide"/><Relationship Id="rId127" Target="notesSlides/notesSlide12.xml" Type="http://schemas.openxmlformats.org/officeDocument/2006/relationships/notesSlide"/><Relationship Id="rId128" Target="notesSlides/notesSlide13.xml" Type="http://schemas.openxmlformats.org/officeDocument/2006/relationships/notesSlide"/><Relationship Id="rId129" Target="notesSlides/notesSlide14.xml" Type="http://schemas.openxmlformats.org/officeDocument/2006/relationships/notesSlide"/><Relationship Id="rId13" Target="slides/slide5.xml" Type="http://schemas.openxmlformats.org/officeDocument/2006/relationships/slide"/><Relationship Id="rId130" Target="notesSlides/notesSlide15.xml" Type="http://schemas.openxmlformats.org/officeDocument/2006/relationships/notesSlide"/><Relationship Id="rId131" Target="notesSlides/notesSlide16.xml" Type="http://schemas.openxmlformats.org/officeDocument/2006/relationships/notesSlide"/><Relationship Id="rId132" Target="notesSlides/notesSlide17.xml" Type="http://schemas.openxmlformats.org/officeDocument/2006/relationships/notesSlide"/><Relationship Id="rId133" Target="notesSlides/notesSlide18.xml" Type="http://schemas.openxmlformats.org/officeDocument/2006/relationships/notesSlide"/><Relationship Id="rId134" Target="notesSlides/notesSlide19.xml" Type="http://schemas.openxmlformats.org/officeDocument/2006/relationships/notesSlide"/><Relationship Id="rId135" Target="notesSlides/notesSlide20.xml" Type="http://schemas.openxmlformats.org/officeDocument/2006/relationships/notesSlide"/><Relationship Id="rId136" Target="notesSlides/notesSlide21.xml" Type="http://schemas.openxmlformats.org/officeDocument/2006/relationships/notesSlide"/><Relationship Id="rId137" Target="notesSlides/notesSlide22.xml" Type="http://schemas.openxmlformats.org/officeDocument/2006/relationships/notesSlide"/><Relationship Id="rId138" Target="notesSlides/notesSlide23.xml" Type="http://schemas.openxmlformats.org/officeDocument/2006/relationships/notesSlide"/><Relationship Id="rId139" Target="notesSlides/notesSlide24.xml" Type="http://schemas.openxmlformats.org/officeDocument/2006/relationships/notesSlide"/><Relationship Id="rId14" Target="slides/slide6.xml" Type="http://schemas.openxmlformats.org/officeDocument/2006/relationships/slide"/><Relationship Id="rId140" Target="notesSlides/notesSlide25.xml" Type="http://schemas.openxmlformats.org/officeDocument/2006/relationships/notes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slides/slide37.xml" Type="http://schemas.openxmlformats.org/officeDocument/2006/relationships/slide"/><Relationship Id="rId46" Target="slides/slide38.xml" Type="http://schemas.openxmlformats.org/officeDocument/2006/relationships/slide"/><Relationship Id="rId47" Target="slides/slide39.xml" Type="http://schemas.openxmlformats.org/officeDocument/2006/relationships/slide"/><Relationship Id="rId48" Target="slides/slide40.xml" Type="http://schemas.openxmlformats.org/officeDocument/2006/relationships/slide"/><Relationship Id="rId49" Target="slides/slide41.xml" Type="http://schemas.openxmlformats.org/officeDocument/2006/relationships/slide"/><Relationship Id="rId50" Target="slides/slide42.xml" Type="http://schemas.openxmlformats.org/officeDocument/2006/relationships/slide"/><Relationship Id="rId51" Target="slides/slide43.xml" Type="http://schemas.openxmlformats.org/officeDocument/2006/relationships/slide"/><Relationship Id="rId52" Target="slides/slide44.xml" Type="http://schemas.openxmlformats.org/officeDocument/2006/relationships/slide"/><Relationship Id="rId53" Target="slides/slide45.xml" Type="http://schemas.openxmlformats.org/officeDocument/2006/relationships/slide"/><Relationship Id="rId54" Target="slides/slide46.xml" Type="http://schemas.openxmlformats.org/officeDocument/2006/relationships/slide"/><Relationship Id="rId55" Target="slides/slide47.xml" Type="http://schemas.openxmlformats.org/officeDocument/2006/relationships/slide"/><Relationship Id="rId56" Target="slides/slide48.xml" Type="http://schemas.openxmlformats.org/officeDocument/2006/relationships/slide"/><Relationship Id="rId57" Target="slides/slide49.xml" Type="http://schemas.openxmlformats.org/officeDocument/2006/relationships/slide"/><Relationship Id="rId58" Target="slides/slide50.xml" Type="http://schemas.openxmlformats.org/officeDocument/2006/relationships/slide"/><Relationship Id="rId59" Target="slides/slide51.xml" Type="http://schemas.openxmlformats.org/officeDocument/2006/relationships/slide"/><Relationship Id="rId6" Target="notesMasters/notesMaster1.xml" Type="http://schemas.openxmlformats.org/officeDocument/2006/relationships/notesMaster"/><Relationship Id="rId60" Target="slides/slide52.xml" Type="http://schemas.openxmlformats.org/officeDocument/2006/relationships/slide"/><Relationship Id="rId61" Target="slides/slide53.xml" Type="http://schemas.openxmlformats.org/officeDocument/2006/relationships/slide"/><Relationship Id="rId62" Target="slides/slide54.xml" Type="http://schemas.openxmlformats.org/officeDocument/2006/relationships/slide"/><Relationship Id="rId63" Target="slides/slide55.xml" Type="http://schemas.openxmlformats.org/officeDocument/2006/relationships/slide"/><Relationship Id="rId64" Target="slides/slide56.xml" Type="http://schemas.openxmlformats.org/officeDocument/2006/relationships/slide"/><Relationship Id="rId65" Target="slides/slide57.xml" Type="http://schemas.openxmlformats.org/officeDocument/2006/relationships/slide"/><Relationship Id="rId66" Target="slides/slide58.xml" Type="http://schemas.openxmlformats.org/officeDocument/2006/relationships/slide"/><Relationship Id="rId67" Target="slides/slide59.xml" Type="http://schemas.openxmlformats.org/officeDocument/2006/relationships/slide"/><Relationship Id="rId68" Target="slides/slide60.xml" Type="http://schemas.openxmlformats.org/officeDocument/2006/relationships/slide"/><Relationship Id="rId69" Target="slides/slide61.xml" Type="http://schemas.openxmlformats.org/officeDocument/2006/relationships/slide"/><Relationship Id="rId7" Target="theme/theme2.xml" Type="http://schemas.openxmlformats.org/officeDocument/2006/relationships/theme"/><Relationship Id="rId70" Target="slides/slide62.xml" Type="http://schemas.openxmlformats.org/officeDocument/2006/relationships/slide"/><Relationship Id="rId71" Target="slides/slide63.xml" Type="http://schemas.openxmlformats.org/officeDocument/2006/relationships/slide"/><Relationship Id="rId72" Target="slides/slide64.xml" Type="http://schemas.openxmlformats.org/officeDocument/2006/relationships/slide"/><Relationship Id="rId73" Target="slides/slide65.xml" Type="http://schemas.openxmlformats.org/officeDocument/2006/relationships/slide"/><Relationship Id="rId74" Target="slides/slide66.xml" Type="http://schemas.openxmlformats.org/officeDocument/2006/relationships/slide"/><Relationship Id="rId75" Target="slides/slide67.xml" Type="http://schemas.openxmlformats.org/officeDocument/2006/relationships/slide"/><Relationship Id="rId76" Target="slides/slide68.xml" Type="http://schemas.openxmlformats.org/officeDocument/2006/relationships/slide"/><Relationship Id="rId77" Target="slides/slide69.xml" Type="http://schemas.openxmlformats.org/officeDocument/2006/relationships/slide"/><Relationship Id="rId78" Target="slides/slide70.xml" Type="http://schemas.openxmlformats.org/officeDocument/2006/relationships/slide"/><Relationship Id="rId79" Target="slides/slide71.xml" Type="http://schemas.openxmlformats.org/officeDocument/2006/relationships/slide"/><Relationship Id="rId8" Target="slideMasters/slideMaster2.xml" Type="http://schemas.openxmlformats.org/officeDocument/2006/relationships/slideMaster"/><Relationship Id="rId80" Target="slides/slide72.xml" Type="http://schemas.openxmlformats.org/officeDocument/2006/relationships/slide"/><Relationship Id="rId81" Target="slides/slide73.xml" Type="http://schemas.openxmlformats.org/officeDocument/2006/relationships/slide"/><Relationship Id="rId82" Target="slides/slide74.xml" Type="http://schemas.openxmlformats.org/officeDocument/2006/relationships/slide"/><Relationship Id="rId83" Target="slides/slide75.xml" Type="http://schemas.openxmlformats.org/officeDocument/2006/relationships/slide"/><Relationship Id="rId84" Target="slides/slide76.xml" Type="http://schemas.openxmlformats.org/officeDocument/2006/relationships/slide"/><Relationship Id="rId85" Target="slides/slide77.xml" Type="http://schemas.openxmlformats.org/officeDocument/2006/relationships/slide"/><Relationship Id="rId86" Target="slides/slide78.xml" Type="http://schemas.openxmlformats.org/officeDocument/2006/relationships/slide"/><Relationship Id="rId87" Target="slides/slide79.xml" Type="http://schemas.openxmlformats.org/officeDocument/2006/relationships/slide"/><Relationship Id="rId88" Target="slides/slide80.xml" Type="http://schemas.openxmlformats.org/officeDocument/2006/relationships/slide"/><Relationship Id="rId89" Target="slides/slide81.xml" Type="http://schemas.openxmlformats.org/officeDocument/2006/relationships/slide"/><Relationship Id="rId9" Target="slides/slide1.xml" Type="http://schemas.openxmlformats.org/officeDocument/2006/relationships/slide"/><Relationship Id="rId90" Target="slides/slide82.xml" Type="http://schemas.openxmlformats.org/officeDocument/2006/relationships/slide"/><Relationship Id="rId91" Target="slides/slide83.xml" Type="http://schemas.openxmlformats.org/officeDocument/2006/relationships/slide"/><Relationship Id="rId92" Target="slides/slide84.xml" Type="http://schemas.openxmlformats.org/officeDocument/2006/relationships/slide"/><Relationship Id="rId93" Target="slides/slide85.xml" Type="http://schemas.openxmlformats.org/officeDocument/2006/relationships/slide"/><Relationship Id="rId94" Target="slides/slide86.xml" Type="http://schemas.openxmlformats.org/officeDocument/2006/relationships/slide"/><Relationship Id="rId95" Target="slides/slide87.xml" Type="http://schemas.openxmlformats.org/officeDocument/2006/relationships/slide"/><Relationship Id="rId96" Target="slides/slide88.xml" Type="http://schemas.openxmlformats.org/officeDocument/2006/relationships/slide"/><Relationship Id="rId97" Target="slides/slide89.xml" Type="http://schemas.openxmlformats.org/officeDocument/2006/relationships/slide"/><Relationship Id="rId98" Target="slides/slide90.xml" Type="http://schemas.openxmlformats.org/officeDocument/2006/relationships/slide"/><Relationship Id="rId99" Target="slides/slide9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9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0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1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3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4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5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2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4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5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6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7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8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B ,参考前面VC++的向零取整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c,参考前面VC++的向零取整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红字部分是描述错误、结论错误。那句把「int 与 float 或 double」一律先升成 double、结果也是 double 的说法，对现代 C/C++ 的算术表达式并不成立。标准里的规则是：有 double 才升到 double；只有 int 和 float 时，是把 int 转成 float，结果也是 float。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前半句完全正确，满分！但你的后半句，大错特错，这是无数程序员最致命的幻觉！
咱们直接把这事儿掰碎了看，以最常见的局部变量（比如函数里的 int a;）为例：
1. 声明：确实是编译器的“财务记账”（你这半句理解得极准）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你写下 int a; 的时候，就等于公司年底做明年的 HC（招聘名额）预算。编译器（大厂HR）在它的“符号表”这个小本本上记了一笔：“明年架构组需要一个占4字节的打工人，代号叫 a”。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此时，没有任何物理内存被分配，CPU甚至还在马尔代夫度假，这纯粹是纸上谈兵。
2. 分配内存：并不是在“使用”时，而是在“进门”的那一瞬间！（这是你理解错的地方）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你以为是执行到 a = 100; 时才去申请内存？错！真实的底层黑帮规矩是：进门就暴力包场。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当程序运行，你一脚踏进这个函数大门的第一秒，CPU 会立刻执行一条底层指令（比如汇编里的 sub rsp, XX）。这条指令就像黑社会老大踹开酒店大门，大喊一声：“这一层我全包了！”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它会把这个函数里所有声明过的局部变量所需要的内存空间，一次性、瞬间全部抢占下来。哪怕你的变量 a 是在函数最后一行才使用，它的坑位在进函数的第一秒就已经被强行占好了。
3. 使用（赋值）：根本不分配资源，只是“拎包入住”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当你代码终于执行到 a = 100; 这行所谓的“使用”语句时，系统绝对不会再去现找内存、现分配资源！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分配资源的脏活累活早就干完了。此时的 CPU 就像个无情的快递分拣员，它只是把 100 这个数据，硬生生地塞进那个早就预留好的、沾着上一个客人烟味的坑位里。这叫纯粹的数据搬运（拎包入住），不产生任何空间分配的开销。
总结成一句大白话：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声明，是提前画图纸；分配内存，是你踏进函数大门的那一瞬间一次性把地皮全圈好；而使用（赋值），仅仅是把家具搬进早就建好的毛坯房里！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千万别把“赋值（放家具）”和“分配内存（圈地盖房）”混为一谈，底层的速度之所以快，就是因为它绝不会等你跑到跟前了，才现找木匠给你打椅子！明白了吗？明白了咱们随时可以继续整活！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同学们，看大屏幕上这两个东西：左边是 a = 5，右边是 a = 5;。很多初学者写代码全凭感觉，漏了分号编译器一报错，就顺手补一个，嘴里还念叨：“害，不就是少了个句号嘛，它俩干的事难道不一样？”
今天我把话放这儿：在 C 语言的底层世界里，这两个东西根本不在同一个维度！把分号当成语文里的“句号”，是你踏入 C 语言踩到的第一个思维巨坑。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为什么说它们完全不同？看这组对比。
很多人以为 a = 5 就是把 5 放进 a，任务完成。错！在 C 语言中，= 是运算符，不是终点。a = 5 是一个表达式，它不仅会把 5 放进 a，它自己身上还揣着一个返回值——数字 5！它就像一个拿着发票去报销的职员，不仅办了事，手里还攥着凭证，随时可以塞进外层的运算里。
那加上那个分号的 a = 5; 是什么？分号不是句号，分号是吞噬者。分号把一个充满可能性的表达式，硬生生砸成了一个独立的语句。它命令 CPU：“把这事干完，然后把它所有的返回值立刻扔进垃圾桶，彻底清空！”
现在明白为什么 if (a = 5) 能跑，而 if (a = 5;) 编译器直接砸你脸上了吗？因为 if 门前需要一个能换算成真假的值，你加了分号把值给当场销毁了，if 拿空气去判断啊？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中央：计算机主机，包含 CPU 和 内存
左侧：输入设备，箭头指向内存，标注 “输入：外设 → 内存”
右侧：输出设备，箭头从内存指向外设，标注 “输出：内存 → 外设”
底部补充输入、处理、输出三个环节，便于课堂讲解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输入输出的主体：计算机主机（内存/CPU）。从外设到内存为“输入”，从内存到外设为“输出”。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无 I/O 语句：C 语言为了精简语法、提高可移植性，语法本身不包含输入输出语句，printf、scanf 是库函数而非关键字。
头文件的作用：stdio.h（Standard Input &amp; Output Header）提供标准 I/O 库函数的声明、宏定义及类型支持；#include 在预处理阶段将文件内容完整展开替换。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C 语言标准库中的 字符与字符串输入输出函数（本质是库函数，而非 C 语言的关键字或底层命令）。它们都需要在程序开头包含头文件 #include &lt;stdio.h&gt;。
getchar()：从标准输入（通常是键盘）读取并返回单个字符。
putchar()：向标准输出（通常是屏幕）输出并显示单个字符。
gets()：从标准输入读取一整行字符串（注意：由于该函数无法检查缓冲区大小，存在严重的缓冲区溢出安全隐患，已在 C99 标准中被标记为废弃，并在 C11 标准中被彻底移除，实际开发中应用 fgets() 代替）。
puts()：向标准输出输出一个字符串，并自动在末尾追加一个换行符。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格式控制符 %20.15f 的含义
f：表示按浮点数（小数）形式输出。
.15：表示小数点后保留 15 位数字。
20：表示整个输出结果的最小宽度为 20 个字符。如果实际输出长度不足 20 个字符，左边会自动补空格（右对齐）。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3.jpeg" Type="http://schemas.openxmlformats.org/officeDocument/2006/relationships/image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4.jpe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5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6.png" Type="http://schemas.openxmlformats.org/officeDocument/2006/relationships/image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7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mpd="sng" cap="flat">
            <a:noFill/>
            <a:prstDash val="solid"/>
            <a:round/>
          </a:ln>
          <a:effectLst/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8263313" y="6613323"/>
            <a:ext cx="890212" cy="235152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布局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8263313" y="6623090"/>
            <a:ext cx="890212" cy="225385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771525"/>
            <a:ext cx="9144000" cy="630011"/>
          </a:xfrm>
          <a:prstGeom prst="roundRect">
            <a:avLst>
              <a:gd name="adj" fmla="val 0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457200" y="768350"/>
            <a:ext cx="3008313" cy="711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3575050" y="819029"/>
            <a:ext cx="5111750" cy="53071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1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8263313" y="6553382"/>
            <a:ext cx="890212" cy="30461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mpd="sng" cap="flat">
            <a:noFill/>
            <a:prstDash val="solid"/>
            <a:round/>
          </a:ln>
          <a:effectLst/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bg>
      <p:bgPr>
        <a:solidFill>
          <a:srgbClr val="F5F5DC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5240"/>
            <a:ext cx="9144000" cy="6827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0" type="body" sz="quarter" hasCustomPrompt="true"/>
          </p:nvPr>
        </p:nvSpPr>
        <p:spPr>
          <a:xfrm rot="0" flipH="false" flipV="false">
            <a:off x="1654491" y="5799569"/>
            <a:ext cx="54864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19197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PART1: 困局与迷思</a:t>
            </a:r>
          </a:p>
        </p:txBody>
      </p:sp>
      <p:sp>
        <p:nvSpPr>
          <p:cNvPr name="AutoShape 4" id="4"/>
          <p:cNvSpPr/>
          <p:nvPr>
            <p:ph idx="11" type="body" sz="quarter" hasCustomPrompt="true"/>
          </p:nvPr>
        </p:nvSpPr>
        <p:spPr>
          <a:xfrm rot="0" flipH="false" flipV="false">
            <a:off x="1536700" y="8382000"/>
            <a:ext cx="2540000" cy="609600"/>
          </a:xfrm>
          <a:prstGeom prst="rect">
            <a:avLst/>
          </a:prstGeom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Date</a:t>
            </a:r>
          </a:p>
        </p:txBody>
      </p:sp>
      <p:sp>
        <p:nvSpPr>
          <p:cNvPr name="AutoShape 5" id="5"/>
          <p:cNvSpPr/>
          <p:nvPr>
            <p:ph idx="12" type="body" sz="quarter" hasCustomPrompt="true"/>
          </p:nvPr>
        </p:nvSpPr>
        <p:spPr>
          <a:xfrm rot="0" flipH="false" flipV="false">
            <a:off x="8074814" y="6597690"/>
            <a:ext cx="1053311" cy="2253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6" id="6"/>
          <p:cNvSpPr/>
          <p:nvPr>
            <p:ph idx="13" type="body" sz="quarter" hasCustomPrompt="true"/>
          </p:nvPr>
        </p:nvSpPr>
        <p:spPr>
          <a:xfrm rot="0" flipH="false" flipV="false">
            <a:off x="577240" y="2043583"/>
            <a:ext cx="8094473" cy="2743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anchor="t" wrap="square" lIns="0" rIns="0" tIns="0" bIns="0"/>
          <a:lstStyle>
            <a:lvl1pPr algn="l">
              <a:lnSpc>
                <a:spcPct val="125000"/>
              </a:lnSpc>
              <a:defRPr sz="36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</a:t>
            </a: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25000"/>
              </a:lnSpc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布局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5240"/>
            <a:ext cx="9144000" cy="6827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4" type="body" sz="quarter" hasCustomPrompt="true"/>
          </p:nvPr>
        </p:nvSpPr>
        <p:spPr>
          <a:xfrm rot="0" flipH="false" flipV="false">
            <a:off x="8187113" y="6521490"/>
            <a:ext cx="783013" cy="225385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  <p:sp>
        <p:nvSpPr>
          <p:cNvPr name="AutoShape 4" id="4"/>
          <p:cNvSpPr/>
          <p:nvPr>
            <p:ph idx="15" type="body" sz="quarter" hasCustomPrompt="true"/>
          </p:nvPr>
        </p:nvSpPr>
        <p:spPr>
          <a:xfrm rot="0" flipH="false" flipV="false">
            <a:off x="1654491" y="5799569"/>
            <a:ext cx="54864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19197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PART2: 致命幻觉</a:t>
            </a:r>
          </a:p>
        </p:txBody>
      </p:sp>
      <p:sp>
        <p:nvSpPr>
          <p:cNvPr name="AutoShape 5" id="5"/>
          <p:cNvSpPr/>
          <p:nvPr>
            <p:ph idx="16" type="body" sz="quarter" hasCustomPrompt="true"/>
          </p:nvPr>
        </p:nvSpPr>
        <p:spPr>
          <a:xfrm rot="0" flipH="false" flipV="false">
            <a:off x="233367" y="1458834"/>
            <a:ext cx="4338633" cy="2616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anchor="t" wrap="square" lIns="0" rIns="0" tIns="0" bIns="0"/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15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幻觉</a:t>
            </a:r>
            <a:r>
              <a:rPr lang="en-US" b="true" i="false" strike="noStrike" u="none" sz="342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42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34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42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3400"/>
          </a:p>
          <a:p>
            <a:pPr algn="l">
              <a:lnSpc>
                <a:spcPct val="125000"/>
              </a:lnSpc>
            </a:pPr>
          </a:p>
        </p:txBody>
      </p:sp>
      <p:sp>
        <p:nvSpPr>
          <p:cNvPr name="AutoShape 6" id="6"/>
          <p:cNvSpPr/>
          <p:nvPr>
            <p:ph idx="17" type="body" sz="quarter" hasCustomPrompt="true"/>
          </p:nvPr>
        </p:nvSpPr>
        <p:spPr>
          <a:xfrm rot="0" flipH="false" flipV="false">
            <a:off x="4681913" y="1387191"/>
            <a:ext cx="4107872" cy="30099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anchor="t" wrap="square" lIns="0" rIns="0" tIns="0" bIns="0"/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1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真相：</a:t>
            </a:r>
            <a:r>
              <a:rPr lang="en-US" b="true" i="false" strike="noStrike" u="none" sz="3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25000"/>
              </a:lnSpc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布局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5240"/>
            <a:ext cx="9144000" cy="6827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8" type="body" sz="quarter" hasCustomPrompt="true"/>
          </p:nvPr>
        </p:nvSpPr>
        <p:spPr>
          <a:xfrm rot="0" flipH="false" flipV="false">
            <a:off x="1828800" y="6051590"/>
            <a:ext cx="54864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19197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PART 3: 核心重塑</a:t>
            </a:r>
          </a:p>
        </p:txBody>
      </p:sp>
      <p:sp>
        <p:nvSpPr>
          <p:cNvPr name="AutoShape 4" id="4"/>
          <p:cNvSpPr/>
          <p:nvPr>
            <p:ph idx="19" type="body" sz="quarter" hasCustomPrompt="true"/>
          </p:nvPr>
        </p:nvSpPr>
        <p:spPr>
          <a:xfrm rot="0" flipH="false" flipV="false">
            <a:off x="419811" y="1852448"/>
            <a:ext cx="2515837" cy="22860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anchor="t" wrap="square" lIns="0" rIns="0" tIns="0" bIns="0"/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  <p:sp>
        <p:nvSpPr>
          <p:cNvPr name="AutoShape 5" id="5"/>
          <p:cNvSpPr/>
          <p:nvPr>
            <p:ph idx="20" type="body" sz="quarter" hasCustomPrompt="true"/>
          </p:nvPr>
        </p:nvSpPr>
        <p:spPr>
          <a:xfrm rot="0" flipH="false" flipV="false">
            <a:off x="3345366" y="1852448"/>
            <a:ext cx="2247900" cy="2743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anchor="t" wrap="square" lIns="0" rIns="0" tIns="0" bIns="0"/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25000"/>
              </a:lnSpc>
            </a:pPr>
          </a:p>
        </p:txBody>
      </p:sp>
      <p:sp>
        <p:nvSpPr>
          <p:cNvPr name="AutoShape 6" id="6"/>
          <p:cNvSpPr/>
          <p:nvPr>
            <p:ph idx="21" type="body" sz="quarter" hasCustomPrompt="true"/>
          </p:nvPr>
        </p:nvSpPr>
        <p:spPr>
          <a:xfrm rot="0" flipH="false" flipV="false">
            <a:off x="6299200" y="1852448"/>
            <a:ext cx="2032000" cy="2743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anchor="t" wrap="square" lIns="0" rIns="0" tIns="0" bIns="0"/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25000"/>
              </a:lnSpc>
            </a:pPr>
          </a:p>
        </p:txBody>
      </p:sp>
      <p:sp>
        <p:nvSpPr>
          <p:cNvPr name="AutoShape 7" id="7"/>
          <p:cNvSpPr/>
          <p:nvPr>
            <p:ph idx="22" type="body" sz="quarter" hasCustomPrompt="true"/>
          </p:nvPr>
        </p:nvSpPr>
        <p:spPr>
          <a:xfrm rot="0" flipH="false" flipV="false">
            <a:off x="8161713" y="6508790"/>
            <a:ext cx="783013" cy="225385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" type="body" sz="quarter" hasCustomPrompt="true"/>
          </p:nvPr>
        </p:nvSpPr>
        <p:spPr>
          <a:xfrm rot="0" flipH="false" flipV="false">
            <a:off x="533400" y="762000"/>
            <a:ext cx="8162925" cy="762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4" type="body" sz="quarter" hasCustomPrompt="true"/>
          </p:nvPr>
        </p:nvSpPr>
        <p:spPr>
          <a:xfrm rot="0" flipH="false" flipV="false">
            <a:off x="539750" y="1628775"/>
            <a:ext cx="4000500" cy="449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98600" indent="-3556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25" type="body" sz="quarter" hasCustomPrompt="true"/>
          </p:nvPr>
        </p:nvSpPr>
        <p:spPr>
          <a:xfrm rot="0" flipH="false" flipV="false">
            <a:off x="4692650" y="1628775"/>
            <a:ext cx="4000500" cy="449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98600" indent="-3556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5" id="5"/>
          <p:cNvSpPr/>
          <p:nvPr>
            <p:ph idx="26" type="body" sz="quarter" hasCustomPrompt="true"/>
          </p:nvPr>
        </p:nvSpPr>
        <p:spPr>
          <a:xfrm rot="0" flipH="false" flipV="false">
            <a:off x="1536700" y="8382000"/>
            <a:ext cx="2540000" cy="609600"/>
          </a:xfrm>
          <a:prstGeom prst="rect">
            <a:avLst/>
          </a:prstGeom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Date</a:t>
            </a:r>
          </a:p>
        </p:txBody>
      </p:sp>
      <p:sp>
        <p:nvSpPr>
          <p:cNvPr name="AutoShape 6" id="6"/>
          <p:cNvSpPr/>
          <p:nvPr>
            <p:ph idx="27" type="body" sz="quarter" hasCustomPrompt="true"/>
          </p:nvPr>
        </p:nvSpPr>
        <p:spPr>
          <a:xfrm rot="0" flipH="false" flipV="false">
            <a:off x="8263313" y="6623090"/>
            <a:ext cx="890212" cy="2253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mpd="sng" cap="flat">
            <a:noFill/>
            <a:prstDash val="solid"/>
            <a:round/>
          </a:ln>
          <a:effectLst/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" type="body" sz="quarter" hasCustomPrompt="true"/>
          </p:nvPr>
        </p:nvSpPr>
        <p:spPr>
          <a:xfrm rot="0" flipH="false" flipV="false">
            <a:off x="8383270" y="6571037"/>
            <a:ext cx="767080" cy="293313"/>
          </a:xfrm>
          <a:prstGeom prst="rect">
            <a:avLst/>
          </a:prstGeom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3" id="3"/>
          <p:cNvSpPr/>
          <p:nvPr>
            <p:ph idx="29" type="body" sz="quarter" hasCustomPrompt="true"/>
          </p:nvPr>
        </p:nvSpPr>
        <p:spPr>
          <a:xfrm rot="0" flipH="false" flipV="false">
            <a:off x="779463" y="1690688"/>
            <a:ext cx="7678737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r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4" id="4"/>
          <p:cNvSpPr/>
          <p:nvPr>
            <p:ph idx="30" type="body" sz="quarter" hasCustomPrompt="true"/>
          </p:nvPr>
        </p:nvSpPr>
        <p:spPr>
          <a:xfrm rot="0" flipH="false" flipV="false">
            <a:off x="1073569" y="2860675"/>
            <a:ext cx="7384631" cy="3114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单击此处编辑母版副标题样式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-4002"/>
            <a:ext cx="9140545" cy="770321"/>
          </a:xfrm>
          <a:prstGeom prst="roundRect">
            <a:avLst>
              <a:gd name="adj" fmla="val 0"/>
            </a:avLst>
          </a:prstGeom>
          <a:gradFill rotWithShape="false">
            <a:gsLst>
              <a:gs pos="0">
                <a:srgbClr val="5E9EFF">
                  <a:alpha val="100000"/>
                </a:srgbClr>
              </a:gs>
              <a:gs pos="39998">
                <a:srgbClr val="85C2FF">
                  <a:alpha val="100000"/>
                </a:srgbClr>
              </a:gs>
              <a:gs pos="69999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/>
          </a:gra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024400" y="0"/>
            <a:ext cx="3007803" cy="76631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1680"/>
            <a:ext cx="9144000" cy="61363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31" type="body" sz="quarter" hasCustomPrompt="true"/>
          </p:nvPr>
        </p:nvSpPr>
        <p:spPr>
          <a:xfrm rot="0" flipH="false" flipV="false">
            <a:off x="8365680" y="6516867"/>
            <a:ext cx="778320" cy="341133"/>
          </a:xfrm>
          <a:prstGeom prst="rect">
            <a:avLst/>
          </a:prstGeom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 flipH="false" flipV="false">
            <a:off x="0" y="0"/>
            <a:ext cx="9144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32" type="body" sz="quarter" hasCustomPrompt="true"/>
          </p:nvPr>
        </p:nvSpPr>
        <p:spPr>
          <a:xfrm rot="0" flipH="false" flipV="false">
            <a:off x="8238004" y="6400800"/>
            <a:ext cx="905996" cy="457200"/>
          </a:xfrm>
          <a:prstGeom prst="rect">
            <a:avLst/>
          </a:prstGeom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 hasCustomPrompt="true"/>
          </p:nvPr>
        </p:nvSpPr>
        <p:spPr>
          <a:xfrm rot="0" flipH="false" flipV="false">
            <a:off x="8196435" y="6484896"/>
            <a:ext cx="947565" cy="373104"/>
          </a:xfrm>
          <a:prstGeom prst="rect">
            <a:avLst/>
          </a:prstGeom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9.xml" Type="http://schemas.openxmlformats.org/officeDocument/2006/relationships/slideLayout"/><Relationship Id="rId11" Target="../slideLayouts/slideLayout20.xml" Type="http://schemas.openxmlformats.org/officeDocument/2006/relationships/slideLayout"/><Relationship Id="rId12" Target="../slideLayouts/slideLayout21.xml" Type="http://schemas.openxmlformats.org/officeDocument/2006/relationships/slideLayout"/><Relationship Id="rId13" Target="../slideLayouts/slideLayout22.xml" Type="http://schemas.openxmlformats.org/officeDocument/2006/relationships/slideLayout"/><Relationship Id="rId2" Target="../media/image1.png" Type="http://schemas.openxmlformats.org/officeDocument/2006/relationships/image"/><Relationship Id="rId3" Target="../slideLayouts/slideLayout12.xml" Type="http://schemas.openxmlformats.org/officeDocument/2006/relationships/slideLayout"/><Relationship Id="rId4" Target="../slideLayouts/slideLayout13.xml" Type="http://schemas.openxmlformats.org/officeDocument/2006/relationships/slideLayout"/><Relationship Id="rId5" Target="../slideLayouts/slideLayout14.xml" Type="http://schemas.openxmlformats.org/officeDocument/2006/relationships/slideLayout"/><Relationship Id="rId6" Target="../slideLayouts/slideLayout15.xml" Type="http://schemas.openxmlformats.org/officeDocument/2006/relationships/slideLayout"/><Relationship Id="rId7" Target="../slideLayouts/slideLayout16.xml" Type="http://schemas.openxmlformats.org/officeDocument/2006/relationships/slideLayout"/><Relationship Id="rId8" Target="../slideLayouts/slideLayout17.xml" Type="http://schemas.openxmlformats.org/officeDocument/2006/relationships/slideLayout"/><Relationship Id="rId9" Target="../slideLayouts/slideLayout1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2_Bold Stripes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533400" y="762000"/>
            <a:ext cx="8162925" cy="762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539750" y="1628775"/>
            <a:ext cx="8153400" cy="449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mpd="sng" cap="flat">
            <a:noFill/>
            <a:prstDash val="solid"/>
            <a:round/>
          </a:ln>
          <a:effectLst/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>
            <p:ph idx="3" type="body" sz="quarter" hasCustomPrompt="true"/>
          </p:nvPr>
        </p:nvSpPr>
        <p:spPr>
          <a:xfrm rot="0" flipH="false" flipV="false">
            <a:off x="8263313" y="6623090"/>
            <a:ext cx="890212" cy="225385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b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3"/>
    <p:sldLayoutId id="2157483700" r:id="rId4"/>
    <p:sldLayoutId id="2157483701" r:id="rId5"/>
    <p:sldLayoutId id="2157483702" r:id="rId6"/>
    <p:sldLayoutId id="2157483703" r:id="rId7"/>
    <p:sldLayoutId id="2157483704" r:id="rId8"/>
    <p:sldLayoutId id="2157483705" r:id="rId9"/>
    <p:sldLayoutId id="2157483706" r:id="rId10"/>
    <p:sldLayoutId id="2157483707" r:id="rId11"/>
    <p:sldLayoutId id="2157483708" r:id="rId12"/>
    <p:sldLayoutId id="215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15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44.xml.rels><?xml version="1.0" encoding="UTF-8" standalone="yes"?><Relationships xmlns="http://schemas.openxmlformats.org/package/2006/relationships"><Relationship Id="rId1" Target="../slideLayouts/slideLayout16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4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46.xml.rels><?xml version="1.0" encoding="UTF-8" standalone="yes"?><Relationships xmlns="http://schemas.openxmlformats.org/package/2006/relationships"><Relationship Id="rId1" Target="../slideLayouts/slideLayout20.xml" Type="http://schemas.openxmlformats.org/officeDocument/2006/relationships/slideLayout"/><Relationship Id="rId2" Target="../media/image14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4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20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15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60.xml.rels><?xml version="1.0" encoding="UTF-8" standalone="yes"?><Relationships xmlns="http://schemas.openxmlformats.org/package/2006/relationships"><Relationship Id="rId1" Target="../slideLayouts/slideLayout16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6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62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/Relationships>
</file>

<file path=ppt/slides/_rels/slide63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64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6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6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6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6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7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7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7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7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7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7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8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funcourse.surge.sh/3.2.5&amp;3.5.3_%E5%8F%8C%E7%B2%BE%E5%BA%A6%E4%B8%8Efloat%E7%9A%84%E5%8C%BA%E5%88%AB%E6%B8%B8%E6%88%8F%E5%92%8Cprintf%E5%AE%9E%E7%8E%B0.html" TargetMode="External" Type="http://schemas.openxmlformats.org/officeDocument/2006/relationships/hyperlink"/></Relationships>
</file>

<file path=ppt/slides/_rels/slide8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notesSlides/notesSlide22.xml" Type="http://schemas.openxmlformats.org/officeDocument/2006/relationships/notesSlide"/></Relationships>
</file>

<file path=ppt/slides/_rels/slide8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4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8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5.png" Type="http://schemas.openxmlformats.org/officeDocument/2006/relationships/image"/><Relationship Id="rId3" Target="https://funcourse.surge.sh/3.2.5&amp;3.5.3_%E5%8F%8C%E7%B2%BE%E5%BA%A6%E4%B8%8Efloat%E7%9A%84%E5%8C%BA%E5%88%AB%E6%B8%B8%E6%88%8F%E5%92%8Cprintf%E5%AE%9E%E7%8E%B0.html" TargetMode="External" Type="http://schemas.openxmlformats.org/officeDocument/2006/relationships/hyperlink"/></Relationships>
</file>

<file path=ppt/slides/_rels/slide9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97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/Relationships>
</file>

<file path=ppt/slides/_rels/slide98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0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0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03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9.png" Type="http://schemas.openxmlformats.org/officeDocument/2006/relationships/image"/><Relationship Id="rId3" Target="../notesSlides/notesSlide24.xml" Type="http://schemas.openxmlformats.org/officeDocument/2006/relationships/notesSlide"/></Relationships>
</file>

<file path=ppt/slides/_rels/slide10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0.pn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10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07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-5556" y="895350"/>
            <a:ext cx="8369300" cy="144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4400" b="true" i="false" u="none" strike="noStrike" spc="0">
                <a:solidFill>
                  <a:srgbClr val="800000">
                    <a:alpha val="100000"/>
                  </a:srgbClr>
                </a:solidFill>
                <a:latin typeface="StHeit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/>
            </a:r>
            <a:b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</a:b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endParaRPr sz="4400"/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1143000" y="1714500"/>
            <a:ext cx="8001000" cy="928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N-S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流程图用以下的流程图符号：</a:t>
            </a:r>
          </a:p>
        </p:txBody>
      </p:sp>
      <p:grpSp>
        <p:nvGrpSpPr>
          <p:cNvPr name="Group 5" id="5"/>
          <p:cNvGrpSpPr/>
          <p:nvPr/>
        </p:nvGrpSpPr>
        <p:grpSpPr>
          <a:xfrm>
            <a:off x="214313" y="3071813"/>
            <a:ext cx="1643062" cy="1571625"/>
            <a:chOff x="214313" y="3071813"/>
            <a:chExt cx="1643062" cy="1571625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214313" y="3071813"/>
              <a:ext cx="1643062" cy="1571625"/>
            </a:xfrm>
            <a:prstGeom prst="flowChartProcess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cxnSp>
          <p:nvCxnSpPr>
            <p:cNvPr name="Connector 7" id="7"/>
            <p:cNvCxnSpPr/>
            <p:nvPr/>
          </p:nvCxnSpPr>
          <p:spPr>
            <a:xfrm rot="0" flipH="false" flipV="true">
              <a:off x="214313" y="3857626"/>
              <a:ext cx="164306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8" id="8"/>
            <p:cNvSpPr txBox="true"/>
            <p:nvPr/>
          </p:nvSpPr>
          <p:spPr>
            <a:xfrm rot="0" flipH="false" flipV="false">
              <a:off x="642938" y="3214688"/>
              <a:ext cx="714375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lang="en-US" sz="1100"/>
            </a:p>
          </p:txBody>
        </p:sp>
        <p:sp>
          <p:nvSpPr>
            <p:cNvPr name="AutoShape 9" id="9"/>
            <p:cNvSpPr txBox="true"/>
            <p:nvPr/>
          </p:nvSpPr>
          <p:spPr>
            <a:xfrm rot="0" flipH="false" flipV="false">
              <a:off x="642938" y="4000500"/>
              <a:ext cx="714375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lang="en-US" sz="110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2071688" y="2714625"/>
            <a:ext cx="1928812" cy="1928813"/>
            <a:chOff x="2071688" y="2714625"/>
            <a:chExt cx="1928812" cy="1928813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2071688" y="2714625"/>
              <a:ext cx="1928812" cy="1928813"/>
            </a:xfrm>
            <a:prstGeom prst="flowChartProcess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cxnSp>
          <p:nvCxnSpPr>
            <p:cNvPr name="Connector 12" id="12"/>
            <p:cNvCxnSpPr/>
            <p:nvPr/>
          </p:nvCxnSpPr>
          <p:spPr>
            <a:xfrm rot="0" flipH="false" flipV="false">
              <a:off x="2071688" y="3857625"/>
              <a:ext cx="192881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13" id="13"/>
            <p:cNvSpPr txBox="true"/>
            <p:nvPr/>
          </p:nvSpPr>
          <p:spPr>
            <a:xfrm rot="0" flipH="false" flipV="false">
              <a:off x="2214563" y="4000500"/>
              <a:ext cx="714375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lang="en-US" sz="1100"/>
            </a:p>
          </p:txBody>
        </p:sp>
        <p:sp>
          <p:nvSpPr>
            <p:cNvPr name="AutoShape 14" id="14"/>
            <p:cNvSpPr txBox="true"/>
            <p:nvPr/>
          </p:nvSpPr>
          <p:spPr>
            <a:xfrm rot="0" flipH="false" flipV="false">
              <a:off x="3143250" y="4000500"/>
              <a:ext cx="714375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lang="en-US" sz="1100"/>
            </a:p>
          </p:txBody>
        </p:sp>
        <p:cxnSp>
          <p:nvCxnSpPr>
            <p:cNvPr name="Connector 15" id="15"/>
            <p:cNvCxnSpPr/>
            <p:nvPr/>
          </p:nvCxnSpPr>
          <p:spPr>
            <a:xfrm rot="5400000" flipH="false" flipV="true">
              <a:off x="2000250" y="2786063"/>
              <a:ext cx="1143000" cy="1000125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6" id="16"/>
            <p:cNvCxnSpPr/>
            <p:nvPr/>
          </p:nvCxnSpPr>
          <p:spPr>
            <a:xfrm rot="5400000" flipH="false" flipV="false">
              <a:off x="2964656" y="2821782"/>
              <a:ext cx="1143000" cy="928687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17" id="17"/>
            <p:cNvSpPr txBox="true"/>
            <p:nvPr/>
          </p:nvSpPr>
          <p:spPr>
            <a:xfrm rot="0" flipH="false" flipV="false">
              <a:off x="2214563" y="3357563"/>
              <a:ext cx="500062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lang="en-US" sz="1100"/>
            </a:p>
          </p:txBody>
        </p:sp>
        <p:sp>
          <p:nvSpPr>
            <p:cNvPr name="AutoShape 18" id="18"/>
            <p:cNvSpPr txBox="true"/>
            <p:nvPr/>
          </p:nvSpPr>
          <p:spPr>
            <a:xfrm rot="0" flipH="false" flipV="false">
              <a:off x="3479800" y="3332163"/>
              <a:ext cx="469901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lang="en-US" sz="1100"/>
            </a:p>
          </p:txBody>
        </p:sp>
        <p:sp>
          <p:nvSpPr>
            <p:cNvPr name="AutoShape 19" id="19"/>
            <p:cNvSpPr txBox="true"/>
            <p:nvPr/>
          </p:nvSpPr>
          <p:spPr>
            <a:xfrm rot="0" flipH="false" flipV="false">
              <a:off x="2857500" y="2928938"/>
              <a:ext cx="469901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lang="en-US" sz="1100"/>
            </a:p>
          </p:txBody>
        </p:sp>
        <p:cxnSp>
          <p:nvCxnSpPr>
            <p:cNvPr name="Connector 20" id="20"/>
            <p:cNvCxnSpPr/>
            <p:nvPr/>
          </p:nvCxnSpPr>
          <p:spPr>
            <a:xfrm rot="5400000" flipH="false" flipV="false">
              <a:off x="2678907" y="4250532"/>
              <a:ext cx="78581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name="Group 21" id="21"/>
          <p:cNvGrpSpPr/>
          <p:nvPr/>
        </p:nvGrpSpPr>
        <p:grpSpPr>
          <a:xfrm>
            <a:off x="4214813" y="3071813"/>
            <a:ext cx="2214562" cy="1571625"/>
            <a:chOff x="4214813" y="3071813"/>
            <a:chExt cx="2214562" cy="1571625"/>
          </a:xfrm>
        </p:grpSpPr>
        <p:sp>
          <p:nvSpPr>
            <p:cNvPr name="AutoShape 22" id="22"/>
            <p:cNvSpPr/>
            <p:nvPr/>
          </p:nvSpPr>
          <p:spPr>
            <a:xfrm rot="0" flipH="false" flipV="false">
              <a:off x="4214813" y="3071813"/>
              <a:ext cx="2214562" cy="1571625"/>
            </a:xfrm>
            <a:prstGeom prst="flowChartProcess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cxnSp>
          <p:nvCxnSpPr>
            <p:cNvPr name="Connector 23" id="23"/>
            <p:cNvCxnSpPr/>
            <p:nvPr/>
          </p:nvCxnSpPr>
          <p:spPr>
            <a:xfrm rot="0" flipH="false" flipV="true">
              <a:off x="4786313" y="3857626"/>
              <a:ext cx="164306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24" id="24"/>
            <p:cNvSpPr txBox="true"/>
            <p:nvPr/>
          </p:nvSpPr>
          <p:spPr>
            <a:xfrm rot="0" flipH="false" flipV="false">
              <a:off x="5286375" y="4000500"/>
              <a:ext cx="714375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lang="en-US" sz="1100"/>
            </a:p>
          </p:txBody>
        </p:sp>
        <p:sp>
          <p:nvSpPr>
            <p:cNvPr name="AutoShape 25" id="25"/>
            <p:cNvSpPr txBox="true"/>
            <p:nvPr/>
          </p:nvSpPr>
          <p:spPr>
            <a:xfrm rot="0" flipH="false" flipV="false">
              <a:off x="4357688" y="3143251"/>
              <a:ext cx="1857375" cy="596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</a:t>
              </a: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b="true" i="false" strike="noStrike" u="none" sz="28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b="true" i="false" strike="noStrike" u="none" sz="2800">
                  <a:solidFill>
                    <a:srgbClr val="0000C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成立</a:t>
              </a:r>
              <a:endParaRPr lang="en-US" sz="1100"/>
            </a:p>
          </p:txBody>
        </p:sp>
        <p:cxnSp>
          <p:nvCxnSpPr>
            <p:cNvPr name="Connector 26" id="26"/>
            <p:cNvCxnSpPr/>
            <p:nvPr/>
          </p:nvCxnSpPr>
          <p:spPr>
            <a:xfrm rot="5400000" flipH="false" flipV="false">
              <a:off x="4393407" y="4250532"/>
              <a:ext cx="78581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name="Group 27" id="27"/>
          <p:cNvGrpSpPr/>
          <p:nvPr/>
        </p:nvGrpSpPr>
        <p:grpSpPr>
          <a:xfrm>
            <a:off x="6643688" y="3071813"/>
            <a:ext cx="2214562" cy="1571625"/>
            <a:chOff x="6643688" y="3071813"/>
            <a:chExt cx="2214562" cy="1571625"/>
          </a:xfrm>
        </p:grpSpPr>
        <p:sp>
          <p:nvSpPr>
            <p:cNvPr name="AutoShape 28" id="28"/>
            <p:cNvSpPr/>
            <p:nvPr/>
          </p:nvSpPr>
          <p:spPr>
            <a:xfrm rot="0" flipH="false" flipV="false">
              <a:off x="6643688" y="3071813"/>
              <a:ext cx="2214562" cy="1571625"/>
            </a:xfrm>
            <a:prstGeom prst="flowChartProcess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cxnSp>
          <p:nvCxnSpPr>
            <p:cNvPr name="Connector 29" id="29"/>
            <p:cNvCxnSpPr/>
            <p:nvPr/>
          </p:nvCxnSpPr>
          <p:spPr>
            <a:xfrm rot="0" flipH="false" flipV="true">
              <a:off x="6715125" y="3857626"/>
              <a:ext cx="164306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30" id="30"/>
            <p:cNvSpPr txBox="true"/>
            <p:nvPr/>
          </p:nvSpPr>
          <p:spPr>
            <a:xfrm rot="0" flipH="false" flipV="false">
              <a:off x="7143750" y="3214688"/>
              <a:ext cx="714375" cy="520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lang="en-US" sz="1100"/>
            </a:p>
          </p:txBody>
        </p:sp>
        <p:sp>
          <p:nvSpPr>
            <p:cNvPr name="AutoShape 31" id="31"/>
            <p:cNvSpPr txBox="true"/>
            <p:nvPr/>
          </p:nvSpPr>
          <p:spPr>
            <a:xfrm rot="0" flipH="false" flipV="false">
              <a:off x="6643688" y="3977347"/>
              <a:ext cx="2143125" cy="596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2800">
                  <a:solidFill>
                    <a:srgbClr val="0000C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直到</a:t>
              </a:r>
              <a:r>
                <a:rPr lang="en-US" b="true" i="false" strike="noStrike" u="none" sz="28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b="true" i="false" strike="noStrike" u="none" sz="28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b="true" i="false" strike="noStrike" u="none" sz="2800">
                  <a:solidFill>
                    <a:srgbClr val="0000C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成立</a:t>
              </a:r>
              <a:endParaRPr lang="en-US" sz="1100"/>
            </a:p>
          </p:txBody>
        </p:sp>
        <p:cxnSp>
          <p:nvCxnSpPr>
            <p:cNvPr name="Connector 32" id="32"/>
            <p:cNvCxnSpPr/>
            <p:nvPr/>
          </p:nvCxnSpPr>
          <p:spPr>
            <a:xfrm rot="5400000" flipH="false" flipV="false">
              <a:off x="7965281" y="3464719"/>
              <a:ext cx="785812" cy="0"/>
            </a:xfrm>
            <a:prstGeom prst="line">
              <a:avLst/>
            </a:prstGeom>
            <a:noFill/>
            <a:ln w="38100" cmpd="sng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name="AutoShape 33" id="33"/>
          <p:cNvSpPr txBox="true"/>
          <p:nvPr/>
        </p:nvSpPr>
        <p:spPr>
          <a:xfrm rot="0" flipH="false" flipV="false">
            <a:off x="142875" y="4786313"/>
            <a:ext cx="1785938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顺序结构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2143125" y="4786313"/>
            <a:ext cx="1785938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选择结构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4429125" y="4786313"/>
            <a:ext cx="1785938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循环结构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（当型）</a:t>
            </a:r>
          </a:p>
        </p:txBody>
      </p:sp>
      <p:sp>
        <p:nvSpPr>
          <p:cNvPr name="AutoShape 36" id="36"/>
          <p:cNvSpPr txBox="true"/>
          <p:nvPr/>
        </p:nvSpPr>
        <p:spPr>
          <a:xfrm rot="0" flipH="false" flipV="false">
            <a:off x="6786563" y="4786313"/>
            <a:ext cx="200025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循环结构（直到型）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06450" y="5576888"/>
            <a:ext cx="4572000" cy="1320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三种基本结构</a:t>
            </a:r>
            <a:br>
              <a:rPr lang="en-US" b="false" i="false" strike="noStrike" u="none" sz="4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name="AutoShape 38" id="38"/>
          <p:cNvSpPr txBox="true"/>
          <p:nvPr/>
        </p:nvSpPr>
        <p:spPr>
          <a:xfrm rot="0" flipH="false" flipV="false">
            <a:off x="25400" y="0"/>
            <a:ext cx="2908300" cy="838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254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复习</a:t>
            </a: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254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第二章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423069" y="987425"/>
            <a:ext cx="83693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4400" b="true" i="false" u="none" strike="noStrike" spc="0">
                <a:solidFill>
                  <a:srgbClr val="800000">
                    <a:alpha val="100000"/>
                  </a:srgbClr>
                </a:solidFill>
                <a:latin typeface="StHeit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结构化程序设计方法</a:t>
            </a:r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611188" y="1773238"/>
            <a:ext cx="8032750" cy="4298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742950" indent="0"/>
            <a:lvl3pPr marL="736600" indent="0"/>
            <a:lvl4pPr marL="730250" indent="0"/>
            <a:lvl5pPr marL="723900" indent="0"/>
            <a:lvl6pPr marL="717550" indent="0"/>
            <a:lvl7pPr marL="711200" indent="0"/>
            <a:lvl8pPr marL="704850" indent="0"/>
            <a:lvl9pPr marL="698500" indent="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采取以下方法保证得到结构化的程序：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自顶向下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逐步细化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结构化编码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5400" y="0"/>
            <a:ext cx="2908300" cy="838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254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复习</a:t>
            </a:r>
            <a:r>
              <a:rPr lang="en-US" b="true" i="false" strike="noStrike" u="none" sz="4400">
                <a:solidFill>
                  <a:srgbClr val="800000"/>
                </a:solidFill>
                <a:effectLst>
                  <a:outerShdw dir="2700000" dist="254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第二章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38188" y="908050"/>
            <a:ext cx="8001000" cy="825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4800" b="true" i="false" u="none" strike="noStrike" spc="0">
                <a:solidFill>
                  <a:srgbClr val="800000">
                    <a:alpha val="100000"/>
                  </a:srgbClr>
                </a:solidFill>
                <a:latin typeface="StHeit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8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1500188" y="2143125"/>
            <a:ext cx="6477000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5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3.1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顺序程序设计举例</a:t>
            </a:r>
          </a:p>
          <a:p>
            <a:pPr algn="l" marL="342900" indent="-342900">
              <a:lnSpc>
                <a:spcPct val="100000"/>
              </a:lnSpc>
              <a:spcBef>
                <a:spcPct val="5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数据的表现形式及其运算</a:t>
            </a:r>
          </a:p>
          <a:p>
            <a:pPr algn="l" marL="342900" indent="-342900">
              <a:lnSpc>
                <a:spcPct val="100000"/>
              </a:lnSpc>
              <a:spcBef>
                <a:spcPct val="5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3.3 C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语句</a:t>
            </a:r>
          </a:p>
          <a:p>
            <a:pPr algn="l" marL="342900" indent="-342900">
              <a:lnSpc>
                <a:spcPct val="100000"/>
              </a:lnSpc>
              <a:spcBef>
                <a:spcPct val="5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3.4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数据的输入输出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45492" y="185351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p37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vert="horz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3500" b="true" i="false" u="none" strike="noStrike" spc="0">
                <a:solidFill>
                  <a:srgbClr val="800000">
                    <a:alpha val="100000"/>
                  </a:srgbClr>
                </a:solidFill>
                <a:latin typeface="Arial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0" y="1384300"/>
            <a:ext cx="9144000" cy="1373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100" b="true" i="false" u="none" strike="noStrike" spc="0">
                <a:solidFill>
                  <a:srgbClr val="0000CC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有人用温度计测量出用华氏法表示的温度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如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F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，今要求把它转换为以摄氏法表示的温度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如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C) 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644758" y="3142795"/>
            <a:ext cx="7143750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解题思路：找到二者间的转换公式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09102" y="3962663"/>
            <a:ext cx="6215062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342900" indent="-342900">
              <a:lnSpc>
                <a:spcPct val="116666"/>
              </a:lnSpc>
              <a:spcBef>
                <a:spcPct val="20000"/>
              </a:spcBef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代表华氏温度，</a:t>
            </a:r>
            <a:r>
              <a:rPr lang="en-US" b="true" i="false" strike="noStrike" u="none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代表摄氏温度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861300" y="762000"/>
            <a:ext cx="1270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3.1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p37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57250" y="3929063"/>
            <a:ext cx="2058988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143250" y="4071938"/>
          <a:ext cx="3071813" cy="194844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71813"/>
              </a:tblGrid>
              <a:tr h="4445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的值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8398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c=5/9(f-32)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544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输出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的值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786563" y="5286375"/>
            <a:ext cx="1357312" cy="642938"/>
          </a:xfrm>
          <a:prstGeom prst="wedgeRoundRectCallout">
            <a:avLst>
              <a:gd name="adj1" fmla="val -78028"/>
              <a:gd name="adj2" fmla="val -65806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N-S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图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0" y="1384300"/>
            <a:ext cx="9144000" cy="1373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342900" indent="-342900">
              <a:lnSpc>
                <a:spcPct val="116666"/>
              </a:lnSpc>
              <a:spcBef>
                <a:spcPct val="20000"/>
              </a:spcBef>
              <a:defRPr/>
            </a:pP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有人用温度计测量出用华氏法表示的温度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如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F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，今要求把它转换为以摄氏法表示的温度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如</a:t>
            </a:r>
            <a:r>
              <a:rPr lang="en-US" b="true" i="false" strike="noStrike" u="none" sz="31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C) </a:t>
            </a:r>
            <a:r>
              <a:rPr lang="en-US" b="true" i="false" strike="noStrike" u="none" sz="31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861300" y="762000"/>
            <a:ext cx="1270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3.1 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p37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36068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1563" y="1785938"/>
            <a:ext cx="7429500" cy="43576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float f,c; 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f=64.0; 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c=(5.0/9)*(f-32); 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printf("f=%f\nc=%f\n",f,c);        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714750" y="3194050"/>
            <a:ext cx="4857750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为单精度浮点型变量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714750" y="3714750"/>
            <a:ext cx="2214563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指定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的值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929313" y="4262438"/>
            <a:ext cx="2214562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计算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的值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913717" y="5330826"/>
            <a:ext cx="2786062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的值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822031" y="5807075"/>
            <a:ext cx="2533650" cy="857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861300" y="762000"/>
            <a:ext cx="1270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3.1 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p37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85813" y="1857375"/>
            <a:ext cx="763270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CC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3.2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计算存款利息。有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1000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元，想存一年。有三种方法可选：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(1)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活期，年利率为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r1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(2)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一年期定期，年利率为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r2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(3)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存两次半年定期，年利率为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r3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请分别计算出一年后按三种方法所得到的本息和。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833207" y="749300"/>
            <a:ext cx="1310793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p38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85813" y="1857375"/>
            <a:ext cx="7632700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08333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08333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解题思路：确定计算本息和的公式。</a:t>
            </a:r>
          </a:p>
          <a:p>
            <a:pPr algn="l" marL="342900" indent="-342900">
              <a:lnSpc>
                <a:spcPct val="108333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从数学知识可知：若存款额为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p0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，则：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活期存款一年后本息和为：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p1=p0(1+r1)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一年期定期存款，一年后本息和为：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p2=p0(1+r2)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两次半年定期存款，一年后本息和为：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p3=p0(1+r3/2)(1+r3/2)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833207" y="749300"/>
            <a:ext cx="13208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85813" y="1857375"/>
            <a:ext cx="2071687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算法：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786063" y="2286000"/>
          <a:ext cx="485775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857750"/>
              </a:tblGrid>
              <a:tr h="6858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p0,r1,r2,r3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的值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p1=p0(1+r1)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p2=p0(1+r2)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p3=p0(1+ 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r3/2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)(1+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r3/2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输出</a:t>
                      </a: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p1,p2,p3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7833207" y="749300"/>
            <a:ext cx="13208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66683" y="1439863"/>
            <a:ext cx="9010634" cy="5295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{float p0=1000, r1=0.0036,r2=0.0225,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r3=0.0198, p1, p2, p3;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p1 = p0 * (1 +  r1);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p2 = p0 * (1 +  r2);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p3 = p0 * (1 +  r3/2) * (1 + r3/2);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printf(”%f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”,p1, p2, p3);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1554163"/>
            <a:ext cx="4072581" cy="642937"/>
          </a:xfrm>
          <a:prstGeom prst="wedgeRoundRectCallout">
            <a:avLst>
              <a:gd name="adj1" fmla="val -19889"/>
              <a:gd name="adj2" fmla="val 90056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定义变量同时赋予初值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608291" y="5521346"/>
            <a:ext cx="2120900" cy="121443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lang="en-US" b="true" i="false" strike="noStrike" u="none" sz="3500">
                <a:solidFill>
                  <a:srgbClr val="800000"/>
                </a:solidFill>
                <a:latin typeface="SimHei"/>
                <a:ea typeface="SimHei"/>
                <a:cs typeface="SimHei"/>
                <a:sym typeface="SimHei"/>
              </a:rPr>
              <a:t>顺序程序设计举例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p38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833207" y="749300"/>
            <a:ext cx="13208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 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714500" y="1571625"/>
            <a:ext cx="6000750" cy="5000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3.2.1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常量和变量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3.2.2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3.2.3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整型数据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3.2.4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字符型数据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3.2.5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浮点型数据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3.2.6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怎样确定常量的类型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3.2.7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运算符和表达式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831" y="749300"/>
            <a:ext cx="6000672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5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p39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56310" y="1428750"/>
            <a:ext cx="8673378" cy="5214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698500" indent="-355600">
              <a:lnSpc>
                <a:spcPct val="108333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08333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常量：在程序运行过程中，其值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不能被改变的量</a:t>
            </a:r>
          </a:p>
          <a:p>
            <a:pPr algn="l" indent="-342900" marL="342900">
              <a:lnSpc>
                <a:spcPct val="108333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整型常量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1000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12345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-345</a:t>
            </a:r>
          </a:p>
          <a:p>
            <a:pPr algn="l" indent="-342900" marL="342900">
              <a:lnSpc>
                <a:spcPct val="108333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实型常量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十进制小数形式：如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34    -56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79   0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指数形式：如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12.34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 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12.34</a:t>
            </a:r>
            <a:r>
              <a:rPr lang="en-US" b="true" i="false" strike="noStrike" u="none" sz="2800">
                <a:solidFill>
                  <a:srgbClr val="000000"/>
                </a:solidFill>
                <a:latin typeface="Symbol"/>
                <a:ea typeface="Symbol"/>
                <a:cs typeface="Symbol"/>
                <a:sym typeface="Symbol"/>
              </a:rPr>
              <a:t>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r>
              <a:rPr lang="en-US" b="true" i="false" strike="noStrike" u="none" sz="2800" baseline="30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algn="l" indent="-342900" marL="342900">
              <a:lnSpc>
                <a:spcPct val="108333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字符常量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：如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</a:p>
          <a:p>
            <a:pPr algn="l" lvl="1" indent="-285750" marL="742950">
              <a:lnSpc>
                <a:spcPct val="108333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转义字符：如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’</a:t>
            </a:r>
          </a:p>
          <a:p>
            <a:pPr algn="l" indent="-342900" marL="342900">
              <a:lnSpc>
                <a:spcPct val="108333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字符串常量：如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boy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</a:p>
          <a:p>
            <a:pPr algn="l" indent="-342900" marL="342900">
              <a:lnSpc>
                <a:spcPct val="108333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符号常量：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#define  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PI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3.1416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3.2.1 常量和变量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p39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500188"/>
            <a:ext cx="8215312" cy="428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698500" indent="-355600">
              <a:lnSpc>
                <a:spcPct val="116666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变量：在程序运行期间，变量值是可以改变的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变量必须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先定义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后使用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定义变量时指定该变量的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名字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FF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变量名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变量值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是两个不同的概念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变量名实际上是以一个名字代表的一个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存储地址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从变量中取值，实际上是通过变量名找到相应的内存地址，从该存储单元中读取数据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3.2.1 常量和变量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p39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500188"/>
            <a:ext cx="8215312" cy="471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698500" indent="-355600">
              <a:lnSpc>
                <a:spcPct val="116666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常变量：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 int a=3;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4.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标识符：一个对象的名字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Ｃ语言规定标识符只能由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字母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下划线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种字符组成，且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第一个字符必须为字母或下划线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合法的标识符：如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sum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average, _total, Class, day, BASIC, li_ling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不合法的标识符：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M.D.John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，＃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3D64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＞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714875" y="1928813"/>
            <a:ext cx="4214813" cy="642937"/>
          </a:xfrm>
          <a:prstGeom prst="wedgeRoundRectCallout">
            <a:avLst>
              <a:gd name="adj1" fmla="val -30884"/>
              <a:gd name="adj2" fmla="val 86157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大小写字母是不同的字符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3.2.1 常量和变量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p41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下列C语言标识符中合法的变量名是（  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5e8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you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float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4425" y="28495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4425" y="3706813"/>
            <a:ext cx="514350" cy="514350"/>
          </a:xfrm>
          <a:prstGeom prst="ellipse">
            <a:avLst/>
          </a:prstGeom>
          <a:solidFill>
            <a:srgbClr val="00FF00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4425" y="45640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4425" y="54213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提交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 txBox="true"/>
            <p:nvPr/>
          </p:nvSpPr>
          <p:spPr>
            <a:xfrm rot="0" flipH="false" flipV="false"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单选题</a:t>
              </a:r>
              <a:endParaRPr lang="en-US" sz="1100"/>
            </a:p>
          </p:txBody>
        </p:sp>
        <p:sp>
          <p:nvSpPr>
            <p:cNvPr name="AutoShape 16" id="16"/>
            <p:cNvSpPr txBox="true"/>
            <p:nvPr/>
          </p:nvSpPr>
          <p:spPr>
            <a:xfrm rot="0" flipH="false" flipV="false"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80808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5分</a:t>
              </a:r>
              <a:endParaRPr lang="en-US" sz="1100"/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428750"/>
            <a:ext cx="8215313" cy="3357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所谓</a:t>
            </a:r>
            <a:r>
              <a:rPr lang="en-US" b="true" i="false" strike="noStrike" u="none" sz="32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，就是对数据分配存储单元的安排，包括存储单元的长度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占多少字节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以及数据的存储形式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不同的类型分配不同的长度和存储形式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3.2.2 数据类型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p42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55650" y="1482725"/>
            <a:ext cx="5741987" cy="5357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语言允许使用的数据类型：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基本类型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整型类型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基本整型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短整型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长整型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双长整型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布尔型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265689" y="2685276"/>
            <a:ext cx="3786187" cy="250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/>
              <a:buChar char="u"/>
              <a:defRPr/>
            </a:pPr>
            <a:r>
              <a:rPr lang="en-US" b="true" i="false" strike="noStrike" u="none" sz="2800">
                <a:solidFill>
                  <a:srgbClr val="9E01DD"/>
                </a:solidFill>
                <a:latin typeface="Noto Sans SC"/>
                <a:ea typeface="Noto Sans SC"/>
                <a:cs typeface="Noto Sans SC"/>
                <a:sym typeface="Noto Sans SC"/>
              </a:rPr>
              <a:t>浮点类型</a:t>
            </a:r>
            <a:endParaRPr lang="en-US" sz="1100"/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9E01DD"/>
                </a:solidFill>
                <a:latin typeface="Noto Sans SC"/>
                <a:ea typeface="Noto Sans SC"/>
                <a:cs typeface="Noto Sans SC"/>
                <a:sym typeface="Noto Sans SC"/>
              </a:rPr>
              <a:t>单精度浮点型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9E01DD"/>
                </a:solidFill>
                <a:latin typeface="Noto Sans SC"/>
                <a:ea typeface="Noto Sans SC"/>
                <a:cs typeface="Noto Sans SC"/>
                <a:sym typeface="Noto Sans SC"/>
              </a:rPr>
              <a:t>双精度浮点型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9E01DD"/>
                </a:solidFill>
                <a:latin typeface="Noto Sans SC"/>
                <a:ea typeface="Noto Sans SC"/>
                <a:cs typeface="Noto Sans SC"/>
                <a:sym typeface="Noto Sans SC"/>
              </a:rPr>
              <a:t>复数浮点型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5802" y="793750"/>
            <a:ext cx="8328857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3.2.2 数据类型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p43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500438" y="2214563"/>
            <a:ext cx="1643062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750888" y="1285875"/>
            <a:ext cx="7766626" cy="5572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08333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08333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语言允许使用的数据类型：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基本类型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枚举类型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空类型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派生类型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指针类型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数组类型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结构体类型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共用体类型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函数类型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71813" y="2152650"/>
            <a:ext cx="214312" cy="857250"/>
          </a:xfrm>
          <a:prstGeom prst="rightBracke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38100" cmpd="sng" cap="flat">
            <a:solidFill>
              <a:srgbClr val="0000CC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500438" y="2286000"/>
            <a:ext cx="192881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算术类型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43063" y="4214813"/>
            <a:ext cx="1643062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643313" y="3500438"/>
            <a:ext cx="192881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纯量类型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3429000" y="2857500"/>
            <a:ext cx="857249" cy="1643062"/>
            <a:chOff x="3429000" y="2857500"/>
            <a:chExt cx="857249" cy="1643062"/>
          </a:xfrm>
        </p:grpSpPr>
        <p:cxnSp>
          <p:nvCxnSpPr>
            <p:cNvPr name="Connector 13" id="13"/>
            <p:cNvCxnSpPr/>
            <p:nvPr/>
          </p:nvCxnSpPr>
          <p:spPr>
            <a:xfrm rot="5400000" flipH="false" flipV="false">
              <a:off x="3929062" y="3214688"/>
              <a:ext cx="714375" cy="0"/>
            </a:xfrm>
            <a:prstGeom prst="line">
              <a:avLst/>
            </a:prstGeom>
            <a:noFill/>
            <a:ln w="38100" cmpd="sng" cap="flat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4" id="14"/>
            <p:cNvCxnSpPr/>
            <p:nvPr/>
          </p:nvCxnSpPr>
          <p:spPr>
            <a:xfrm rot="10800000" flipH="false" flipV="true">
              <a:off x="3429000" y="4000500"/>
              <a:ext cx="714375" cy="500063"/>
            </a:xfrm>
            <a:prstGeom prst="line">
              <a:avLst/>
            </a:prstGeom>
            <a:noFill/>
            <a:ln w="38100" cmpd="sng" cap="flat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name="AutoShape 15" id="15"/>
          <p:cNvSpPr txBox="true"/>
          <p:nvPr/>
        </p:nvSpPr>
        <p:spPr>
          <a:xfrm rot="0" flipH="false" flipV="false">
            <a:off x="0" y="1270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0" y="76200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3.2.2 数据类型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p43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398411" y="1428750"/>
            <a:ext cx="8531277" cy="4071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整型数据的分类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最基本的整型类型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(int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：占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个或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短整型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(short int)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VC++6.0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中占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长整型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(long int)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VC++6.0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中占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双长整型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(long long int)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C99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新增的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5110" y="79375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3.2.3 整形数据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p44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8358188" cy="5214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整型数据的分类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整型变量的符号属性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整型变量的值的范围包括负数到正数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可以将变量定义为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无符号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扩充的整形类型：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5110" y="79375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3.2.3 整形数据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p45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428625" y="1285875"/>
            <a:ext cx="8429625" cy="5429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698500" indent="-3556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742950" indent="0"/>
            <a:lvl3pPr marL="787400" indent="0"/>
            <a:lvl4pPr marL="831850" indent="0"/>
            <a:lvl5pPr marL="876300" indent="0"/>
            <a:lvl6pPr marL="920750" indent="0"/>
            <a:lvl7pPr marL="965200" indent="0"/>
            <a:lvl8pPr marL="1009650" indent="0"/>
            <a:lvl9pPr marL="105410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以上4种整形数据可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扩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展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的整型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有符号基本整型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[signed] int;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无符号基本整型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unsigned int;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有符号短整型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[signed] short [int];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无符号短整型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unsigned short [int];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有符号长整型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[signed] long [int];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无符号长整型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unsigned long [int]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有符号双长整型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[signed] long long [int]; 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无符号双长整型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unsigned long long [int] 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5110" y="79375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3.2.3 整形数据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p46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714500"/>
            <a:ext cx="7929563" cy="2786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字符是按其代码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整数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形式存储的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C99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把字符型数据作为整数类型的一种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字符型数据在使用上有自己的特点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3.2.4 字符型数据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954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p47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7929563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字符与字符代码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大多数系统采用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ASCII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字符集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字母：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~Z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~z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～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专门符号：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29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  ”  #  &amp;  ‘  (  )  *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空格符：空格、水平制表符、换行等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不能显示的字符：空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(null)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‘\0’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、警告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‘\a’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、退格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‘\b’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、回车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‘\r’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3.2.4 字符型数据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p47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7929563" cy="4071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’1’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和整数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是不同的概念：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’1’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只是代表一个形状为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’1’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的符号，在需要时按原样输出，在内存中以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ASCII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码形式存储，占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endParaRPr sz="2800"/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整数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是以整数存储方式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二进制补码方式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存储的，占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个或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202051" y="3197047"/>
          <a:ext cx="2928938" cy="863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8938"/>
              </a:tblGrid>
              <a:tr h="863600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STKaiti"/>
                          <a:ea typeface="STKaiti"/>
                          <a:cs typeface="STKaiti"/>
                          <a:sym typeface="STKaiti"/>
                        </a:rPr>
                        <a:t>0 0 1 1 0 0 0 1 </a:t>
                      </a:r>
                      <a:endParaRPr lang="en-US" sz="1100"/>
                    </a:p>
                  </a:txBody>
                  <a:tcPr anchor="t" marL="68580" marR="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643063" y="5572125"/>
          <a:ext cx="5857876" cy="50006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8938"/>
                <a:gridCol w="2928938"/>
              </a:tblGrid>
              <a:tr h="500063"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STKaiti"/>
                          <a:ea typeface="STKaiti"/>
                          <a:cs typeface="STKaiti"/>
                          <a:sym typeface="STKaiti"/>
                        </a:rPr>
                        <a:t>0 0 0 0 0 0 0 0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800">
                          <a:solidFill>
                            <a:srgbClr val="000000"/>
                          </a:solidFill>
                          <a:latin typeface="STKaiti"/>
                          <a:ea typeface="STKaiti"/>
                          <a:cs typeface="STKaiti"/>
                          <a:sym typeface="STKaiti"/>
                        </a:rPr>
                        <a:t>0 0 0 0 0 0 0 1</a:t>
                      </a:r>
                      <a:endParaRPr lang="en-US" sz="1100"/>
                    </a:p>
                  </a:txBody>
                  <a:tcPr anchor="t" marL="68580" marR="68580" marT="0" marB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3.2.4 字符型数据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p48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在c语言中，字符型数据所占的内存空间是（   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2个字节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4个字节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1个字节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由用户自己定义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4425" y="28495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4425" y="37068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4425" y="45640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4425" y="54213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提交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 txBox="true"/>
            <p:nvPr/>
          </p:nvSpPr>
          <p:spPr>
            <a:xfrm rot="0" flipH="false" flipV="false"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单选题</a:t>
              </a:r>
              <a:endParaRPr lang="en-US" sz="1100"/>
            </a:p>
          </p:txBody>
        </p:sp>
        <p:sp>
          <p:nvSpPr>
            <p:cNvPr name="AutoShape 16" id="16"/>
            <p:cNvSpPr txBox="true"/>
            <p:nvPr/>
          </p:nvSpPr>
          <p:spPr>
            <a:xfrm rot="0" flipH="false" flipV="false"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80808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5分</a:t>
              </a:r>
              <a:endParaRPr lang="en-US" sz="1100"/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8215313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字符变量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用类型符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定义字符变量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char c = ’?’;</a:t>
            </a:r>
          </a:p>
          <a:p>
            <a:pPr algn="l" lvl="1" marL="74295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系统把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“?”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ASCII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赋给变量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printf(”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%d  %c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\n”,c,c);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输出结果是：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63  ?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3.2.4 字符型数据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p48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下列字符常量中表示错误的是（）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‘a’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‘?’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‘\n’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“\n”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4425" y="28495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4425" y="37068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4425" y="45640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4425" y="54213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提交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 txBox="true"/>
            <p:nvPr/>
          </p:nvSpPr>
          <p:spPr>
            <a:xfrm rot="0" flipH="false" flipV="false"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单选题</a:t>
              </a:r>
              <a:endParaRPr lang="en-US" sz="1100"/>
            </a:p>
          </p:txBody>
        </p:sp>
        <p:sp>
          <p:nvSpPr>
            <p:cNvPr name="AutoShape 16" id="16"/>
            <p:cNvSpPr txBox="true"/>
            <p:nvPr/>
          </p:nvSpPr>
          <p:spPr>
            <a:xfrm rot="0" flipH="false" flipV="false"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80808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5分</a:t>
              </a:r>
              <a:endParaRPr lang="en-US" sz="1100"/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已定义c为字符型变量，则下列语句中正确的是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（  ）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c=‘97’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c=“97”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c=‘a’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c=“a”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4425" y="28495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4425" y="37068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4425" y="45640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4425" y="54213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提交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 txBox="true"/>
            <p:nvPr/>
          </p:nvSpPr>
          <p:spPr>
            <a:xfrm rot="0" flipH="false" flipV="false"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单选题</a:t>
              </a:r>
              <a:endParaRPr lang="en-US" sz="1100"/>
            </a:p>
          </p:txBody>
        </p:sp>
        <p:sp>
          <p:nvSpPr>
            <p:cNvPr name="AutoShape 16" id="16"/>
            <p:cNvSpPr txBox="true"/>
            <p:nvPr/>
          </p:nvSpPr>
          <p:spPr>
            <a:xfrm rot="0" flipH="false" flipV="false"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80808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5分</a:t>
              </a:r>
              <a:endParaRPr lang="en-US" sz="1100"/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8215313" cy="3714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浮点型数据是用来表示具有小数点的实数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单精度浮点型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编译系统为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型变量分配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数值以规范化的二进制数指数形式存放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参见主教材图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3.11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3.2.5 浮点型数据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p49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8215313" cy="50387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749300" indent="-406400"/>
            <a:lvl3pPr marL="1098550" indent="-355600"/>
            <a:lvl4pPr marL="1447800" indent="-355600"/>
            <a:lvl5pPr marL="1797050" indent="-355600"/>
            <a:lvl6pPr marL="2146300" indent="-355600"/>
            <a:lvl7pPr marL="2495550" indent="-355600"/>
            <a:lvl8pPr marL="2844800" indent="-355600"/>
            <a:lvl9pPr marL="319405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浮点型数据是用来表示具有小数点的实数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单精度浮点型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双精度浮点型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algn="l" lvl="2" indent="-34290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编译系统为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型变量分配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</a:p>
          <a:p>
            <a:pPr algn="l" lvl="2" indent="-34290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位有效数字</a:t>
            </a:r>
          </a:p>
          <a:p>
            <a:pPr algn="l" lvl="1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长双精度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思考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：上面三种类型各占多少字节？（表3.4）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3.2.5 浮点型数据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p49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357188" y="1428750"/>
            <a:ext cx="8670356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字符常量：由单撇号括起来的单个字符或转义字符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整型常量：不带小数点的数值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系统根据数值的大小确定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型还是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型等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浮点型常量：凡以小数形式或指数形式出现的实数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编译系统把浮点型常量都按双精度处理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分配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个字节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思考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：类型与变量？P51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0" y="844550"/>
            <a:ext cx="8429625" cy="508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6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 数据的表现形式及其运算   3.2.6 怎样确定常量的类型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p50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5857" y="844550"/>
            <a:ext cx="5779077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 3.3.1 C运算符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365250"/>
            <a:ext cx="9144000" cy="54927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p52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8215313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742950" indent="0"/>
            <a:lvl3pPr marL="1200150" indent="0"/>
            <a:lvl4pPr marL="1657350" indent="0"/>
            <a:lvl5pPr marL="2114550" indent="0"/>
            <a:lvl6pPr marL="2571750" indent="0"/>
            <a:lvl7pPr marL="3028950" indent="0"/>
            <a:lvl8pPr marL="3486150" indent="0"/>
            <a:lvl9pPr marL="394335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最常用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的算术运算符：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：正号运算符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单目运算符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-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：负号运算符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单目运算符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：乘法运算符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：除法运算符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：求余运算符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：加法运算符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-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：减法运算符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5976" y="844550"/>
            <a:ext cx="7220719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3.3.2 基本的算术运算符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p52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71500" y="1428750"/>
            <a:ext cx="8215313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698500" indent="-3556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两个整数相除的结果为整数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5/3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的结果值为１，舍去小数部分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如果除数或被除数中有一个为负值，舍入方向不固定。例如，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-5/3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(=-1.666...)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，有的系统中得到的结果为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-1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，在有的系统中则得到结果为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-2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VC++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采取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向零取整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的方法</a:t>
            </a:r>
          </a:p>
          <a:p>
            <a:pPr algn="l" lvl="1" marL="74295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5/3=1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-5/3=-1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，取整后向零靠拢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运算符要求参加运算的运算对象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即操作数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为整数，结果也是整数。如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8%3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，结果为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8767" y="844550"/>
            <a:ext cx="7226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3.3.2 基本的算术运算符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p53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在C语言程序中，表达式8/5的结果是（   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1.6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4425" y="284956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4425" y="370681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4425" y="456406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4425" y="542131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提交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 txBox="true"/>
            <p:nvPr/>
          </p:nvSpPr>
          <p:spPr>
            <a:xfrm rot="0" flipH="false" flipV="false"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多选题</a:t>
              </a:r>
              <a:endParaRPr lang="en-US" sz="1100"/>
            </a:p>
          </p:txBody>
        </p:sp>
        <p:sp>
          <p:nvSpPr>
            <p:cNvPr name="AutoShape 16" id="16"/>
            <p:cNvSpPr txBox="true"/>
            <p:nvPr/>
          </p:nvSpPr>
          <p:spPr>
            <a:xfrm rot="0" flipH="false" flipV="false"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80808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5分</a:t>
              </a:r>
              <a:endParaRPr lang="en-US" sz="1100"/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在C语言程序中，表达式5%2的结果是（    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2.5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4425" y="28495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4425" y="37068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4425" y="45640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4425" y="54213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anchorCtr="tru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提交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4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 txBox="true"/>
            <p:nvPr/>
          </p:nvSpPr>
          <p:spPr>
            <a:xfrm rot="0" flipH="false" flipV="false"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单选题</a:t>
              </a:r>
              <a:endParaRPr lang="en-US" sz="1100"/>
            </a:p>
          </p:txBody>
        </p:sp>
        <p:sp>
          <p:nvSpPr>
            <p:cNvPr name="AutoShape 16" id="16"/>
            <p:cNvSpPr txBox="true"/>
            <p:nvPr/>
          </p:nvSpPr>
          <p:spPr>
            <a:xfrm rot="0" flipH="false" flipV="false"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non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80808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5分</a:t>
              </a:r>
              <a:endParaRPr lang="en-US" sz="1100"/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0" y="1428750"/>
            <a:ext cx="9144000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自增、自减运算符：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作用是使变量的值１或减１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：在使用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之前，先使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的值加（减）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i++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i--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：在使用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之后，使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的值加（减）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24526" y="749300"/>
            <a:ext cx="8578072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7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3.3.3 自增（++）自减（--）运算符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636488" y="819150"/>
            <a:ext cx="4318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p53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81443" y="1399068"/>
            <a:ext cx="8981113" cy="471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sz="3200"/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用算术运算符和括号将运算对象（也称操作数）连接起来的、符合Ｃ语法规则的式子，称为Ｃ算术表达式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运算对象包括常量、变量、函数等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Ｃ语言规定了运算符的优先级和结合性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6023" y="844550"/>
            <a:ext cx="91440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3.3.4 算术表达式和运算符的优先级与结合性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491424" y="184150"/>
            <a:ext cx="4318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p53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357188" y="1597025"/>
            <a:ext cx="8429625" cy="5214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(1)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运算的两个数中有一个数为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型，结果是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型。系统将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型数据都先转换为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型，然后进行运算</a:t>
            </a:r>
          </a:p>
          <a:p>
            <a:pPr algn="l" marL="514350" indent="-51435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(2) 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型与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型数据进行运算，先把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型和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型数据转换为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型，然后进行运算，结果是</a:t>
            </a:r>
            <a:r>
              <a:rPr lang="en-US" b="true" i="false" strike="noStrike" u="none" sz="28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514350" indent="-51435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(3)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字符型数据与整型数据进行运算，就是把字符的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ASCII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代码与整型数据进行运算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3671" y="881062"/>
            <a:ext cx="8333446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7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3.3.5 不同类型数据间的混合运算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505504" y="895350"/>
            <a:ext cx="437048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p54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14824" y="1500188"/>
            <a:ext cx="8565070" cy="1214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CC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3.3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给定一个大写字母，要求用小写字母输出。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28625" y="2714625"/>
            <a:ext cx="7929563" cy="31432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square" lIns="91440" rIns="91440" tIns="45720" bIns="45720">
            <a:noAutofit/>
          </a:bodyPr>
          <a:lstStyle>
            <a:lvl1pPr marL="749300" indent="-406400"/>
            <a:lvl2pPr marL="1155700" indent="-355600"/>
            <a:lvl3pPr marL="1562100" indent="-355600"/>
            <a:lvl4pPr marL="1968500" indent="-355600"/>
            <a:lvl5pPr marL="2374900" indent="-355600"/>
            <a:lvl6pPr marL="2781300" indent="-355600"/>
            <a:lvl7pPr marL="3187700" indent="-355600"/>
            <a:lvl8pPr marL="3594100" indent="-355600"/>
            <a:lvl9pPr marL="4000500" indent="-3556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</a:t>
            </a:r>
            <a:endParaRPr lang="en-US" sz="1100"/>
          </a:p>
          <a:p>
            <a:pPr algn="l" lvl="1" indent="-342900" marL="8001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关键是找到大、小写字母间的内在联系</a:t>
            </a:r>
          </a:p>
          <a:p>
            <a:pPr algn="l" lvl="1" indent="-342900" marL="8001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同一个字母，用小写表示的字符的</a:t>
            </a:r>
            <a:r>
              <a:rPr lang="en-US" b="true" i="false" strike="noStrike" u="none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ASCII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代码比用大写表示的字符的</a:t>
            </a:r>
            <a:r>
              <a:rPr lang="en-US" b="true" i="false" strike="noStrike" u="none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ASCII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代码大</a:t>
            </a:r>
            <a:r>
              <a:rPr lang="en-US" b="true" i="false" strike="noStrike" u="none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indent="-342900" marL="800100">
              <a:lnSpc>
                <a:spcPct val="116666"/>
              </a:lnSpc>
              <a:spcBef>
                <a:spcPct val="20000"/>
              </a:spcBef>
              <a:buClr>
                <a:srgbClr val="FF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见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P344 ASCII码表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10949" y="844550"/>
            <a:ext cx="89154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3.3.5 不同类型数据间的混合运算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p55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0" y="1357313"/>
            <a:ext cx="9144000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char c1,c2;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c1=’A’;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c2=c1+32;       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printf("%c\n",c2);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printf(”%d\n”,c2);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071813" y="3429000"/>
            <a:ext cx="578643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将字符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‘A’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ASCII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代码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放到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643313" y="3929063"/>
            <a:ext cx="435768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将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65+32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的结果放到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5357813" y="4429125"/>
            <a:ext cx="292893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用字符形式输出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0" flipH="false" flipV="false">
            <a:off x="1941899" y="4318800"/>
            <a:ext cx="714375" cy="0"/>
          </a:xfrm>
          <a:prstGeom prst="line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1941899" y="5281370"/>
            <a:ext cx="714375" cy="0"/>
          </a:xfrm>
          <a:prstGeom prst="line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5357813" y="4929188"/>
            <a:ext cx="335756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用十进制形式输出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036594" y="5732462"/>
            <a:ext cx="1006475" cy="8223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10949" y="844550"/>
            <a:ext cx="89154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3.3.5 不同类型数据间的混合运算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p55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77492" y="1551028"/>
            <a:ext cx="8786812" cy="5072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强制类型转换运算符的一般形式为</a:t>
            </a: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2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类型名）（表达式）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(double)a      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（将ａ转换成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类型）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(int) (x+y)    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（将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x+y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的值转换成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型）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(float)(5%3)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（将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5%3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的值转换成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型）</a:t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有两种类型转换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系统自动进行的类型转换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强制类型转换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0949" y="844550"/>
            <a:ext cx="7706235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运算符和表达式 3.3.6 强制类型转换运算符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p56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1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2" type="body" sz="quarter"/>
          </p:nvPr>
        </p:nvSpPr>
        <p:spPr>
          <a:xfrm rot="0" flipH="false" flipV="false">
            <a:off x="8049414" y="6546890"/>
            <a:ext cx="1053311" cy="225385"/>
          </a:xfrm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77240" y="2043583"/>
            <a:ext cx="8094473" cy="23622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1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❓ 经典疑问</a:t>
            </a:r>
            <a:r>
              <a:rPr lang="en-US" b="true" i="false" strike="noStrike" u="none" sz="3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“规定的先声明后使用，意思是：声明是编译器的账本记录，使用的时候再实际分配物理内存资源？”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13122" y="844550"/>
            <a:ext cx="6337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3.4.1 C语句的作用和分类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6" type="body" sz="quarter" hasCustomPrompt="true"/>
          </p:nvPr>
        </p:nvSpPr>
        <p:spPr>
          <a:xfrm rot="0" flipH="false" flipV="false">
            <a:off x="233367" y="1458834"/>
            <a:ext cx="4350983" cy="24765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✅ 前半句：完全正确！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但是 ——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❌ 后半句：大错特错！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（这是无数程序员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最致命的底层幻觉）</a:t>
            </a:r>
          </a:p>
        </p:txBody>
      </p:sp>
      <p:sp>
        <p:nvSpPr>
          <p:cNvPr name="AutoShape 5" id="5"/>
          <p:cNvSpPr/>
          <p:nvPr>
            <p:ph idx="17" type="body" sz="quarter" hasCustomPrompt="true"/>
          </p:nvPr>
        </p:nvSpPr>
        <p:spPr>
          <a:xfrm rot="0" flipH="false" flipV="false">
            <a:off x="4681913" y="1387191"/>
            <a:ext cx="4107872" cy="25781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7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真相：</a:t>
            </a: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进门瞬间，已“暴力包场”分配完毕！</a:t>
            </a: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使用赋值，只是“拎包入住”搬运数据！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13122" y="844550"/>
            <a:ext cx="6337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3.4.1 C语句的作用和分类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9" type="body" sz="quarter" hasCustomPrompt="true"/>
          </p:nvPr>
        </p:nvSpPr>
        <p:spPr>
          <a:xfrm rot="0" flipH="false" flipV="false">
            <a:off x="419811" y="1852448"/>
            <a:ext cx="2527861" cy="24003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1.声明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(如 int a;)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【编译期】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财务记账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纯粹的纸上谈兵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画图纸、做预算</a:t>
            </a: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零物理内存分配</a:t>
            </a:r>
          </a:p>
        </p:txBody>
      </p:sp>
      <p:sp>
        <p:nvSpPr>
          <p:cNvPr name="AutoShape 4" id="4"/>
          <p:cNvSpPr/>
          <p:nvPr>
            <p:ph idx="20" type="body" sz="quarter" hasCustomPrompt="true"/>
          </p:nvPr>
        </p:nvSpPr>
        <p:spPr>
          <a:xfrm rot="0" flipH="false" flipV="false">
            <a:off x="3345366" y="1852448"/>
            <a:ext cx="2242634" cy="22733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7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2.分配内存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(栈帧开辟)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【进函数大门瞬间】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暴力包场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底层汇编指令一把梭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不管你在第几行使用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进门第一秒抢占地皮</a:t>
            </a:r>
          </a:p>
        </p:txBody>
      </p:sp>
      <p:sp>
        <p:nvSpPr>
          <p:cNvPr name="AutoShape 5" id="5"/>
          <p:cNvSpPr/>
          <p:nvPr>
            <p:ph idx="21" type="body" sz="quarter" hasCustomPrompt="true"/>
          </p:nvPr>
        </p:nvSpPr>
        <p:spPr>
          <a:xfrm rot="0" flipH="false" flipV="false">
            <a:off x="6299200" y="1852448"/>
            <a:ext cx="2032000" cy="25908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7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3.赋值/使用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(如 a = 100;)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【运行到该行代码】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拎包入住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纯粹的数据搬运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直接塞进预留的坑位</a:t>
            </a: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不产生任何空间分配开销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514600" y="4879835"/>
            <a:ext cx="4114800" cy="685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2C3E50"/>
                </a:solidFill>
                <a:highlight>
                  <a:srgbClr val="FFFFFF">
                    <a:alpha val="0"/>
                  </a:srgbClr>
                </a:highlight>
                <a:latin typeface="Segoe UI, Microsoft YaHei, sans-serif"/>
                <a:ea typeface="Segoe UI, Microsoft YaHei, sans-serif"/>
                <a:cs typeface="Segoe UI, Microsoft YaHei, sans-serif"/>
                <a:sym typeface="Segoe UI, Microsoft YaHei, sans-serif"/>
              </a:rPr>
              <a:t>局部变量的“一生”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3122" y="844550"/>
            <a:ext cx="6337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3.4.1 C语句的作用和分类</a:t>
            </a:r>
            <a:endParaRPr lang="en-US" sz="1100"/>
          </a:p>
        </p:txBody>
      </p:sp>
      <p:sp>
        <p:nvSpPr>
          <p:cNvPr name="AutoShape 9" id="9"/>
          <p:cNvSpPr/>
          <p:nvPr>
            <p:ph idx="22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51539" y="769928"/>
            <a:ext cx="8883499" cy="609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https://funcourse.surge.sh/3.4.1_%E5%87%BD%E6%95%B0%E5%85%88%E5%A3%B0%E6%98%8E%E5%90%8E%E4%BD%BF%E7%94%A8.html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84178" y="2162300"/>
            <a:ext cx="8175644" cy="383274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607219" y="2143125"/>
            <a:ext cx="7929562" cy="471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Ｃ语句分为以下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类：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(1)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控制语句：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do…while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goto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(2)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函数调用语句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: printf("hi");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(3)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表达式语句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:a=3是赋值表达式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(4)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空语句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：；啥 也不干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(5)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复合语句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：｛｝的语句，见课本58页中间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3122" y="844550"/>
            <a:ext cx="6337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3.4.1 C语句的作用和分类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p56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646397" y="1739278"/>
            <a:ext cx="7851206" cy="3071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149350" indent="-406400"/>
            <a:lvl3pPr marL="1549400" indent="-406400"/>
            <a:lvl4pPr marL="1949450" indent="-406400"/>
            <a:lvl5pPr marL="2349500" indent="-406400"/>
            <a:lvl6pPr marL="2749550" indent="-406400"/>
            <a:lvl7pPr marL="3149600" indent="-406400"/>
            <a:lvl8pPr marL="3549650" indent="-406400"/>
            <a:lvl9pPr marL="39497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程序中，最常用的语句是：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赋值语句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输入输出语句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其中最基本的是赋值语句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3122" y="844550"/>
            <a:ext cx="6943981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p58</a:t>
            </a:r>
            <a:endParaRPr lang="en-US" sz="1100"/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44655" y="2428875"/>
            <a:ext cx="7500937" cy="442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解题思路：假设给定的三个边符合构成三角形的条件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关键是找到求三角形面积的公式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公式为：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ea=根号下：[s(s-a)(s-b)(s-c)]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其中</a:t>
            </a:r>
            <a:r>
              <a:rPr lang="en-US" b="fals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s=(a+b+c)/2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0" y="1498600"/>
            <a:ext cx="8899525" cy="62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342900" indent="-342900">
              <a:lnSpc>
                <a:spcPct val="116666"/>
              </a:lnSpc>
              <a:spcBef>
                <a:spcPct val="20000"/>
              </a:spcBef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给出三角形的三边长，求三角形面积。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695064" y="74295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3.4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-13813" y="8318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250564" y="91440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p58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94967295" type="body" sz="quarter" hasCustomPrompt="true"/>
          </p:nvPr>
        </p:nvSpPr>
        <p:spPr>
          <a:xfrm rot="0" flipH="false" flipV="false">
            <a:off x="500062" y="571500"/>
            <a:ext cx="8143875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ts val="3100"/>
              </a:lnSpc>
              <a:defRPr sz="19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&lt;math.h&gt;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 double a,b,c,s,area;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a=3.67;    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b=5.43;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c=6.21;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s=(a+b+c)/2;	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area=sqrt(s*(s-a)*(s-b)*(s-c));   printf("a=%f\tb=%f\tc=%f\n",a,b,c);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printf("area=%f\n",area);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19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 }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28938" y="2571750"/>
            <a:ext cx="285750" cy="1143000"/>
          </a:xfrm>
          <a:prstGeom prst="rightBrace">
            <a:avLst>
              <a:gd name="adj1" fmla="val 8314"/>
              <a:gd name="adj2" fmla="val 50000"/>
            </a:avLst>
          </a:prstGeom>
          <a:solidFill>
            <a:srgbClr val="FFFFFF">
              <a:alpha val="100000"/>
            </a:srgbClr>
          </a:solidFill>
          <a:ln w="38100" cmpd="sng" cap="flat">
            <a:solidFill>
              <a:srgbClr val="0000CC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571875" y="2786063"/>
            <a:ext cx="3643313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对边长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赋值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143250" y="3857625"/>
            <a:ext cx="142875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计算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10252" y="8890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3.4 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0" y="88900"/>
            <a:ext cx="6710252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81493" y="3857625"/>
            <a:ext cx="4000500" cy="642938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sqrt</a:t>
            </a:r>
            <a:r>
              <a:rPr lang="en-US" b="true" i="false" strike="noStrike" u="none" sz="25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数学函数，计算平方根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112106" y="812232"/>
            <a:ext cx="2869887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调用数学函数加此行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981493" y="5483226"/>
            <a:ext cx="144780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计算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94967295" type="body" sz="quarter" hasCustomPrompt="true"/>
          </p:nvPr>
        </p:nvSpPr>
        <p:spPr>
          <a:xfrm rot="0" flipH="false" flipV="false">
            <a:off x="1" y="711200"/>
            <a:ext cx="8143875" cy="614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ts val="3100"/>
              </a:lnSpc>
              <a:defRPr sz="21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&lt;math.h&gt;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 double a,b,c,s,area;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a=3.67;    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b=5.43;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c=6.21;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s=(a+b+c)/2;	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area=sqrt(s*(s-a)*(s-b)*(s-c));   printf("a=%f\tb=%f\t%f\n",a,b,c);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printf("area=%f\n",area);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 }</a:t>
            </a:r>
          </a:p>
        </p:txBody>
      </p:sp>
      <p:sp>
        <p:nvSpPr>
          <p:cNvPr name="AutoShape 3" id="3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3430728"/>
            <a:ext cx="3798074" cy="1351684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\t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转义字符，使输出位置跳到下一个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tab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位置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76817" y="1153222"/>
            <a:ext cx="3643313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调用数学函数加此行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79155" y="5214938"/>
            <a:ext cx="428625" cy="500063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579155" y="6255641"/>
            <a:ext cx="5535013" cy="60235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6710252" y="8890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3.4 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0" y="8890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603807" y="772222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p58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94967295" type="body" sz="quarter" hasCustomPrompt="true"/>
          </p:nvPr>
        </p:nvSpPr>
        <p:spPr>
          <a:xfrm rot="0" flipH="false" flipV="false">
            <a:off x="195202" y="711200"/>
            <a:ext cx="8143875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ts val="3100"/>
              </a:lnSpc>
              <a:defRPr sz="21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&lt;math.h&gt;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 double a,b,c,s,area;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a=3.67;    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b=5.43;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c=6.21;      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s=(a+b+c)/2;	      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area=sqrt(s*(s-a)*(s-b)*(s-c));   printf("a=%f\tb=%f\t%f\n",a,b,c);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printf("area=%f\n",area);        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ts val="3100"/>
              </a:lnSpc>
              <a:spcBef>
                <a:spcPct val="20000"/>
              </a:spcBef>
            </a:pPr>
            <a:r>
              <a:rPr lang="en-US" b="true" i="false" strike="noStrike" u="none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 }</a:t>
            </a:r>
          </a:p>
        </p:txBody>
      </p:sp>
      <p:sp>
        <p:nvSpPr>
          <p:cNvPr name="AutoShape 3" id="3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710252" y="8890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3.4 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0" y="8890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330698" y="2481537"/>
            <a:ext cx="6008379" cy="1132641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?哪些是赋值语句，哪些是输入输出语句？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5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它</a:t>
            </a:r>
            <a:r>
              <a:rPr lang="en-US" b="true" i="false" strike="noStrike" u="none" sz="25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们是不是C最常见的语句？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603807" y="772222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p58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66536" y="1807323"/>
            <a:ext cx="8153400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赋值运算符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＝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是赋值运算符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作用是将一个数据赋给一个变量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也可以将一个表达式的值赋给一个变量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3122" y="844550"/>
            <a:ext cx="6856618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p59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341262" y="1883766"/>
            <a:ext cx="8153400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复合的赋值运算符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在赋值符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＝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之前加上其他运算符，可以构成复合的运算符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ａ＋＝３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等价于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ａ＝ａ＋３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p59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428625" y="1408729"/>
            <a:ext cx="8153400" cy="53270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赋值表达式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一般形式为：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赋值运算符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表达式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对赋值表达式求解的过程：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求赋值运算符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右侧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表达式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的值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赋给赋值运算符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左侧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的变量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p60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52864" y="1490662"/>
            <a:ext cx="8602516" cy="5357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赋值表达式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赋值表达式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“a=3*5”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的值为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，对表达式求解后，变量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的值和表达式的值都是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“a=(b=5)”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“a=b=5”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等价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“a=b”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“b=a”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含义不同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p61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76225" y="1365250"/>
            <a:ext cx="8153400" cy="54852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赋值过程中的类型转换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两侧类型一致时，直接赋值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两侧类型不一致，但都是算术类型时，自动将右侧的类型转换为左侧类型后赋值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定义变量时要防止数据溢出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p61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16541" y="1375968"/>
            <a:ext cx="8954713" cy="52471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赋值表达式和赋值语句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赋值表达式的末尾没有分号，而赋值语句有分号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一个表达式可以包含赋值表达式，但决不能包含赋值语句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1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2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787145" y="1828800"/>
            <a:ext cx="7543800" cy="32004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8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❓ 灵魂拷问：这对双胞胎一样吗？</a:t>
            </a: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a = 5                  a = 5;</a:t>
            </a: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新手的迷思：</a:t>
            </a: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“不就是多了一个分号嘛？”</a:t>
            </a: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“分号就是代码界的句号，加不加不影响核心计算吧？”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09905" y="857660"/>
            <a:ext cx="50292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 注意：要区分赋值表达式和赋值语句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4208" y="162367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5" type="body" sz="quarter" hasCustomPrompt="true"/>
          </p:nvPr>
        </p:nvSpPr>
        <p:spPr>
          <a:prstGeom prst="rect">
            <a:avLst/>
          </a:prstGeom>
        </p:spPr>
        <p:txBody>
          <a:bodyPr anchor="t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19197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PART 2: 致命盲区-过程 vs 任务</a:t>
            </a:r>
          </a:p>
        </p:txBody>
      </p:sp>
      <p:sp>
        <p:nvSpPr>
          <p:cNvPr name="AutoShape 4" id="4"/>
          <p:cNvSpPr/>
          <p:nvPr>
            <p:ph idx="16" type="body" sz="quarter" hasCustomPrompt="true"/>
          </p:nvPr>
        </p:nvSpPr>
        <p:spPr>
          <a:xfrm rot="0" flipH="false" flipV="false">
            <a:off x="233367" y="1458834"/>
            <a:ext cx="4356100" cy="9906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6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幻觉：</a:t>
            </a: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分号是无害的“标点符号”。</a:t>
            </a:r>
          </a:p>
        </p:txBody>
      </p:sp>
      <p:sp>
        <p:nvSpPr>
          <p:cNvPr name="AutoShape 5" id="5"/>
          <p:cNvSpPr/>
          <p:nvPr>
            <p:ph idx="17" type="body" sz="quarter" hasCustomPrompt="true"/>
          </p:nvPr>
        </p:nvSpPr>
        <p:spPr>
          <a:xfrm rot="0" flipH="false" flipV="false">
            <a:off x="4681913" y="1387191"/>
            <a:ext cx="4114800" cy="36576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FFFFFF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真相：</a:t>
            </a: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没有分号，你是在计算价值；加上分号，你是在下达处决令。</a:t>
            </a: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 = 5：有结果、有回报、随时待命。</a:t>
            </a: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 = 5;：执行完、拿去用、阅后即焚。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09905" y="857660"/>
            <a:ext cx="50292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 注意：要区分赋值表达式和赋值语句</a:t>
            </a:r>
            <a:endParaRPr lang="en-US" sz="1100"/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2400" b="true" i="false" u="none" strike="noStrike" spc="0">
                <a:solidFill>
                  <a:srgbClr val="19197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9" type="body" sz="quarter" hasCustomPrompt="true"/>
          </p:nvPr>
        </p:nvSpPr>
        <p:spPr>
          <a:xfrm rot="0" flipH="false" flipV="false">
            <a:off x="419811" y="1852448"/>
            <a:ext cx="2527300" cy="2286000"/>
          </a:xfrm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维度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 = 5（表达式）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 = 5;（表达式语句</a:t>
            </a:r>
          </a:p>
        </p:txBody>
      </p:sp>
      <p:sp>
        <p:nvSpPr>
          <p:cNvPr name="AutoShape 4" id="4"/>
          <p:cNvSpPr/>
          <p:nvPr>
            <p:ph idx="2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产生一个值 (Value: 5)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执行一个动作 (Action)</a:t>
            </a:r>
          </a:p>
        </p:txBody>
      </p:sp>
      <p:sp>
        <p:nvSpPr>
          <p:cNvPr name="AutoShape 5" id="5"/>
          <p:cNvSpPr/>
          <p:nvPr>
            <p:ph idx="21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副作用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顺便把 5 写入 a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写入 a 并丢弃结果</a:t>
            </a:r>
          </a:p>
        </p:txBody>
      </p:sp>
      <p:sp>
        <p:nvSpPr>
          <p:cNvPr name="AutoShape 6" id="6"/>
          <p:cNvSpPr/>
          <p:nvPr>
            <p:ph idx="22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14350" y="5225326"/>
            <a:ext cx="8115300" cy="482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地位：零件（可嵌套在别处）vs  完整指令（占据独立行）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519544" y="8699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99450" y="831850"/>
            <a:ext cx="50292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 注意：要区分赋值表达式和赋值语句</a:t>
            </a:r>
            <a:endParaRPr lang="en-US" sz="1100"/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16541" y="1419650"/>
            <a:ext cx="8813147" cy="4958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577850" indent="-2921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35050" indent="-292100"/>
            <a:lvl3pPr marL="1492250" indent="-292100"/>
            <a:lvl4pPr marL="1949450" indent="-292100"/>
            <a:lvl5pPr marL="2406650" indent="-292100"/>
            <a:lvl6pPr marL="2863850" indent="-292100"/>
            <a:lvl7pPr marL="3321050" indent="-292100"/>
            <a:lvl8pPr marL="3778250" indent="-292100"/>
            <a:lvl9pPr marL="4235450" indent="-292100"/>
          </a:lstStyle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变量赋初值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基本赋初值</a:t>
            </a: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int a = 3;          // 整型初值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float f = 3.56;     // 浮点型初值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char c = 'a';       // 字符型初值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16666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部分初始化：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int a, b, c = 5;    // 仅 c 初始化为 5，a b 的初值不确定（垃圾值）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16666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同值初始化：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2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int a = 3, b = 3, c = 3;  // 正确：分别指定每个变量的初值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16666"/>
              </a:lnSpc>
            </a:pP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683559" y="1490382"/>
            <a:ext cx="7937500" cy="430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algn="l">
              <a:lnSpc>
                <a:spcPct val="125000"/>
              </a:lnSpc>
              <a:defRPr/>
            </a:pP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6.变量赋初值的新手易错点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错误使用连等初始化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错误写法：int a = b = c = 3; （语法错误，编译器无法识别）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✔️ 正确写法：int a = 3, b = 3, c = 3;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误以为部分初始化会波及全员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int a, b, c = 5; 中，新手常误以为 a、b、c 都是 5，实际上 a 和 b 未被初始化。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忽略局部变量的未定义行为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局部变量若不显式赋初值，其值取决于内存中的随机残留数据，直接参与运算会导致不可预测的结果。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14618" y="1501588"/>
            <a:ext cx="8610600" cy="4800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>
            <a:lvl1pPr marL="552450" indent="-266700"/>
            <a:lvl2pPr marL="1009650" indent="-266700"/>
            <a:lvl3pPr marL="1466850" indent="-266700"/>
            <a:lvl4pPr marL="1924050" indent="-266700"/>
            <a:lvl5pPr marL="2381250" indent="-266700"/>
            <a:lvl6pPr marL="2838450" indent="-266700"/>
            <a:lvl7pPr marL="3295650" indent="-266700"/>
            <a:lvl8pPr marL="3752850" indent="-266700"/>
            <a:lvl9pPr marL="4210050" indent="-266700"/>
          </a:lstStyle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6.变量赋初值的新手易错点</a:t>
            </a: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C 语言中非常关键的一个底层细节：</a:t>
            </a: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全局变量与静态变量（static）：</a:t>
            </a: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存储区：静态存储区。</a:t>
            </a: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未显式赋值时的表现：编译器或系统会自动将其清零（数值型为 0，指针为 NULL，字符型为 '\0'）。</a:t>
            </a: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普通局部变量（函数内定义的变量）：</a:t>
            </a: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存储区：栈区。</a:t>
            </a:r>
            <a:r>
              <a:rPr lang="en-US" b="false" i="false" strike="noStrike" u="none" sz="2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未显式赋值时的表现：编译器不会自动初始化，它们保留的是该内存块上一次使用后残留的随机数据（俗称“垃圾值”）。直接参与运算属于未定义行为。</a:t>
            </a: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" y="1416090"/>
            <a:ext cx="8940800" cy="5207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#include &lt;stdio.h&gt;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 global_var; // 全局变量，未显式赋值，默认安全初始化为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void test()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int local_var; // 局部变量，未显式赋值，值是内存随机残留值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printf("global = %d, local = %d\n", global_var, local_var);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 main() {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test();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test(); // 第二次调用时，local_var 的值可能会变，而 global_var 永远是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return 0;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C语句   3.4.2 最基本的语句-赋值语句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p63</a:t>
            </a:r>
            <a:endParaRPr lang="en-US" sz="1100"/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143000" y="1857375"/>
            <a:ext cx="7358063" cy="3857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3.5.1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输入输出举例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3.5.2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有关数据输入输出的概念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3.5.3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函数输出数据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3.5.4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函数输入数据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3.5.5 </a:t>
            </a: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字符数据的输入输出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16900" y="5937250"/>
            <a:ext cx="927100" cy="9207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13795" y="844550"/>
            <a:ext cx="3406434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p64</a:t>
            </a:r>
            <a:endParaRPr lang="en-US" sz="1100"/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-18729" y="1440118"/>
            <a:ext cx="9049604" cy="13522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CC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例3.5：求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3200">
                    <a:solidFill>
                      <a:srgbClr val="0000C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a</m:t>
                </m:r>
                <m:sSup>
                  <m:e>
                    <m:r>
                      <a:rPr b="1" sz="3200">
                        <a:solidFill>
                          <a:srgbClr val="0000C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  <m:sup>
                    <m:r>
                      <a:rPr b="1" sz="3200">
                        <a:solidFill>
                          <a:srgbClr val="0000C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  <m:r>
                  <a:rPr b="1" sz="3200">
                    <a:solidFill>
                      <a:srgbClr val="0000C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+bx+c=0</m:t>
                </m:r>
              </m:oMath>
            </a14:m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方程的根。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由键盘输入</a:t>
            </a: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,设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b="1" sz="3200">
                        <a:solidFill>
                          <a:srgbClr val="0000C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b</m:t>
                    </m:r>
                  </m:e>
                  <m:sup>
                    <m:r>
                      <a:rPr b="1" sz="3200">
                        <a:solidFill>
                          <a:srgbClr val="0000C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  <m:r>
                  <a:rPr b="1" sz="3200">
                    <a:solidFill>
                      <a:srgbClr val="0000C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-4ac0</m:t>
                </m:r>
              </m:oMath>
            </a14:m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-18729" y="844550"/>
            <a:ext cx="6742101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3.5.1 输入输出举例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-46030" y="2672577"/>
            <a:ext cx="8825924" cy="41854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>
            <a:lvl1pPr marL="762000" indent="-419100"/>
            <a:lvl2pPr marL="1219200" indent="-419100"/>
            <a:lvl3pPr marL="1676400" indent="-419100"/>
            <a:lvl4pPr marL="2133600" indent="-419100"/>
            <a:lvl5pPr marL="2590800" indent="-419100"/>
            <a:lvl6pPr marL="3048000" indent="-419100"/>
            <a:lvl7pPr marL="3505200" indent="-419100"/>
            <a:lvl8pPr marL="3962400" indent="-419100"/>
            <a:lvl9pPr marL="4419600" indent="-4191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  <a:defRPr/>
            </a:pP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解题思路：先要知道求方程式的根的方法。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由数学知识已知：如果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b</m:t>
                    </m:r>
                  </m:e>
                  <m:sup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-4ac≥0</m:t>
                </m:r>
              </m:oMath>
            </a14:m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，则一元二次方程有两个实根</a:t>
            </a:r>
            <a:r>
              <a:rPr lang="en-US" b="true" i="false" strike="noStrike" u="none" sz="33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  <m:sub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1</m:t>
                    </m:r>
                  </m:sub>
                </m:sSub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</m:t>
                </m:r>
                <m:f>
                  <m:fPr>
                    <m:type m:val="bar"/>
                  </m:fPr>
                  <m:num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-b+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b="1" sz="3300">
                                <a:solidFill>
                                  <a:srgbClr val="000000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b</m:t>
                            </m:r>
                          </m:e>
                          <m:sup>
                            <m:r>
                              <a:rPr b="1" sz="3300">
                                <a:solidFill>
                                  <a:srgbClr val="000000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p>
                        </m:sSup>
                        <m:r>
                          <a:rPr b="1" sz="3300">
                            <a:solidFill>
                              <a:srgbClr val="000000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-4ac</m:t>
                        </m:r>
                      </m:e>
                    </m:rad>
                  </m:num>
                  <m:den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2a</m:t>
                    </m:r>
                  </m:den>
                </m:f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，</m:t>
                </m:r>
                <m:sSub>
                  <m:e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  <m:sub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</m:t>
                </m:r>
                <m:f>
                  <m:fPr>
                    <m:type m:val="bar"/>
                  </m:fPr>
                  <m:num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-b-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b="1" sz="3300">
                                <a:solidFill>
                                  <a:srgbClr val="000000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b</m:t>
                            </m:r>
                          </m:e>
                          <m:sup>
                            <m:r>
                              <a:rPr b="1" sz="3300">
                                <a:solidFill>
                                  <a:srgbClr val="000000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p>
                        </m:sSup>
                        <m:r>
                          <a:rPr b="1" sz="3300">
                            <a:solidFill>
                              <a:srgbClr val="000000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-4ac</m:t>
                        </m:r>
                      </m:e>
                    </m:rad>
                  </m:num>
                  <m:den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2a</m:t>
                    </m:r>
                  </m:den>
                </m:f>
              </m:oMath>
            </a14:m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若记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p=</m:t>
                </m:r>
                <m:f>
                  <m:fPr>
                    <m:type m:val="bar"/>
                  </m:fPr>
                  <m:num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-b</m:t>
                    </m:r>
                  </m:num>
                  <m:den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2a</m:t>
                    </m:r>
                  </m:den>
                </m:f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, q=</m:t>
                </m:r>
                <m:f>
                  <m:fPr>
                    <m:type m:val="bar"/>
                  </m:fPr>
                  <m:num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b="1" sz="3300">
                                <a:solidFill>
                                  <a:srgbClr val="000000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b</m:t>
                            </m:r>
                          </m:e>
                          <m:sup>
                            <m:r>
                              <a:rPr b="1" sz="3300">
                                <a:solidFill>
                                  <a:srgbClr val="000000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p>
                        </m:sSup>
                        <m:r>
                          <a:rPr b="1" sz="3300">
                            <a:solidFill>
                              <a:srgbClr val="000000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-4ac</m:t>
                        </m:r>
                      </m:e>
                    </m:rad>
                  </m:num>
                  <m:den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2a</m:t>
                    </m:r>
                  </m:den>
                </m:f>
              </m:oMath>
            </a14:m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则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b</m:t>
                    </m:r>
                  </m:e>
                  <m:sup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-4ac≥0</m:t>
                </m:r>
              </m:oMath>
            </a14:m>
            <a:r>
              <a:rPr lang="en-US" b="true" i="false" strike="noStrike" u="none" sz="3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  <m:sub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1</m:t>
                    </m:r>
                  </m:sub>
                </m:sSub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=p+q, </m:t>
                </m:r>
                <m:sSub>
                  <m:e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  <m:sub>
                    <m:r>
                      <a:rPr b="1" sz="33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a:rPr b="1" sz="330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=p-q</m:t>
                </m:r>
              </m:oMath>
            </a14:m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001000" y="7493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342900" indent="-34290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3.5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556500" y="16510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p64</a:t>
            </a:r>
            <a:endParaRPr lang="en-US" sz="1100"/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#include  &lt;math.h&gt;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{double a,b,c,disc,x1,x2,p,q;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("%lf%lf%lf",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disc=b*b-4*a*c;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p=-b/(2.0*a);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q=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sqrt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(disc)/(2.0*a);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x1=p+q;   x2=p-q;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("x1=%7.2f\nx2=%7.2f\n",x1,x2);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572000" y="1117600"/>
            <a:ext cx="4357688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程序中调用数学函数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sqrt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768422" y="2509371"/>
            <a:ext cx="2714625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a,b,c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的值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3.5.1 输入输出举例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342900" indent="-34290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3.5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151353" y="3067050"/>
            <a:ext cx="4992647" cy="952500"/>
          </a:xfrm>
          <a:prstGeom prst="wedgeRectCallout">
            <a:avLst/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 (scanf)：double 必须使用 %lf，float 必须使用 %f。传错占位符会导致内存截断或乱码。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400300" y="5506571"/>
            <a:ext cx="6743700" cy="1351429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输出 (printf)：由于 C 语言的可变参数默认提升规则，float 参数会自动提升为 double，因此 printf 中使用 %f 即可同时输出 float 和 double（C99 允许在 printf 中使用 %lf，但行为与 %f 一致）。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p64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mph" presetID="6" presetSubtype="0" repeatCount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dur="2000" fill="hold" id="6"/>
                                        <p:tgtEl>
                                          <p:spTgt spid="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#include  &lt;math.h&gt;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{double a,b,c,disc,x1,x2,p,q;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("%lf%lf%lf",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disc=b*b-4*a*c;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p=-b/(2.0*a);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q=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sqrt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(disc)/(2.0*a);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x1=p+q;   x2=p-q;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("x1=%7.2f\nx2=%7.2f\n",x1,x2);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00438" y="2571750"/>
            <a:ext cx="785812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43500" y="3429000"/>
            <a:ext cx="2214563" cy="1143000"/>
          </a:xfrm>
          <a:prstGeom prst="wedgeRoundRectCallout">
            <a:avLst>
              <a:gd name="adj1" fmla="val -87806"/>
              <a:gd name="adj2" fmla="val -84796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输入的是双精度型实数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3.5.1 输入输出举例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342900" indent="-34290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3.5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p64</a:t>
            </a:r>
            <a:endParaRPr lang="en-US" sz="1100"/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#include  &lt;math.h&gt;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{double a,b,c,disc,x1,x2,p,q;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("%lf%lf%lf",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disc=b*b-4*a*c;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p=-b/(2.0*a);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q=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sqrt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(disc)/(2.0*a);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x1=p+q;   x2=p-q;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("x1=%7.2f\nx2=%7.2f\n",x1,x2);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071688" y="2571750"/>
            <a:ext cx="2214562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143375" y="3500438"/>
            <a:ext cx="3143250" cy="642937"/>
          </a:xfrm>
          <a:prstGeom prst="wedgeRoundRectCallout">
            <a:avLst>
              <a:gd name="adj1" fmla="val -45875"/>
              <a:gd name="adj2" fmla="val -102333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要求输入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个实数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429250" y="642938"/>
            <a:ext cx="2538413" cy="50006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6143625" y="1428750"/>
            <a:ext cx="2571750" cy="1000125"/>
          </a:xfrm>
          <a:prstGeom prst="wedgeRoundRectCallout">
            <a:avLst>
              <a:gd name="adj1" fmla="val -43088"/>
              <a:gd name="adj2" fmla="val -81352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自动转成实数后赋给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a,b,c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3.5.1 输入输出举例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342900" indent="-34290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3.5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608294" y="5681382"/>
            <a:ext cx="5535706" cy="1176618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分母括号与浮点运算：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必须写成 2.0 * a 且加括号 (2.0 * a)；若误写为 -b / 2 * a，结合性从左到右，实际计算为 </a:t>
            </a:r>
            <a14:m xmlns:a14="http://schemas.microsoft.com/office/drawing/2010/main">
              <m:oMath xmlns:m="http://schemas.openxmlformats.org/officeDocument/2006/math" xmlns:mml="http://www.w3.org/1998/Math/MathML">
                <m:f>
                  <m:fPr>
                    <m:type m:val="bar"/>
                  </m:fPr>
                  <m:num>
                    <m:r>
                      <a:rPr sz="1800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-b</m:t>
                    </m:r>
                  </m:num>
                  <m:den>
                    <m:r>
                      <a:rPr sz="1800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den>
                </m:f>
                <m:r>
                  <a:rPr sz="1800">
                    <a:solidFill>
                      <a:srgbClr val="1F2329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⋅a</m:t>
                </m:r>
              </m:oMath>
            </a14:m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p64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id="5" nodeType="clickEffect" presetClass="entr" presetID="49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#include  &lt;math.h&gt;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{double a,b,c,disc,x1,x2,p,q;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("%lf%lf%lf",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b,</a:t>
            </a: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disc=b*b-4*a*c;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p=-b/(2.0*a);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q=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sqrt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(disc)/(2.0*a);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x1=p+q;   x2=p-q;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9E01DD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("x1=%7.2f\nx2=%7.2f\n",x1,x2);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48038" y="5143500"/>
            <a:ext cx="642937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571750" y="5929313"/>
            <a:ext cx="5745163" cy="642937"/>
          </a:xfrm>
          <a:prstGeom prst="wedgeRoundRectCallout">
            <a:avLst>
              <a:gd name="adj1" fmla="val -26208"/>
              <a:gd name="adj2" fmla="val -80866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输出数据占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列，其中小数占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列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429250" y="642938"/>
            <a:ext cx="2538413" cy="50006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429250" y="1143000"/>
            <a:ext cx="2538413" cy="8350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0" id="20"/>
          <p:cNvSpPr txBox="true"/>
          <p:nvPr/>
        </p:nvSpPr>
        <p:spPr>
          <a:xfrm rot="0" flipH="false" flipV="false"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3.5.1 输入输出举例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342900" indent="-34290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932431" y="3017923"/>
            <a:ext cx="4202206" cy="1288676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格式修饰符 %7.2f：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总显示宽度占 7 列（包含负号与小数点），保留 2 位小数，默认右对齐（不足 7 列时左侧补空格）。常用于多行数据上下对齐。</a:t>
            </a:r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p64</a:t>
            </a:r>
            <a:endParaRPr lang="en-US" sz="1100"/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361259" y="1118721"/>
            <a:ext cx="8439249" cy="5054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>
            <a:lvl1pPr marL="501650" indent="-215900"/>
            <a:lvl2pPr marL="958850" indent="-215900"/>
            <a:lvl3pPr marL="1416050" indent="-215900"/>
            <a:lvl4pPr marL="1873250" indent="-215900"/>
            <a:lvl5pPr marL="2330450" indent="-215900"/>
            <a:lvl6pPr marL="2787650" indent="-215900"/>
            <a:lvl7pPr marL="3244850" indent="-215900"/>
            <a:lvl8pPr marL="3702050" indent="-215900"/>
            <a:lvl9pPr marL="4159250" indent="-215900"/>
          </a:lstStyle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新手高频易错点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漏写取地址符 &amp;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错误写法：scanf("%lf", a);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后果：将变量的值当作内存地址写入，直接触发段错误（Segmentation fault / Access Violation）。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输入格式与代码不匹配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代码为 scanf("%lf%lf%lf", &amp;a, &amp;b, &amp;c); 时，输入时两个数之间应使用空白字符（空格、Tab 或回车）分隔。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若学生在键盘输入 1, 3, 2（带逗号），会导致第 2、3 个变量读取失败，内存保留垃圾值。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分母整数除法截断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若变量声明为整型且写成 2 * a，极易因整数除法丢失小数部分；推荐常量显式书写为浮点字面量 2.0。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输入缓冲区残留换行符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后续若连续读取字符（%c），前一个 scanf 遗留的回车换行会直接被当作字符读取。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3.5.1 输入输出举例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342900" indent="-34290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3.5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p65</a:t>
            </a:r>
            <a:endParaRPr lang="en-US" sz="1100"/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2" y="2949595"/>
            <a:ext cx="7929563" cy="3786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(1)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所谓输入输出是以计算机主机为主体而言的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从计算机向输出设备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如显示器、打印机等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输出数据称为输出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从输入设备（如键盘、磁盘、光盘、扫描仪等）向计算机输入数据称为输入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4944" y="1498600"/>
            <a:ext cx="8209631" cy="171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几乎每一个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程序都包含输入输出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输入输出是程序中最基本的操作之一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p65</a:t>
            </a:r>
            <a:endParaRPr lang="en-US" sz="1100"/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391736"/>
            <a:ext cx="9144000" cy="546626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661400" y="8774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p65</a:t>
            </a:r>
            <a:endParaRPr lang="en-US" sz="1100"/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62000"/>
            <a:ext cx="9144000" cy="609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0" y="160991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608992" y="193862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p65</a:t>
            </a:r>
            <a:endParaRPr lang="en-US" sz="1100"/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7929563" cy="4214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(2)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Ｃ语言本身不提供输入输出语句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输入和输出操作是由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标准函数库中的函数来实现的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不是Ｃ语言的关键字，而只是库函数的名字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gets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p65</a:t>
            </a:r>
            <a:endParaRPr lang="en-US" sz="1100"/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7929563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742950" indent="0"/>
            <a:lvl3pPr marL="1200150" indent="0"/>
            <a:lvl4pPr marL="1657350" indent="0"/>
            <a:lvl5pPr marL="2114550" indent="0"/>
            <a:lvl6pPr marL="2571750" indent="0"/>
            <a:lvl7pPr marL="3028950" indent="0"/>
            <a:lvl8pPr marL="3486150" indent="0"/>
            <a:lvl9pPr marL="394335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(3)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在使用输入输出函数时，要在程序文件的开头用预编译指令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。三种方式：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 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//标准方式—编译系统子目录找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2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″stdio.h″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//用户当前目录找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3 #include "c:\temp\file1.h"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//其他自定义目录寻找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p65</a:t>
            </a:r>
            <a:endParaRPr lang="en-US" sz="1100"/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7929563" cy="3786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程序中用来实现输出和输入的，主要是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函数和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这两个函数是格式输入输出函数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用这两个函数时，必须指定格式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29625" y="6143625"/>
            <a:ext cx="469900" cy="4699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2408" y="844550"/>
            <a:ext cx="7929563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p67</a:t>
            </a:r>
            <a:endParaRPr lang="en-US" sz="1100"/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7929563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函数的一般格式</a:t>
            </a:r>
          </a:p>
          <a:p>
            <a:pPr algn="ctr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（格式控制，输出表列）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</a:t>
            </a:r>
          </a:p>
          <a:p>
            <a:pPr algn="ctr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”i=%d,c=%c\n”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b="true" i="false" strike="noStrike" u="none" sz="32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i,c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24275" y="3857625"/>
            <a:ext cx="785813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27450" y="4869379"/>
            <a:ext cx="2276475" cy="1753712"/>
          </a:xfrm>
          <a:prstGeom prst="wedgeRoundRectCallout">
            <a:avLst>
              <a:gd name="adj1" fmla="val -25153"/>
              <a:gd name="adj2" fmla="val -80903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格式声明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-有符号的十进制整数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24463" y="3824288"/>
            <a:ext cx="785812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403925" y="4869379"/>
            <a:ext cx="2276475" cy="1753712"/>
          </a:xfrm>
          <a:prstGeom prst="wedgeRoundRectCallout">
            <a:avLst>
              <a:gd name="adj1" fmla="val -25153"/>
              <a:gd name="adj2" fmla="val -80903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格式声明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-输出一个字符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p67</a:t>
            </a:r>
            <a:endParaRPr lang="en-US" sz="1100"/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7929563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函数的一般格式</a:t>
            </a:r>
          </a:p>
          <a:p>
            <a:pPr algn="ctr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（格式控制，输出表列）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</a:t>
            </a:r>
          </a:p>
          <a:p>
            <a:pPr algn="ctr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”i=%d,c=%c\n”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b="true" i="false" strike="noStrike" u="none" sz="32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i,c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21200" y="4714875"/>
            <a:ext cx="1711325" cy="642938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普通字符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14938" y="3857625"/>
            <a:ext cx="782637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97575" y="3857625"/>
            <a:ext cx="571500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3325" y="4714875"/>
            <a:ext cx="2707490" cy="1428750"/>
          </a:xfrm>
          <a:prstGeom prst="roundRect">
            <a:avLst>
              <a:gd name="adj" fmla="val 0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\n: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win:回车换行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l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inux:换行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p67</a:t>
            </a:r>
            <a:endParaRPr lang="en-US" sz="1100"/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7929563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函数的一般格式</a:t>
            </a:r>
          </a:p>
          <a:p>
            <a:pPr algn="ctr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（格式控制，输出表列）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</a:t>
            </a:r>
          </a:p>
          <a:p>
            <a:pPr algn="ctr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-US" b="true" i="false" strike="noStrike" u="none" sz="32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”i=%d,c=%c\n”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b="true" i="false" strike="noStrike" u="none" sz="32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i,c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29438" y="3857625"/>
            <a:ext cx="571500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92500" y="4714875"/>
            <a:ext cx="5294313" cy="642938"/>
          </a:xfrm>
          <a:prstGeom prst="wedgeRoundRectCallout">
            <a:avLst>
              <a:gd name="adj1" fmla="val 19417"/>
              <a:gd name="adj2" fmla="val -86792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可以是常量、变量或表达式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p67</a:t>
            </a:r>
            <a:endParaRPr lang="en-US" sz="1100"/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714500"/>
            <a:ext cx="8358187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ｄ格式符。用来输出一个有符号的十进制整数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可以在格式声明中指定输出数据的域宽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printf(”%5d%5d\n”,12,-345);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%d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%ld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 （p45)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p68</a:t>
            </a:r>
            <a:endParaRPr lang="en-US" sz="1100"/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714500"/>
            <a:ext cx="8358187" cy="3786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ｃ格式符。用来输出一个字符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char ch=’a’;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printf(”%c”,ch); 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//输出'a'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printf(”%5c”,ch);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0624" y="4707686"/>
            <a:ext cx="65405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//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输出字符：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(a前面有4个空格）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441124" y="84455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p68</a:t>
            </a:r>
            <a:endParaRPr lang="en-US" sz="1100"/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714500"/>
            <a:ext cx="8358187" cy="250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ｓ格式符。用来输出一个字符串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printf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”%s”,”CHINA”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428875" y="3714750"/>
            <a:ext cx="371475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输出字符串：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CHINA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515350" y="83185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p69</a:t>
            </a:r>
            <a:endParaRPr lang="en-US" sz="1100"/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714500"/>
            <a:ext cx="8358187" cy="3929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格式符。用来输出实数，以小数形式输出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型数据只能保证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位有效数字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型数据能保证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位有效数字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计算机输出的数字不都是绝对精确有效的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56220" y="5724872"/>
            <a:ext cx="49784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456F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funcourse.surge.sh/3.2.5&amp;3.5.3_%E5%8F%8C%E7%B2%BE%E5%BA%A6%E4%B8%8Efloat%E7%9A%84%E5%8C%BA%E5%88%AB%E6%B8%B8%E6%88%8F%E5%92%8Cprintf%E5%AE%9E%E7%8E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游戏：真假圆周率：精度大挑战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p68</a:t>
            </a:r>
            <a:endParaRPr lang="en-US" sz="1100"/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714500"/>
            <a:ext cx="8358187" cy="4500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格式符。用来输出实数，以小数形式输出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①不指定数据宽度和小数位数，用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</a:p>
          <a:p>
            <a:pPr algn="l" lvl="1" marL="6858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3.6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输出实数</a:t>
            </a: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(双精度）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，只能得到６位小数。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double a=1.0;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printf(”%f\n”,a/3);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000750" y="5429250"/>
            <a:ext cx="2019300" cy="500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p69</a:t>
            </a:r>
            <a:endParaRPr lang="en-US" sz="1100"/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xfrm rot="0" flipH="false" flipV="false">
            <a:off x="8406264" y="6457990"/>
            <a:ext cx="747261" cy="225385"/>
          </a:xfrm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23824" y="1365250"/>
            <a:ext cx="8358187" cy="3929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格式符。用来输出实数，以小数形式输出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指定数据宽度和小数位数。用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%m.nf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printf("%20.15f\n",1/3);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endParaRPr sz="2800"/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printf("%.0f\n”,10000/3.0);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668456" y="3757582"/>
            <a:ext cx="4921250" cy="50006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398565" y="4314785"/>
            <a:ext cx="1174750" cy="500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22530" y="5052219"/>
            <a:ext cx="8775700" cy="1524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>
              <a:defRPr/>
            </a:pPr>
            <a:br>
              <a:rPr/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格式控制符 %20.15f 的含义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f：表示按浮点数（小数）形式输出。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.15：表示小数点后保留 15 位数字。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20：表示整个输出结果的最小宽度为 20 个字符。如果实际输出长度不足 20 个字符，左边会自动补空格（右对齐）。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p69</a:t>
            </a:r>
            <a:endParaRPr lang="en-US" sz="1100"/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22530" y="1428750"/>
            <a:ext cx="8913931" cy="5106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格式符。用来输出实数，以小数形式输出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指定数据宽度和小数位数。用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%m.nf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例3.7 float型数据的有效位数。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a;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a=10000/3.0;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printf("%f\n",a);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marL="285750" indent="-28575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>
              <a:lnSpc>
                <a:spcPct val="116666"/>
              </a:lnSpc>
              <a:spcBef>
                <a:spcPct val="2000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619625" y="4787383"/>
            <a:ext cx="40894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//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实数的输出，默认6位小数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p69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491288" y="3905019"/>
            <a:ext cx="2951760" cy="67402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395538" y="5568990"/>
            <a:ext cx="8191500" cy="1054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75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为什么“错了”？</a:t>
            </a:r>
            <a:r>
              <a:rPr lang="en-US" b="false" i="false" strike="noStrike" u="none" sz="275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float 的有效数字只有 6~7 位，到了后面就会开始失真和出现误差</a:t>
            </a:r>
            <a:r>
              <a:rPr lang="en-US" b="false" i="false" strike="noStrike" u="none" sz="176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/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166586" y="1714500"/>
            <a:ext cx="8821839" cy="25882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格式符。用来输出实数，以小数形式输出</a:t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③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输出的数据向左对齐，用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%-m.nf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</a:p>
          <a:p>
            <a:pPr algn="l" lvl="2" marL="114300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("%-25.15f, %25.15f\n",a,a)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p70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-21596" y="4726624"/>
            <a:ext cx="9026854" cy="200915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2018164" y="4205924"/>
            <a:ext cx="6388100" cy="520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//</a:t>
            </a:r>
            <a:r>
              <a:rPr lang="en-US" b="true" i="false" strike="noStrike" u="none" sz="27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不加 - 号</a:t>
            </a:r>
            <a:r>
              <a:rPr lang="en-US" b="false" i="false" strike="noStrike" u="none" sz="27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的情况下，</a:t>
            </a:r>
            <a:r>
              <a:rPr lang="en-US" b="true" i="false" strike="noStrike" u="none" sz="27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默认全部都是右对齐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017190" y="1631950"/>
            <a:ext cx="49784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456F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funcourse.surge.sh/3.2.5&amp;3.5.3_%E5%8F%8C%E7%B2%BE%E5%BA%A6%E4%B8%8Efloat%E7%9A%84%E5%8C%BA%E5%88%AB%E6%B8%B8%E6%88%8F%E5%92%8Cprintf%E5%AE%9E%E7%8E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游戏：真假圆周率：精度大挑战</a:t>
            </a:r>
            <a:endParaRPr lang="en-US" sz="1100"/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210641" y="1714500"/>
            <a:ext cx="8708338" cy="4357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格式符。指定以指数形式输出实数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VC++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给出小数位数为６位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指数部分占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列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小数点前必须有而且只有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位非零数字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printf(”%e”,123.456);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234560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e+002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p70</a:t>
            </a:r>
            <a:endParaRPr lang="en-US" sz="1100"/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500063" y="1714500"/>
            <a:ext cx="8358187" cy="4357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常用格式字符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格式符。指定以指数形式输出实数</a:t>
            </a:r>
          </a:p>
          <a:p>
            <a:pPr algn="l" lvl="2" indent="-228600" marL="11430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%m.ne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printf(”%13.2e”,123.456);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1.23e+002    (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前面有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个空格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429625" y="7747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p71</a:t>
            </a:r>
            <a:endParaRPr lang="en-US" sz="1100"/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8001000" cy="4357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 scanf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函数的一般形式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scanf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（格式控制，地址表列）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71625" y="3429000"/>
            <a:ext cx="3143250" cy="642938"/>
          </a:xfrm>
          <a:prstGeom prst="wedgeRoundRectCallout">
            <a:avLst>
              <a:gd name="adj1" fmla="val 14569"/>
              <a:gd name="adj2" fmla="val -86745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含义同</a:t>
            </a:r>
            <a:r>
              <a:rPr lang="en-US" b="true" i="false" strike="noStrike" u="none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printf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8096" y="8445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988020" y="3321844"/>
            <a:ext cx="4319588" cy="1143000"/>
          </a:xfrm>
          <a:prstGeom prst="wedgeRoundRectCallout">
            <a:avLst>
              <a:gd name="adj1" fmla="val -4282"/>
              <a:gd name="adj2" fmla="val -77639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可以是变量的地址，或字符串的首地址</a:t>
            </a:r>
            <a:endParaRPr lang="en-US" sz="1100"/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8429625" cy="3714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742950" indent="0"/>
            <a:lvl3pPr marL="736600" indent="0"/>
            <a:lvl4pPr marL="730250" indent="0"/>
            <a:lvl5pPr marL="723900" indent="0"/>
            <a:lvl6pPr marL="717550" indent="0"/>
            <a:lvl7pPr marL="711200" indent="0"/>
            <a:lvl8pPr marL="704850" indent="0"/>
            <a:lvl9pPr marL="698500" indent="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scanf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函数中的格式声明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函数中的格式声明相似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以％开始，以一个格式字符结束，中间可以插入附加的字符</a:t>
            </a:r>
          </a:p>
          <a:p>
            <a:pPr algn="l" lvl="1" marL="742950" indent="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scanf("a=%f,b=%f,c=%f",&amp;a,&amp;b,&amp;c);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8096" y="8445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p74</a:t>
            </a:r>
            <a:endParaRPr lang="en-US" sz="1100"/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8072438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函数时应注意的问题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scanf(”%f%f%f”,a,b,c);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错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scanf(”%f%f%f”,</a:t>
            </a:r>
            <a:r>
              <a:rPr lang="en-US" b="true" i="false" strike="noStrike" u="none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a,</a:t>
            </a:r>
            <a:r>
              <a:rPr lang="en-US" b="true" i="false" strike="noStrike" u="none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b,</a:t>
            </a:r>
            <a:r>
              <a:rPr lang="en-US" b="true" i="false" strike="noStrike" u="none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c);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对于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scanf("a=%f,b=%f,c=%f",&amp;a,&amp;b,&amp;c);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3 2↙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 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错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r>
              <a:rPr lang="en-US" b="true" i="false" strike="noStrike" u="sng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a=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US" b="true" i="false" strike="noStrike" u="sng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,b=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sng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,c=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a=1 b=3 c=2↙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错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8096" y="8445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p75</a:t>
            </a:r>
            <a:endParaRPr lang="en-US" sz="1100"/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8072438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函数时应注意的问题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对于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scanf(”%c%c%c”,&amp;c1,&amp;c2,&amp;c3);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abc↙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r>
              <a:rPr lang="en-US" b="true" i="false" strike="noStrike" u="sng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b c↙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r>
              <a:rPr lang="en-US" b="true" i="false" strike="noStrike" u="none" sz="2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错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对于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scanf(”</a:t>
            </a:r>
            <a:r>
              <a:rPr lang="en-US" b="true" i="false" strike="noStrike" u="none" sz="2800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%d</a:t>
            </a:r>
            <a:r>
              <a:rPr lang="en-US" b="true" i="false" strike="noStrike" u="none" sz="28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%c</a:t>
            </a:r>
            <a:r>
              <a:rPr lang="en-US" b="true" i="false" strike="noStrike" u="none" sz="280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”,&amp;a,&amp;b,&amp;c);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若输入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8096" y="8318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p75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413000" y="4692722"/>
            <a:ext cx="4224182" cy="216178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8072438" cy="26732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函数输出一个字符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从计算机向显示器输出一个字符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函数的一般形式为：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putchar(c)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字符输入输出函数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p76</a:t>
            </a:r>
            <a:endParaRPr lang="en-US" sz="1100"/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714500"/>
            <a:ext cx="8072438" cy="3143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3.8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先后输出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BOY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三个字符。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个字符变量，分别赋以初值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函数输出这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个字符变量的值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p76</a:t>
            </a:r>
            <a:endParaRPr lang="en-US" sz="1100"/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500188"/>
            <a:ext cx="8072438" cy="5072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char a='B',b='O',c='Y';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putchar(a);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putchar(b);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putchar(c);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 ('\n');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143375" y="3571875"/>
            <a:ext cx="34290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向显示器输出字符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357688" y="5072063"/>
            <a:ext cx="364331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向显示器输出换行符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572000" y="5715000"/>
            <a:ext cx="903288" cy="500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p76</a:t>
            </a:r>
            <a:endParaRPr lang="en-US" sz="1100"/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500188"/>
            <a:ext cx="8072438" cy="5072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 ( )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char a='B',b='O',c='Y';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putchar(a);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putchar(b);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putchar(c);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putchar ('\n');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340601" y="5098289"/>
            <a:ext cx="903287" cy="50006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3286125" y="2000250"/>
            <a:ext cx="4957763" cy="642938"/>
          </a:xfrm>
          <a:prstGeom prst="wedgeRoundRectCallout">
            <a:avLst>
              <a:gd name="adj1" fmla="val -36167"/>
              <a:gd name="adj2" fmla="val 107532"/>
              <a:gd name="adj3" fmla="val 16667"/>
            </a:avLst>
          </a:prstGeom>
          <a:solidFill>
            <a:srgbClr val="FFFFCC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改为</a:t>
            </a:r>
            <a:r>
              <a:rPr lang="en-US" b="true" i="false" strike="noStrike" u="none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a=66,b=79,c=89;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p76</a:t>
            </a:r>
            <a:endParaRPr lang="en-US" sz="1100"/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642938" y="2071688"/>
            <a:ext cx="8143875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’\101’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输出字符Ａ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’\’’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(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输出单撇号字符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’)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p77</a:t>
            </a:r>
            <a:endParaRPr lang="en-US" sz="1100"/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643063"/>
            <a:ext cx="7715250" cy="30718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函数输入一个字符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向计算机输入一个字符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函数的一般形式为：</a:t>
            </a:r>
          </a:p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getchar( )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p77</a:t>
            </a:r>
            <a:endParaRPr lang="en-US" sz="1100"/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351692" y="1643063"/>
            <a:ext cx="8077933" cy="3929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 marL="749300" indent="-406400">
              <a:lnSpc>
                <a:spcPct val="116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algn="l" marL="342900" indent="-342900">
              <a:lnSpc>
                <a:spcPct val="116666"/>
              </a:lnSpc>
              <a:spcBef>
                <a:spcPct val="20000"/>
              </a:spcBef>
            </a:pP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3.9 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从键盘输入</a:t>
            </a:r>
            <a:r>
              <a:rPr lang="en-US" b="true" i="false" strike="noStrike" u="none" sz="3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BOY</a:t>
            </a: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三个字符，然后把它们输出到屏幕。</a:t>
            </a:r>
          </a:p>
          <a:p>
            <a:pPr algn="l" indent="-342900" marL="34290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Ø"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解题思路：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函数先后从键盘向计算机输入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BOY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三个字符</a:t>
            </a:r>
          </a:p>
          <a:p>
            <a:pPr algn="l" lvl="1" indent="-285750" marL="742950">
              <a:lnSpc>
                <a:spcPct val="116666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u"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函数输出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p77</a:t>
            </a:r>
            <a:endParaRPr lang="en-US" sz="1100"/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500188"/>
            <a:ext cx="7715250" cy="5214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 main ( )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 char a,b,c;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b=getchar();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putchar(a); putchar(b); putchar(c);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putchar('\n');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143375" y="3071813"/>
            <a:ext cx="4357688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输入一个字符，送给变量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429125" y="5630863"/>
            <a:ext cx="1214438" cy="51276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429125" y="5143500"/>
            <a:ext cx="1214438" cy="5127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p77</a:t>
            </a:r>
            <a:endParaRPr lang="en-US" sz="1100"/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/>
          </p:nvPr>
        </p:nvSpPr>
        <p:spPr>
          <a:prstGeom prst="rect">
            <a:avLst/>
          </a:prstGeom>
        </p:spPr>
        <p:txBody>
          <a:bodyPr anchor="t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14375" y="1500188"/>
            <a:ext cx="7715250" cy="5214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342900" indent="-3429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  <a:endParaRPr lang="en-US" sz="1100"/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 main ( )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 char a,b,c;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b=getchar();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putchar(a); putchar(b); putchar(c);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putchar('\n');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p78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402757" y="4456113"/>
            <a:ext cx="500062" cy="800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402757" y="5256213"/>
            <a:ext cx="500062" cy="8001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4909038" y="1685192"/>
            <a:ext cx="3355731" cy="127488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>
            <a:lvl2pPr marL="457200" indent="0"/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algn="l" lvl="1" marL="45720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如果运行时，每输入一个字符后马上按ENTER键，会得到什么结果？</a:t>
            </a:r>
            <a:endParaRPr lang="en-US" sz="1100"/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284654"/>
            <a:ext cx="9144000" cy="557334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p78</a:t>
            </a:r>
            <a:endParaRPr lang="en-US" sz="1100"/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t" vert="horz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14375" y="1500188"/>
            <a:ext cx="7715250" cy="5214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&lt;stdio.h&gt;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 main ( )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 char a,b,c;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b=getchar();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c=getchar();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putchar(a); putchar(b); putchar(c);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putchar('\n');                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return 0;</a:t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778986" y="3120537"/>
            <a:ext cx="379730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a=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putchar(getchar());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=putchar(getchar());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2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=putchar(getchar());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1563" y="3071813"/>
            <a:ext cx="2714625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00125" y="4572000"/>
            <a:ext cx="2571750" cy="571500"/>
          </a:xfrm>
          <a:prstGeom prst="rect">
            <a:avLst/>
          </a:prstGeom>
          <a:noFill/>
          <a:ln w="38100" cmpd="sng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t" rtlCol="false" wrap="non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3378595" dist="38100" blurRad="0" algn="ctr">
              <a:srgbClr val="DDDDDD">
                <a:alpha val="100000"/>
              </a:srgbClr>
            </a:outerShdw>
          </a:effectLst>
        </p:spPr>
        <p:txBody>
          <a:bodyPr anchor="b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78986" y="1905000"/>
            <a:ext cx="3971192" cy="1084385"/>
          </a:xfrm>
          <a:prstGeom prst="wedgeRectCallout">
            <a:avLst/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将接收到的字符输出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p78</a:t>
            </a:r>
            <a:endParaRPr lang="en-US" sz="1100"/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75448" y="1844675"/>
            <a:ext cx="5148580" cy="2616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第三章作业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p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80-81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习题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false" i="false" strike="noStrike" u="none" sz="5400">
                <a:solidFill>
                  <a:srgbClr val="000000"/>
                </a:solidFill>
                <a:effectLst>
                  <a:outerShdw dir="2700000" dist="12700" blurRad="38100">
                    <a:srgbClr val="000000">
                      <a:alpha val="4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vert="horz" wrap="square" lIns="91440" rIns="91440" tIns="45720" bIns="45720">
            <a:sp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第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章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最简单的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true" i="false" strike="noStrike" u="none" sz="4200">
                <a:solidFill>
                  <a:srgbClr val="800000"/>
                </a:solidFill>
                <a:effectLst>
                  <a:outerShdw dir="2700000" dist="38100" blurRad="38100">
                    <a:srgbClr val="000000">
                      <a:alpha val="100000"/>
                    </a:srgbClr>
                  </a:outerShdw>
                </a:effectLst>
                <a:latin typeface="SimHei"/>
                <a:ea typeface="SimHei"/>
                <a:cs typeface="SimHei"/>
                <a:sym typeface="SimHei"/>
              </a:rPr>
              <a:t>程序设计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Bold Strip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